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8" r:id="rId2"/>
    <p:sldId id="278" r:id="rId3"/>
    <p:sldId id="268" r:id="rId4"/>
    <p:sldId id="269" r:id="rId5"/>
    <p:sldId id="270" r:id="rId6"/>
    <p:sldId id="276" r:id="rId7"/>
    <p:sldId id="283" r:id="rId8"/>
    <p:sldId id="281" r:id="rId9"/>
    <p:sldId id="272" r:id="rId10"/>
    <p:sldId id="271" r:id="rId11"/>
    <p:sldId id="273" r:id="rId12"/>
    <p:sldId id="274" r:id="rId13"/>
    <p:sldId id="275" r:id="rId14"/>
    <p:sldId id="257" r:id="rId15"/>
    <p:sldId id="277" r:id="rId16"/>
    <p:sldId id="284" r:id="rId17"/>
    <p:sldId id="282" r:id="rId18"/>
  </p:sldIdLst>
  <p:sldSz cx="12192000" cy="6858000"/>
  <p:notesSz cx="6858000" cy="12192000"/>
  <p:defaultTextStyle>
    <a:defPPr>
      <a:defRPr lang="fr-FR"/>
    </a:defPPr>
    <a:lvl1pPr marL="0" algn="l" defTabSz="914400">
      <a:defRPr sz="1800">
        <a:solidFill>
          <a:schemeClr val="tx1"/>
        </a:solidFill>
        <a:latin typeface="+mn-lt"/>
        <a:ea typeface="+mn-ea"/>
      </a:defRPr>
    </a:lvl1pPr>
    <a:lvl2pPr marL="457200" algn="l" defTabSz="914400">
      <a:defRPr sz="1800">
        <a:solidFill>
          <a:schemeClr val="tx1"/>
        </a:solidFill>
        <a:latin typeface="+mn-lt"/>
        <a:ea typeface="+mn-ea"/>
      </a:defRPr>
    </a:lvl2pPr>
    <a:lvl3pPr marL="914400" algn="l" defTabSz="914400">
      <a:defRPr sz="1800">
        <a:solidFill>
          <a:schemeClr val="tx1"/>
        </a:solidFill>
        <a:latin typeface="+mn-lt"/>
        <a:ea typeface="+mn-ea"/>
      </a:defRPr>
    </a:lvl3pPr>
    <a:lvl4pPr marL="1371600" algn="l" defTabSz="914400">
      <a:defRPr sz="1800">
        <a:solidFill>
          <a:schemeClr val="tx1"/>
        </a:solidFill>
        <a:latin typeface="+mn-lt"/>
        <a:ea typeface="+mn-ea"/>
      </a:defRPr>
    </a:lvl4pPr>
    <a:lvl5pPr marL="1828800" algn="l" defTabSz="914400">
      <a:defRPr sz="1800">
        <a:solidFill>
          <a:schemeClr val="tx1"/>
        </a:solidFill>
        <a:latin typeface="+mn-lt"/>
        <a:ea typeface="+mn-ea"/>
      </a:defRPr>
    </a:lvl5pPr>
    <a:lvl6pPr marL="2286000" algn="l" defTabSz="914400">
      <a:defRPr sz="1800">
        <a:solidFill>
          <a:schemeClr val="tx1"/>
        </a:solidFill>
        <a:latin typeface="+mn-lt"/>
        <a:ea typeface="+mn-ea"/>
      </a:defRPr>
    </a:lvl6pPr>
    <a:lvl7pPr marL="2743200" algn="l" defTabSz="914400">
      <a:defRPr sz="1800">
        <a:solidFill>
          <a:schemeClr val="tx1"/>
        </a:solidFill>
        <a:latin typeface="+mn-lt"/>
        <a:ea typeface="+mn-ea"/>
      </a:defRPr>
    </a:lvl7pPr>
    <a:lvl8pPr marL="3200400" algn="l" defTabSz="914400">
      <a:defRPr sz="1800">
        <a:solidFill>
          <a:schemeClr val="tx1"/>
        </a:solidFill>
        <a:latin typeface="+mn-lt"/>
        <a:ea typeface="+mn-ea"/>
      </a:defRPr>
    </a:lvl8pPr>
    <a:lvl9pPr marL="3657600" algn="l" defTabSz="914400">
      <a:defRPr sz="1800">
        <a:solidFill>
          <a:schemeClr val="tx1"/>
        </a:solidFill>
        <a:latin typeface="+mn-lt"/>
        <a:ea typeface="+mn-ea"/>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D909"/>
    <a:srgbClr val="F7B807"/>
    <a:srgbClr val="E7B0FF"/>
    <a:srgbClr val="CAA6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305574-E482-DEDE-E4DF-6C7B19CEA66D}">
  <a:tblStyle styleId="{0C305574-E482-DEDE-E4DF-6C7B19CEA66D}" styleName="Style moyen 2 - Accentuation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 styleId="{1851A153-4141-1A45-827B-ABAF577206CD}" styleName="Style moyen 2 - Accentuation 5">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fill>
          <a:solidFill>
            <a:schemeClr val="accent5">
              <a:tint val="40000"/>
            </a:schemeClr>
          </a:solidFill>
        </a:fill>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a:solidFill>
                <a:schemeClr val="lt1"/>
              </a:solidFill>
            </a:ln>
          </a:top>
        </a:tcBdr>
        <a:fill>
          <a:solidFill>
            <a:schemeClr val="accent5"/>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5"/>
          </a:solidFill>
        </a:fill>
      </a:tcStyle>
    </a:firstRow>
    <a:neCell>
      <a:tcStyle>
        <a:tcBdr/>
      </a:tcStyle>
    </a:neCell>
    <a:nwCell>
      <a:tcStyle>
        <a:tcBdr/>
      </a:tcStyle>
    </a:nwCell>
  </a:tblStyle>
  <a:tblStyle styleId="{1F8D8321-0CA5-123F-4EED-23E7EB2C4090}" styleName="Style léger 3 - Accentuation 3">
    <a:wholeTbl>
      <a:tcTxStyle>
        <a:fontRef idx="minor">
          <a:srgbClr val="000000"/>
        </a:fontRef>
        <a:schemeClr val="tx1"/>
      </a:tcTxStyle>
      <a:tcStyle>
        <a:tcBdr>
          <a:left>
            <a:ln w="12700">
              <a:solidFill>
                <a:schemeClr val="accent3"/>
              </a:solidFill>
            </a:ln>
          </a:left>
          <a:right>
            <a:ln w="12700">
              <a:solidFill>
                <a:schemeClr val="accent3"/>
              </a:solidFill>
            </a:ln>
          </a:right>
          <a:top>
            <a:ln w="12700">
              <a:solidFill>
                <a:schemeClr val="accent3"/>
              </a:solidFill>
            </a:ln>
          </a:top>
          <a:bottom>
            <a:ln w="12700">
              <a:solidFill>
                <a:schemeClr val="accent3"/>
              </a:solidFill>
            </a:ln>
          </a:bottom>
          <a:insideH>
            <a:ln w="12700">
              <a:solidFill>
                <a:schemeClr val="accent3"/>
              </a:solidFill>
            </a:ln>
          </a:insideH>
          <a:insideV>
            <a:ln w="12700">
              <a:solidFill>
                <a:schemeClr val="accent3"/>
              </a:solid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band2V>
      <a:tcStyle>
        <a:tcBdr/>
        <a:fill>
          <a:solidFill>
            <a:schemeClr val="accent3">
              <a:alpha val="20000"/>
            </a:schemeClr>
          </a:solidFill>
        </a:fill>
      </a:tcStyle>
    </a:band2V>
    <a:lastCol>
      <a:tcStyle>
        <a:tcBdr/>
      </a:tcStyle>
    </a:lastCol>
    <a:firstCol>
      <a:tcStyle>
        <a:tcBdr/>
      </a:tcStyle>
    </a:firstCol>
    <a:lastRow>
      <a:tcStyle>
        <a:tcBdr>
          <a:top>
            <a:ln w="50800">
              <a:solidFill>
                <a:schemeClr val="accent3"/>
              </a:solidFill>
            </a:ln>
          </a:top>
        </a:tcBdr>
        <a:fill>
          <a:noFill/>
        </a:fill>
      </a:tcStyle>
    </a:lastRow>
    <a:seCell>
      <a:tcStyle>
        <a:tcBdr/>
      </a:tcStyle>
    </a:seCell>
    <a:swCell>
      <a:tcStyle>
        <a:tcBdr/>
      </a:tcStyle>
    </a:swCell>
    <a:firstRow>
      <a:tcStyle>
        <a:tcBdr>
          <a:bottom>
            <a:ln w="25400">
              <a:solidFill>
                <a:schemeClr val="accent3"/>
              </a:solidFill>
            </a:ln>
          </a:bottom>
        </a:tcBdr>
        <a:fill>
          <a:no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43" autoAdjust="0"/>
    <p:restoredTop sz="79774" autoAdjust="0"/>
  </p:normalViewPr>
  <p:slideViewPr>
    <p:cSldViewPr>
      <p:cViewPr varScale="1">
        <p:scale>
          <a:sx n="68" d="100"/>
          <a:sy n="68" d="100"/>
        </p:scale>
        <p:origin x="773"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546596-F502-42BB-90C4-F960ADEF4A1E}" type="doc">
      <dgm:prSet loTypeId="urn:microsoft.com/office/officeart/2005/8/layout/vList2" loCatId="list" qsTypeId="urn:microsoft.com/office/officeart/2005/8/quickstyle/simple1" qsCatId="simple" csTypeId="urn:microsoft.com/office/officeart/2005/8/colors/colorful3" csCatId="colorful" phldr="1"/>
      <dgm:spPr/>
    </dgm:pt>
    <dgm:pt modelId="{AC2161FE-C7EB-461E-874F-6CC6BDFF486B}">
      <dgm:prSet phldrT="[Texte]"/>
      <dgm:spPr/>
      <dgm:t>
        <a:bodyPr/>
        <a:lstStyle/>
        <a:p>
          <a:r>
            <a:rPr lang="fr-FR" dirty="0" err="1"/>
            <a:t>Leave</a:t>
          </a:r>
          <a:r>
            <a:rPr lang="fr-FR" dirty="0"/>
            <a:t> one out of all (LOO)</a:t>
          </a:r>
        </a:p>
      </dgm:t>
    </dgm:pt>
    <dgm:pt modelId="{365AB2CC-AF2A-41D9-A19F-58A68E8A5E9C}" type="parTrans" cxnId="{A924B574-2EEA-413C-8DC2-CC2C58B3C831}">
      <dgm:prSet/>
      <dgm:spPr/>
      <dgm:t>
        <a:bodyPr/>
        <a:lstStyle/>
        <a:p>
          <a:endParaRPr lang="fr-FR"/>
        </a:p>
      </dgm:t>
    </dgm:pt>
    <dgm:pt modelId="{C3F64526-3F3C-4A76-93EE-4E0D18C041D8}" type="sibTrans" cxnId="{A924B574-2EEA-413C-8DC2-CC2C58B3C831}">
      <dgm:prSet/>
      <dgm:spPr/>
      <dgm:t>
        <a:bodyPr/>
        <a:lstStyle/>
        <a:p>
          <a:endParaRPr lang="fr-FR"/>
        </a:p>
      </dgm:t>
    </dgm:pt>
    <dgm:pt modelId="{196DAC88-813D-4C69-B5F5-4C442B7A725C}">
      <dgm:prSet phldrT="[Texte]" custT="1"/>
      <dgm:spPr/>
      <dgm:t>
        <a:bodyPr/>
        <a:lstStyle/>
        <a:p>
          <a:r>
            <a:rPr lang="fr-FR" sz="2000" dirty="0"/>
            <a:t>Classifier adaptation</a:t>
          </a:r>
        </a:p>
      </dgm:t>
    </dgm:pt>
    <dgm:pt modelId="{7A072005-5503-464F-A4D1-E73A34CB4208}" type="parTrans" cxnId="{9D67E451-84BC-4C3F-B52F-9BDAA342D8FD}">
      <dgm:prSet/>
      <dgm:spPr/>
      <dgm:t>
        <a:bodyPr/>
        <a:lstStyle/>
        <a:p>
          <a:endParaRPr lang="fr-FR"/>
        </a:p>
      </dgm:t>
    </dgm:pt>
    <dgm:pt modelId="{D7FE6822-7D4C-43AF-A45D-47B74CEAB670}" type="sibTrans" cxnId="{9D67E451-84BC-4C3F-B52F-9BDAA342D8FD}">
      <dgm:prSet/>
      <dgm:spPr/>
      <dgm:t>
        <a:bodyPr/>
        <a:lstStyle/>
        <a:p>
          <a:endParaRPr lang="fr-FR"/>
        </a:p>
      </dgm:t>
    </dgm:pt>
    <dgm:pt modelId="{90B5BBF4-BF85-4AD8-B25E-A74770CA463F}">
      <dgm:prSet phldrT="[Texte]"/>
      <dgm:spPr/>
      <dgm:t>
        <a:bodyPr/>
        <a:lstStyle/>
        <a:p>
          <a:r>
            <a:rPr lang="fr-FR" dirty="0" err="1"/>
            <a:t>Features</a:t>
          </a:r>
          <a:r>
            <a:rPr lang="fr-FR" dirty="0"/>
            <a:t> adaptation</a:t>
          </a:r>
        </a:p>
      </dgm:t>
    </dgm:pt>
    <dgm:pt modelId="{3A7F37E0-ED2E-4833-8C38-22D5B1A814BE}" type="parTrans" cxnId="{4D2438EB-9D0D-4A30-B783-729808FD4B00}">
      <dgm:prSet/>
      <dgm:spPr/>
      <dgm:t>
        <a:bodyPr/>
        <a:lstStyle/>
        <a:p>
          <a:endParaRPr lang="fr-FR"/>
        </a:p>
      </dgm:t>
    </dgm:pt>
    <dgm:pt modelId="{4B159E8F-C6B4-49D8-92C6-BB02040EAFE4}" type="sibTrans" cxnId="{4D2438EB-9D0D-4A30-B783-729808FD4B00}">
      <dgm:prSet/>
      <dgm:spPr/>
      <dgm:t>
        <a:bodyPr/>
        <a:lstStyle/>
        <a:p>
          <a:endParaRPr lang="fr-FR"/>
        </a:p>
      </dgm:t>
    </dgm:pt>
    <dgm:pt modelId="{A09FB1F4-A652-4F67-A22B-73A350E6ECC9}">
      <dgm:prSet phldrT="[Texte]"/>
      <dgm:spPr/>
      <dgm:t>
        <a:bodyPr/>
        <a:lstStyle/>
        <a:p>
          <a:r>
            <a:rPr lang="fr-FR" dirty="0"/>
            <a:t>Latent </a:t>
          </a:r>
          <a:r>
            <a:rPr lang="fr-FR" dirty="0" err="1"/>
            <a:t>tranfer</a:t>
          </a:r>
          <a:r>
            <a:rPr lang="fr-FR" dirty="0"/>
            <a:t> </a:t>
          </a:r>
          <a:r>
            <a:rPr lang="fr-FR" dirty="0" err="1"/>
            <a:t>learning</a:t>
          </a:r>
          <a:endParaRPr lang="fr-FR" dirty="0"/>
        </a:p>
      </dgm:t>
    </dgm:pt>
    <dgm:pt modelId="{E18D5509-0E2E-4E6A-B633-B43217B3A539}" type="parTrans" cxnId="{EB64A22F-6E26-482B-BE9B-EBADA366D59F}">
      <dgm:prSet/>
      <dgm:spPr/>
      <dgm:t>
        <a:bodyPr/>
        <a:lstStyle/>
        <a:p>
          <a:endParaRPr lang="fr-FR"/>
        </a:p>
      </dgm:t>
    </dgm:pt>
    <dgm:pt modelId="{C66B5FFC-F5B5-4C50-9DDF-E55A1BCC956F}" type="sibTrans" cxnId="{EB64A22F-6E26-482B-BE9B-EBADA366D59F}">
      <dgm:prSet/>
      <dgm:spPr/>
      <dgm:t>
        <a:bodyPr/>
        <a:lstStyle/>
        <a:p>
          <a:endParaRPr lang="fr-FR"/>
        </a:p>
      </dgm:t>
    </dgm:pt>
    <dgm:pt modelId="{B0C39004-521B-41C9-B1D9-A7D0661273B8}">
      <dgm:prSet phldrT="[Texte]"/>
      <dgm:spPr/>
      <dgm:t>
        <a:bodyPr/>
        <a:lstStyle/>
        <a:p>
          <a:r>
            <a:rPr lang="fr-FR" dirty="0"/>
            <a:t>Optimal transport</a:t>
          </a:r>
        </a:p>
      </dgm:t>
    </dgm:pt>
    <dgm:pt modelId="{F1AF2119-C096-4670-8E17-272AF6C51264}" type="parTrans" cxnId="{85210356-FAA0-4BA8-943E-8045CF0B2C59}">
      <dgm:prSet/>
      <dgm:spPr/>
      <dgm:t>
        <a:bodyPr/>
        <a:lstStyle/>
        <a:p>
          <a:endParaRPr lang="fr-FR"/>
        </a:p>
      </dgm:t>
    </dgm:pt>
    <dgm:pt modelId="{3BFB65B4-7828-467D-B57B-4A03504AF5F2}" type="sibTrans" cxnId="{85210356-FAA0-4BA8-943E-8045CF0B2C59}">
      <dgm:prSet/>
      <dgm:spPr/>
      <dgm:t>
        <a:bodyPr/>
        <a:lstStyle/>
        <a:p>
          <a:endParaRPr lang="fr-FR"/>
        </a:p>
      </dgm:t>
    </dgm:pt>
    <dgm:pt modelId="{02A5B02B-A8CF-440A-8DCB-5896AA031743}">
      <dgm:prSet phldrT="[Texte]" custT="1"/>
      <dgm:spPr/>
      <dgm:t>
        <a:bodyPr/>
        <a:lstStyle/>
        <a:p>
          <a:r>
            <a:rPr lang="fr-FR" sz="1400" b="0" i="0" dirty="0">
              <a:effectLst/>
              <a:latin typeface="Arial" panose="020B0604020202020204" pitchFamily="34" charset="0"/>
            </a:rPr>
            <a:t>F. </a:t>
          </a:r>
          <a:r>
            <a:rPr lang="fr-FR" sz="1400" b="0" i="0" dirty="0" err="1">
              <a:effectLst/>
              <a:latin typeface="Arial" panose="020B0604020202020204" pitchFamily="34" charset="0"/>
            </a:rPr>
            <a:t>Fahimi</a:t>
          </a:r>
          <a:r>
            <a:rPr lang="fr-FR" sz="1400" b="0" i="0" dirty="0">
              <a:effectLst/>
              <a:latin typeface="Arial" panose="020B0604020202020204" pitchFamily="34" charset="0"/>
            </a:rPr>
            <a:t> et al. Journal of Neural Engineering, page 13, 2018.</a:t>
          </a:r>
          <a:endParaRPr lang="fr-FR" sz="1400" dirty="0"/>
        </a:p>
      </dgm:t>
    </dgm:pt>
    <dgm:pt modelId="{21F52055-E8FD-45A6-A056-28F9656CBBC2}" type="parTrans" cxnId="{DFB95B22-6670-43AB-B068-2B641ECB54A5}">
      <dgm:prSet/>
      <dgm:spPr/>
      <dgm:t>
        <a:bodyPr/>
        <a:lstStyle/>
        <a:p>
          <a:endParaRPr lang="en-US"/>
        </a:p>
      </dgm:t>
    </dgm:pt>
    <dgm:pt modelId="{94DE980E-E707-4875-8FAC-3748647F7107}" type="sibTrans" cxnId="{DFB95B22-6670-43AB-B068-2B641ECB54A5}">
      <dgm:prSet/>
      <dgm:spPr/>
      <dgm:t>
        <a:bodyPr/>
        <a:lstStyle/>
        <a:p>
          <a:endParaRPr lang="en-US"/>
        </a:p>
      </dgm:t>
    </dgm:pt>
    <dgm:pt modelId="{856661BB-6332-4109-BC67-02AF89A7B147}">
      <dgm:prSet phldrT="[Texte]" custT="1"/>
      <dgm:spPr/>
      <dgm:t>
        <a:bodyPr/>
        <a:lstStyle/>
        <a:p>
          <a:r>
            <a:rPr lang="fr-FR" sz="1400" b="0" i="0" dirty="0">
              <a:effectLst/>
              <a:latin typeface="Arial" panose="020B0604020202020204" pitchFamily="34" charset="0"/>
            </a:rPr>
            <a:t>B. </a:t>
          </a:r>
          <a:r>
            <a:rPr lang="fr-FR" sz="1400" b="0" i="0" dirty="0" err="1">
              <a:effectLst/>
              <a:latin typeface="Arial" panose="020B0604020202020204" pitchFamily="34" charset="0"/>
            </a:rPr>
            <a:t>Aristimunha</a:t>
          </a:r>
          <a:r>
            <a:rPr lang="fr-FR" sz="1400" b="0" i="0" dirty="0">
              <a:effectLst/>
              <a:latin typeface="Arial" panose="020B0604020202020204" pitchFamily="34" charset="0"/>
            </a:rPr>
            <a:t> et al. </a:t>
          </a:r>
          <a:r>
            <a:rPr lang="fr-FR" sz="1400" b="0" i="0" dirty="0" err="1">
              <a:effectLst/>
              <a:latin typeface="Arial" panose="020B0604020202020204" pitchFamily="34" charset="0"/>
            </a:rPr>
            <a:t>NeurIPS</a:t>
          </a:r>
          <a:r>
            <a:rPr lang="fr-FR" sz="1400" b="0" i="0" dirty="0">
              <a:effectLst/>
              <a:latin typeface="Arial" panose="020B0604020202020204" pitchFamily="34" charset="0"/>
            </a:rPr>
            <a:t> workshop AI4Science, page 19, 2023</a:t>
          </a:r>
          <a:endParaRPr lang="fr-FR" sz="1400" dirty="0"/>
        </a:p>
      </dgm:t>
    </dgm:pt>
    <dgm:pt modelId="{63677608-2F42-49E7-A3A7-0198355EF43A}" type="parTrans" cxnId="{62FC7310-5EAA-4147-B4F1-EBAA2B323F7D}">
      <dgm:prSet/>
      <dgm:spPr/>
      <dgm:t>
        <a:bodyPr/>
        <a:lstStyle/>
        <a:p>
          <a:endParaRPr lang="en-US"/>
        </a:p>
      </dgm:t>
    </dgm:pt>
    <dgm:pt modelId="{DA9CED3D-38F2-4614-B464-A35C8FCDB7FA}" type="sibTrans" cxnId="{62FC7310-5EAA-4147-B4F1-EBAA2B323F7D}">
      <dgm:prSet/>
      <dgm:spPr/>
      <dgm:t>
        <a:bodyPr/>
        <a:lstStyle/>
        <a:p>
          <a:endParaRPr lang="en-US"/>
        </a:p>
      </dgm:t>
    </dgm:pt>
    <dgm:pt modelId="{E25D51B4-B6A1-4748-8C1A-6262D27C4BD7}">
      <dgm:prSet phldrT="[Texte]" custT="1"/>
      <dgm:spPr/>
      <dgm:t>
        <a:bodyPr/>
        <a:lstStyle/>
        <a:p>
          <a:r>
            <a:rPr lang="fr-FR" sz="1400" b="0" i="0" dirty="0">
              <a:effectLst/>
              <a:latin typeface="Arial" panose="020B0604020202020204" pitchFamily="34" charset="0"/>
            </a:rPr>
            <a:t>S. </a:t>
          </a:r>
          <a:r>
            <a:rPr lang="fr-FR" sz="1400" b="0" i="0" dirty="0" err="1">
              <a:effectLst/>
              <a:latin typeface="Arial" panose="020B0604020202020204" pitchFamily="34" charset="0"/>
            </a:rPr>
            <a:t>Khazem</a:t>
          </a:r>
          <a:r>
            <a:rPr lang="fr-FR" sz="1400" b="0" i="0" dirty="0">
              <a:effectLst/>
              <a:latin typeface="Arial" panose="020B0604020202020204" pitchFamily="34" charset="0"/>
            </a:rPr>
            <a:t> et al. IEEE/EMBS </a:t>
          </a:r>
          <a:r>
            <a:rPr lang="fr-FR" sz="1400" b="0" i="0" dirty="0" err="1">
              <a:effectLst/>
              <a:latin typeface="Arial" panose="020B0604020202020204" pitchFamily="34" charset="0"/>
            </a:rPr>
            <a:t>Conference</a:t>
          </a:r>
          <a:r>
            <a:rPr lang="fr-FR" sz="1400" b="0" i="0" dirty="0">
              <a:effectLst/>
              <a:latin typeface="Arial" panose="020B0604020202020204" pitchFamily="34" charset="0"/>
            </a:rPr>
            <a:t> on Neural Engineering (NER), page 523 2021</a:t>
          </a:r>
          <a:endParaRPr lang="fr-FR" sz="1400" dirty="0"/>
        </a:p>
      </dgm:t>
    </dgm:pt>
    <dgm:pt modelId="{F9ECDAC7-1A68-4728-AD14-212DE93C391B}" type="parTrans" cxnId="{ECE4D359-C730-4253-B1B8-2564BE7E2341}">
      <dgm:prSet/>
      <dgm:spPr/>
      <dgm:t>
        <a:bodyPr/>
        <a:lstStyle/>
        <a:p>
          <a:endParaRPr lang="en-US"/>
        </a:p>
      </dgm:t>
    </dgm:pt>
    <dgm:pt modelId="{A75269BE-2BD3-4A09-AA57-01010CE0809B}" type="sibTrans" cxnId="{ECE4D359-C730-4253-B1B8-2564BE7E2341}">
      <dgm:prSet/>
      <dgm:spPr/>
      <dgm:t>
        <a:bodyPr/>
        <a:lstStyle/>
        <a:p>
          <a:endParaRPr lang="en-US"/>
        </a:p>
      </dgm:t>
    </dgm:pt>
    <dgm:pt modelId="{B553E3A1-B4C1-41F1-8111-1FF65220C7C0}">
      <dgm:prSet phldrT="[Texte]" custT="1"/>
      <dgm:spPr/>
      <dgm:t>
        <a:bodyPr/>
        <a:lstStyle/>
        <a:p>
          <a:r>
            <a:rPr lang="fr-FR" sz="1400" b="0" i="0" dirty="0">
              <a:effectLst/>
              <a:latin typeface="Arial" panose="020B0604020202020204" pitchFamily="34" charset="0"/>
            </a:rPr>
            <a:t>R. </a:t>
          </a:r>
          <a:r>
            <a:rPr lang="fr-FR" sz="1400" b="0" i="0" dirty="0" err="1">
              <a:effectLst/>
              <a:latin typeface="Arial" panose="020B0604020202020204" pitchFamily="34" charset="0"/>
            </a:rPr>
            <a:t>Kobler</a:t>
          </a:r>
          <a:r>
            <a:rPr lang="fr-FR" sz="1400" b="0" i="0" dirty="0">
              <a:effectLst/>
              <a:latin typeface="Arial" panose="020B0604020202020204" pitchFamily="34" charset="0"/>
            </a:rPr>
            <a:t> et al. In </a:t>
          </a:r>
          <a:r>
            <a:rPr lang="fr-FR" sz="1400" b="0" i="0" dirty="0" err="1">
              <a:effectLst/>
              <a:latin typeface="Arial" panose="020B0604020202020204" pitchFamily="34" charset="0"/>
            </a:rPr>
            <a:t>NeurIPS</a:t>
          </a:r>
          <a:r>
            <a:rPr lang="fr-FR" sz="1400" b="0" i="0" dirty="0">
              <a:effectLst/>
              <a:latin typeface="Arial" panose="020B0604020202020204" pitchFamily="34" charset="0"/>
            </a:rPr>
            <a:t>, 2022.</a:t>
          </a:r>
          <a:endParaRPr lang="fr-FR" sz="1400" dirty="0"/>
        </a:p>
      </dgm:t>
    </dgm:pt>
    <dgm:pt modelId="{DD230D01-787B-4C05-90BC-3DC366BD6A1D}" type="parTrans" cxnId="{7F6C1694-754C-442E-A488-B8B5B19F3D08}">
      <dgm:prSet/>
      <dgm:spPr/>
      <dgm:t>
        <a:bodyPr/>
        <a:lstStyle/>
        <a:p>
          <a:endParaRPr lang="en-US"/>
        </a:p>
      </dgm:t>
    </dgm:pt>
    <dgm:pt modelId="{5591A715-FBDB-4B46-92BD-B5CCFDB9D474}" type="sibTrans" cxnId="{7F6C1694-754C-442E-A488-B8B5B19F3D08}">
      <dgm:prSet/>
      <dgm:spPr/>
      <dgm:t>
        <a:bodyPr/>
        <a:lstStyle/>
        <a:p>
          <a:endParaRPr lang="en-US"/>
        </a:p>
      </dgm:t>
    </dgm:pt>
    <dgm:pt modelId="{D59245B6-2334-4034-8D9C-ED55E68B114C}">
      <dgm:prSet phldrT="[Texte]" custT="1"/>
      <dgm:spPr/>
      <dgm:t>
        <a:bodyPr/>
        <a:lstStyle/>
        <a:p>
          <a:r>
            <a:rPr lang="en-US" sz="1400" dirty="0">
              <a:latin typeface="Arial" panose="020B0604020202020204" pitchFamily="34" charset="0"/>
              <a:cs typeface="Arial" panose="020B0604020202020204" pitchFamily="34" charset="0"/>
            </a:rPr>
            <a:t>N. T. H. </a:t>
          </a:r>
          <a:r>
            <a:rPr lang="en-US" sz="1400" dirty="0" err="1">
              <a:latin typeface="Arial" panose="020B0604020202020204" pitchFamily="34" charset="0"/>
              <a:cs typeface="Arial" panose="020B0604020202020204" pitchFamily="34" charset="0"/>
            </a:rPr>
            <a:t>Gayraud</a:t>
          </a:r>
          <a:r>
            <a:rPr lang="en-US" sz="1400" dirty="0">
              <a:latin typeface="Arial" panose="020B0604020202020204" pitchFamily="34" charset="0"/>
              <a:cs typeface="Arial" panose="020B0604020202020204" pitchFamily="34" charset="0"/>
            </a:rPr>
            <a:t> et al. Graz Brain-Computer Interface Conference, 2017</a:t>
          </a:r>
          <a:endParaRPr lang="fr-FR" sz="1400" dirty="0">
            <a:latin typeface="Arial" panose="020B0604020202020204" pitchFamily="34" charset="0"/>
            <a:cs typeface="Arial" panose="020B0604020202020204" pitchFamily="34" charset="0"/>
          </a:endParaRPr>
        </a:p>
      </dgm:t>
    </dgm:pt>
    <dgm:pt modelId="{70626C2D-7B20-4C54-95C3-CA9456FD612D}" type="parTrans" cxnId="{87023585-FBF3-41BC-A289-3C9C059C3921}">
      <dgm:prSet/>
      <dgm:spPr/>
      <dgm:t>
        <a:bodyPr/>
        <a:lstStyle/>
        <a:p>
          <a:endParaRPr lang="en-US"/>
        </a:p>
      </dgm:t>
    </dgm:pt>
    <dgm:pt modelId="{92163D18-5847-49CE-BE54-F39D85B970BC}" type="sibTrans" cxnId="{87023585-FBF3-41BC-A289-3C9C059C3921}">
      <dgm:prSet/>
      <dgm:spPr/>
      <dgm:t>
        <a:bodyPr/>
        <a:lstStyle/>
        <a:p>
          <a:endParaRPr lang="en-US"/>
        </a:p>
      </dgm:t>
    </dgm:pt>
    <dgm:pt modelId="{5871197E-F7F1-4E95-ADE5-9433718E7DCA}" type="pres">
      <dgm:prSet presAssocID="{29546596-F502-42BB-90C4-F960ADEF4A1E}" presName="linear" presStyleCnt="0">
        <dgm:presLayoutVars>
          <dgm:animLvl val="lvl"/>
          <dgm:resizeHandles val="exact"/>
        </dgm:presLayoutVars>
      </dgm:prSet>
      <dgm:spPr/>
    </dgm:pt>
    <dgm:pt modelId="{B5E52EDD-C7EA-493D-A2E2-5C12E19737F5}" type="pres">
      <dgm:prSet presAssocID="{AC2161FE-C7EB-461E-874F-6CC6BDFF486B}" presName="parentText" presStyleLbl="node1" presStyleIdx="0" presStyleCnt="5">
        <dgm:presLayoutVars>
          <dgm:chMax val="0"/>
          <dgm:bulletEnabled val="1"/>
        </dgm:presLayoutVars>
      </dgm:prSet>
      <dgm:spPr/>
    </dgm:pt>
    <dgm:pt modelId="{306D8E76-95F8-4701-9DC8-1FEA0C1B7104}" type="pres">
      <dgm:prSet presAssocID="{AC2161FE-C7EB-461E-874F-6CC6BDFF486B}" presName="childText" presStyleLbl="revTx" presStyleIdx="0" presStyleCnt="5">
        <dgm:presLayoutVars>
          <dgm:bulletEnabled val="1"/>
        </dgm:presLayoutVars>
      </dgm:prSet>
      <dgm:spPr/>
    </dgm:pt>
    <dgm:pt modelId="{DEE63E6D-C1DA-40D0-8C13-F012144259FF}" type="pres">
      <dgm:prSet presAssocID="{196DAC88-813D-4C69-B5F5-4C442B7A725C}" presName="parentText" presStyleLbl="node1" presStyleIdx="1" presStyleCnt="5">
        <dgm:presLayoutVars>
          <dgm:chMax val="0"/>
          <dgm:bulletEnabled val="1"/>
        </dgm:presLayoutVars>
      </dgm:prSet>
      <dgm:spPr/>
    </dgm:pt>
    <dgm:pt modelId="{2AD08045-9EA7-408E-9177-B633F969AECA}" type="pres">
      <dgm:prSet presAssocID="{196DAC88-813D-4C69-B5F5-4C442B7A725C}" presName="childText" presStyleLbl="revTx" presStyleIdx="1" presStyleCnt="5">
        <dgm:presLayoutVars>
          <dgm:bulletEnabled val="1"/>
        </dgm:presLayoutVars>
      </dgm:prSet>
      <dgm:spPr/>
    </dgm:pt>
    <dgm:pt modelId="{660E5F09-0E3E-4873-95A7-D8736654B58F}" type="pres">
      <dgm:prSet presAssocID="{90B5BBF4-BF85-4AD8-B25E-A74770CA463F}" presName="parentText" presStyleLbl="node1" presStyleIdx="2" presStyleCnt="5">
        <dgm:presLayoutVars>
          <dgm:chMax val="0"/>
          <dgm:bulletEnabled val="1"/>
        </dgm:presLayoutVars>
      </dgm:prSet>
      <dgm:spPr/>
    </dgm:pt>
    <dgm:pt modelId="{650486AF-20D0-4742-9244-77A1D76D3B15}" type="pres">
      <dgm:prSet presAssocID="{90B5BBF4-BF85-4AD8-B25E-A74770CA463F}" presName="childText" presStyleLbl="revTx" presStyleIdx="2" presStyleCnt="5">
        <dgm:presLayoutVars>
          <dgm:bulletEnabled val="1"/>
        </dgm:presLayoutVars>
      </dgm:prSet>
      <dgm:spPr/>
    </dgm:pt>
    <dgm:pt modelId="{46B44FA9-623E-48A1-88D0-2600B514F5DF}" type="pres">
      <dgm:prSet presAssocID="{A09FB1F4-A652-4F67-A22B-73A350E6ECC9}" presName="parentText" presStyleLbl="node1" presStyleIdx="3" presStyleCnt="5">
        <dgm:presLayoutVars>
          <dgm:chMax val="0"/>
          <dgm:bulletEnabled val="1"/>
        </dgm:presLayoutVars>
      </dgm:prSet>
      <dgm:spPr/>
    </dgm:pt>
    <dgm:pt modelId="{86FBBA0A-8920-4E16-A764-B02582AE8DB0}" type="pres">
      <dgm:prSet presAssocID="{A09FB1F4-A652-4F67-A22B-73A350E6ECC9}" presName="childText" presStyleLbl="revTx" presStyleIdx="3" presStyleCnt="5">
        <dgm:presLayoutVars>
          <dgm:bulletEnabled val="1"/>
        </dgm:presLayoutVars>
      </dgm:prSet>
      <dgm:spPr/>
    </dgm:pt>
    <dgm:pt modelId="{F1AC630D-5C74-4A03-8B27-9C6132C1A031}" type="pres">
      <dgm:prSet presAssocID="{B0C39004-521B-41C9-B1D9-A7D0661273B8}" presName="parentText" presStyleLbl="node1" presStyleIdx="4" presStyleCnt="5">
        <dgm:presLayoutVars>
          <dgm:chMax val="0"/>
          <dgm:bulletEnabled val="1"/>
        </dgm:presLayoutVars>
      </dgm:prSet>
      <dgm:spPr/>
    </dgm:pt>
    <dgm:pt modelId="{B3BC7D27-B377-41D4-95A3-3ED20792197D}" type="pres">
      <dgm:prSet presAssocID="{B0C39004-521B-41C9-B1D9-A7D0661273B8}" presName="childText" presStyleLbl="revTx" presStyleIdx="4" presStyleCnt="5">
        <dgm:presLayoutVars>
          <dgm:bulletEnabled val="1"/>
        </dgm:presLayoutVars>
      </dgm:prSet>
      <dgm:spPr/>
    </dgm:pt>
  </dgm:ptLst>
  <dgm:cxnLst>
    <dgm:cxn modelId="{2D754B02-7021-44D8-ADC9-7B9278199DFF}" type="presOf" srcId="{E25D51B4-B6A1-4748-8C1A-6262D27C4BD7}" destId="{650486AF-20D0-4742-9244-77A1D76D3B15}" srcOrd="0" destOrd="0" presId="urn:microsoft.com/office/officeart/2005/8/layout/vList2"/>
    <dgm:cxn modelId="{62FC7310-5EAA-4147-B4F1-EBAA2B323F7D}" srcId="{196DAC88-813D-4C69-B5F5-4C442B7A725C}" destId="{856661BB-6332-4109-BC67-02AF89A7B147}" srcOrd="0" destOrd="0" parTransId="{63677608-2F42-49E7-A3A7-0198355EF43A}" sibTransId="{DA9CED3D-38F2-4614-B464-A35C8FCDB7FA}"/>
    <dgm:cxn modelId="{DFB95B22-6670-43AB-B068-2B641ECB54A5}" srcId="{AC2161FE-C7EB-461E-874F-6CC6BDFF486B}" destId="{02A5B02B-A8CF-440A-8DCB-5896AA031743}" srcOrd="0" destOrd="0" parTransId="{21F52055-E8FD-45A6-A056-28F9656CBBC2}" sibTransId="{94DE980E-E707-4875-8FAC-3748647F7107}"/>
    <dgm:cxn modelId="{EB64A22F-6E26-482B-BE9B-EBADA366D59F}" srcId="{29546596-F502-42BB-90C4-F960ADEF4A1E}" destId="{A09FB1F4-A652-4F67-A22B-73A350E6ECC9}" srcOrd="3" destOrd="0" parTransId="{E18D5509-0E2E-4E6A-B633-B43217B3A539}" sibTransId="{C66B5FFC-F5B5-4C50-9DDF-E55A1BCC956F}"/>
    <dgm:cxn modelId="{AA6F6C4E-A437-40CC-B284-D862969E8089}" type="presOf" srcId="{29546596-F502-42BB-90C4-F960ADEF4A1E}" destId="{5871197E-F7F1-4E95-ADE5-9433718E7DCA}" srcOrd="0" destOrd="0" presId="urn:microsoft.com/office/officeart/2005/8/layout/vList2"/>
    <dgm:cxn modelId="{9D67E451-84BC-4C3F-B52F-9BDAA342D8FD}" srcId="{29546596-F502-42BB-90C4-F960ADEF4A1E}" destId="{196DAC88-813D-4C69-B5F5-4C442B7A725C}" srcOrd="1" destOrd="0" parTransId="{7A072005-5503-464F-A4D1-E73A34CB4208}" sibTransId="{D7FE6822-7D4C-43AF-A45D-47B74CEAB670}"/>
    <dgm:cxn modelId="{A924B574-2EEA-413C-8DC2-CC2C58B3C831}" srcId="{29546596-F502-42BB-90C4-F960ADEF4A1E}" destId="{AC2161FE-C7EB-461E-874F-6CC6BDFF486B}" srcOrd="0" destOrd="0" parTransId="{365AB2CC-AF2A-41D9-A19F-58A68E8A5E9C}" sibTransId="{C3F64526-3F3C-4A76-93EE-4E0D18C041D8}"/>
    <dgm:cxn modelId="{85210356-FAA0-4BA8-943E-8045CF0B2C59}" srcId="{29546596-F502-42BB-90C4-F960ADEF4A1E}" destId="{B0C39004-521B-41C9-B1D9-A7D0661273B8}" srcOrd="4" destOrd="0" parTransId="{F1AF2119-C096-4670-8E17-272AF6C51264}" sibTransId="{3BFB65B4-7828-467D-B57B-4A03504AF5F2}"/>
    <dgm:cxn modelId="{ECE4D359-C730-4253-B1B8-2564BE7E2341}" srcId="{90B5BBF4-BF85-4AD8-B25E-A74770CA463F}" destId="{E25D51B4-B6A1-4748-8C1A-6262D27C4BD7}" srcOrd="0" destOrd="0" parTransId="{F9ECDAC7-1A68-4728-AD14-212DE93C391B}" sibTransId="{A75269BE-2BD3-4A09-AA57-01010CE0809B}"/>
    <dgm:cxn modelId="{87023585-FBF3-41BC-A289-3C9C059C3921}" srcId="{B0C39004-521B-41C9-B1D9-A7D0661273B8}" destId="{D59245B6-2334-4034-8D9C-ED55E68B114C}" srcOrd="0" destOrd="0" parTransId="{70626C2D-7B20-4C54-95C3-CA9456FD612D}" sibTransId="{92163D18-5847-49CE-BE54-F39D85B970BC}"/>
    <dgm:cxn modelId="{3E70A789-E7E3-450E-A1D5-25F9522BE122}" type="presOf" srcId="{B0C39004-521B-41C9-B1D9-A7D0661273B8}" destId="{F1AC630D-5C74-4A03-8B27-9C6132C1A031}" srcOrd="0" destOrd="0" presId="urn:microsoft.com/office/officeart/2005/8/layout/vList2"/>
    <dgm:cxn modelId="{E7CEEA8E-0837-4F2A-BC3F-FA8412A4E9FC}" type="presOf" srcId="{90B5BBF4-BF85-4AD8-B25E-A74770CA463F}" destId="{660E5F09-0E3E-4873-95A7-D8736654B58F}" srcOrd="0" destOrd="0" presId="urn:microsoft.com/office/officeart/2005/8/layout/vList2"/>
    <dgm:cxn modelId="{3E152192-251F-44C9-BF5B-FCD3F6138562}" type="presOf" srcId="{B553E3A1-B4C1-41F1-8111-1FF65220C7C0}" destId="{86FBBA0A-8920-4E16-A764-B02582AE8DB0}" srcOrd="0" destOrd="0" presId="urn:microsoft.com/office/officeart/2005/8/layout/vList2"/>
    <dgm:cxn modelId="{7F6C1694-754C-442E-A488-B8B5B19F3D08}" srcId="{A09FB1F4-A652-4F67-A22B-73A350E6ECC9}" destId="{B553E3A1-B4C1-41F1-8111-1FF65220C7C0}" srcOrd="0" destOrd="0" parTransId="{DD230D01-787B-4C05-90BC-3DC366BD6A1D}" sibTransId="{5591A715-FBDB-4B46-92BD-B5CCFDB9D474}"/>
    <dgm:cxn modelId="{EB48129E-CDC6-4A82-A946-0235DABBE51D}" type="presOf" srcId="{AC2161FE-C7EB-461E-874F-6CC6BDFF486B}" destId="{B5E52EDD-C7EA-493D-A2E2-5C12E19737F5}" srcOrd="0" destOrd="0" presId="urn:microsoft.com/office/officeart/2005/8/layout/vList2"/>
    <dgm:cxn modelId="{2E0DD5A2-C3F1-4AF0-AB5D-7AC66C5D94DD}" type="presOf" srcId="{856661BB-6332-4109-BC67-02AF89A7B147}" destId="{2AD08045-9EA7-408E-9177-B633F969AECA}" srcOrd="0" destOrd="0" presId="urn:microsoft.com/office/officeart/2005/8/layout/vList2"/>
    <dgm:cxn modelId="{E3E72FA9-E689-46CF-96C8-F72957A12796}" type="presOf" srcId="{196DAC88-813D-4C69-B5F5-4C442B7A725C}" destId="{DEE63E6D-C1DA-40D0-8C13-F012144259FF}" srcOrd="0" destOrd="0" presId="urn:microsoft.com/office/officeart/2005/8/layout/vList2"/>
    <dgm:cxn modelId="{386B5DCB-9A5B-4FAC-BA82-734555D2686C}" type="presOf" srcId="{02A5B02B-A8CF-440A-8DCB-5896AA031743}" destId="{306D8E76-95F8-4701-9DC8-1FEA0C1B7104}" srcOrd="0" destOrd="0" presId="urn:microsoft.com/office/officeart/2005/8/layout/vList2"/>
    <dgm:cxn modelId="{4D2438EB-9D0D-4A30-B783-729808FD4B00}" srcId="{29546596-F502-42BB-90C4-F960ADEF4A1E}" destId="{90B5BBF4-BF85-4AD8-B25E-A74770CA463F}" srcOrd="2" destOrd="0" parTransId="{3A7F37E0-ED2E-4833-8C38-22D5B1A814BE}" sibTransId="{4B159E8F-C6B4-49D8-92C6-BB02040EAFE4}"/>
    <dgm:cxn modelId="{1A8239FC-596F-4C96-81E1-9E7BCB1A37E4}" type="presOf" srcId="{D59245B6-2334-4034-8D9C-ED55E68B114C}" destId="{B3BC7D27-B377-41D4-95A3-3ED20792197D}" srcOrd="0" destOrd="0" presId="urn:microsoft.com/office/officeart/2005/8/layout/vList2"/>
    <dgm:cxn modelId="{D4861EFD-0919-4F8B-945F-4F9B95133237}" type="presOf" srcId="{A09FB1F4-A652-4F67-A22B-73A350E6ECC9}" destId="{46B44FA9-623E-48A1-88D0-2600B514F5DF}" srcOrd="0" destOrd="0" presId="urn:microsoft.com/office/officeart/2005/8/layout/vList2"/>
    <dgm:cxn modelId="{03C8919F-21FE-47FA-9660-C1C48F523AB6}" type="presParOf" srcId="{5871197E-F7F1-4E95-ADE5-9433718E7DCA}" destId="{B5E52EDD-C7EA-493D-A2E2-5C12E19737F5}" srcOrd="0" destOrd="0" presId="urn:microsoft.com/office/officeart/2005/8/layout/vList2"/>
    <dgm:cxn modelId="{786FEC51-5B47-401F-9A1C-F116EC7AB5F8}" type="presParOf" srcId="{5871197E-F7F1-4E95-ADE5-9433718E7DCA}" destId="{306D8E76-95F8-4701-9DC8-1FEA0C1B7104}" srcOrd="1" destOrd="0" presId="urn:microsoft.com/office/officeart/2005/8/layout/vList2"/>
    <dgm:cxn modelId="{E5DD9B30-867D-4C2A-8DBA-A4BFB80360C9}" type="presParOf" srcId="{5871197E-F7F1-4E95-ADE5-9433718E7DCA}" destId="{DEE63E6D-C1DA-40D0-8C13-F012144259FF}" srcOrd="2" destOrd="0" presId="urn:microsoft.com/office/officeart/2005/8/layout/vList2"/>
    <dgm:cxn modelId="{AD562E07-7D7D-422E-A4DB-E0D1DA41E7BE}" type="presParOf" srcId="{5871197E-F7F1-4E95-ADE5-9433718E7DCA}" destId="{2AD08045-9EA7-408E-9177-B633F969AECA}" srcOrd="3" destOrd="0" presId="urn:microsoft.com/office/officeart/2005/8/layout/vList2"/>
    <dgm:cxn modelId="{4DE0A5D3-2978-43CE-95EC-960EB5D0061D}" type="presParOf" srcId="{5871197E-F7F1-4E95-ADE5-9433718E7DCA}" destId="{660E5F09-0E3E-4873-95A7-D8736654B58F}" srcOrd="4" destOrd="0" presId="urn:microsoft.com/office/officeart/2005/8/layout/vList2"/>
    <dgm:cxn modelId="{D10AE1E1-E914-4EEA-8573-20E2AAAC39B5}" type="presParOf" srcId="{5871197E-F7F1-4E95-ADE5-9433718E7DCA}" destId="{650486AF-20D0-4742-9244-77A1D76D3B15}" srcOrd="5" destOrd="0" presId="urn:microsoft.com/office/officeart/2005/8/layout/vList2"/>
    <dgm:cxn modelId="{387A8984-6503-490E-AB6D-2763C67E81D7}" type="presParOf" srcId="{5871197E-F7F1-4E95-ADE5-9433718E7DCA}" destId="{46B44FA9-623E-48A1-88D0-2600B514F5DF}" srcOrd="6" destOrd="0" presId="urn:microsoft.com/office/officeart/2005/8/layout/vList2"/>
    <dgm:cxn modelId="{E422B3BE-0859-4C7A-957E-0FD26E48D93F}" type="presParOf" srcId="{5871197E-F7F1-4E95-ADE5-9433718E7DCA}" destId="{86FBBA0A-8920-4E16-A764-B02582AE8DB0}" srcOrd="7" destOrd="0" presId="urn:microsoft.com/office/officeart/2005/8/layout/vList2"/>
    <dgm:cxn modelId="{ED276C22-9D12-49D7-B452-3DD1536828BF}" type="presParOf" srcId="{5871197E-F7F1-4E95-ADE5-9433718E7DCA}" destId="{F1AC630D-5C74-4A03-8B27-9C6132C1A031}" srcOrd="8" destOrd="0" presId="urn:microsoft.com/office/officeart/2005/8/layout/vList2"/>
    <dgm:cxn modelId="{9E8D91D3-CDF8-4081-8D30-6C85ECBE1A69}" type="presParOf" srcId="{5871197E-F7F1-4E95-ADE5-9433718E7DCA}" destId="{B3BC7D27-B377-41D4-95A3-3ED20792197D}" srcOrd="9"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A0B603-F765-43A5-8196-B37459C1E3D9}"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9ADF4864-0CFB-4554-9F90-129D422CDD84}">
      <dgm:prSet/>
      <dgm:spPr>
        <a:solidFill>
          <a:srgbClr val="0070C0"/>
        </a:solidFill>
      </dgm:spPr>
      <dgm:t>
        <a:bodyPr/>
        <a:lstStyle/>
        <a:p>
          <a:r>
            <a:rPr lang="fr-FR" dirty="0"/>
            <a:t>Few flashes per second </a:t>
          </a:r>
        </a:p>
        <a:p>
          <a:r>
            <a:rPr lang="fr-FR" dirty="0"/>
            <a:t>(3/sec. </a:t>
          </a:r>
          <a:r>
            <a:rPr lang="fr-FR" dirty="0" err="1"/>
            <a:t>aperiodically</a:t>
          </a:r>
          <a:r>
            <a:rPr lang="fr-FR" dirty="0"/>
            <a:t>)</a:t>
          </a:r>
          <a:endParaRPr lang="en-US" dirty="0"/>
        </a:p>
      </dgm:t>
    </dgm:pt>
    <dgm:pt modelId="{D8510983-9AD8-4039-9B6E-F81A9B95BF53}" type="parTrans" cxnId="{3575921B-8312-49DF-8C49-F88232CFC065}">
      <dgm:prSet/>
      <dgm:spPr/>
      <dgm:t>
        <a:bodyPr/>
        <a:lstStyle/>
        <a:p>
          <a:endParaRPr lang="en-US"/>
        </a:p>
      </dgm:t>
    </dgm:pt>
    <dgm:pt modelId="{246A7C7F-B778-4DF4-9690-DCFA23E2A508}" type="sibTrans" cxnId="{3575921B-8312-49DF-8C49-F88232CFC065}">
      <dgm:prSet/>
      <dgm:spPr/>
      <dgm:t>
        <a:bodyPr/>
        <a:lstStyle/>
        <a:p>
          <a:endParaRPr lang="en-US"/>
        </a:p>
      </dgm:t>
    </dgm:pt>
    <dgm:pt modelId="{2F4F7194-DED9-4418-989D-174F9FCBA139}">
      <dgm:prSet/>
      <dgm:spPr>
        <a:solidFill>
          <a:srgbClr val="0070C0"/>
        </a:solidFill>
      </dgm:spPr>
      <dgm:t>
        <a:bodyPr/>
        <a:lstStyle/>
        <a:p>
          <a:r>
            <a:rPr lang="fr-FR"/>
            <a:t>Allows bitwise decoding</a:t>
          </a:r>
          <a:endParaRPr lang="en-US"/>
        </a:p>
      </dgm:t>
    </dgm:pt>
    <dgm:pt modelId="{4B4770F4-0E49-4B85-AFEC-F17F291B69FA}" type="parTrans" cxnId="{3DCDFF0E-09CC-4A65-A7AC-D07A0E6B2F56}">
      <dgm:prSet/>
      <dgm:spPr/>
      <dgm:t>
        <a:bodyPr/>
        <a:lstStyle/>
        <a:p>
          <a:endParaRPr lang="en-US"/>
        </a:p>
      </dgm:t>
    </dgm:pt>
    <dgm:pt modelId="{1CA08E86-AC85-4A85-B68F-967B96343299}" type="sibTrans" cxnId="{3DCDFF0E-09CC-4A65-A7AC-D07A0E6B2F56}">
      <dgm:prSet/>
      <dgm:spPr/>
      <dgm:t>
        <a:bodyPr/>
        <a:lstStyle/>
        <a:p>
          <a:endParaRPr lang="en-US"/>
        </a:p>
      </dgm:t>
    </dgm:pt>
    <dgm:pt modelId="{29B313C5-BE5A-4F7C-9CAB-86BA721470EA}">
      <dgm:prSet/>
      <dgm:spPr>
        <a:solidFill>
          <a:srgbClr val="0070C0"/>
        </a:solidFill>
      </dgm:spPr>
      <dgm:t>
        <a:bodyPr/>
        <a:lstStyle/>
        <a:p>
          <a:r>
            <a:rPr lang="fr-FR"/>
            <a:t>Strong response</a:t>
          </a:r>
          <a:endParaRPr lang="en-US"/>
        </a:p>
      </dgm:t>
    </dgm:pt>
    <dgm:pt modelId="{D4C454B2-3B3F-40E2-9011-E2A22B66B1D3}" type="parTrans" cxnId="{60735661-4C19-4A16-952B-3EF70FF78E83}">
      <dgm:prSet/>
      <dgm:spPr/>
      <dgm:t>
        <a:bodyPr/>
        <a:lstStyle/>
        <a:p>
          <a:endParaRPr lang="en-US"/>
        </a:p>
      </dgm:t>
    </dgm:pt>
    <dgm:pt modelId="{3AA47F50-63C0-4DF5-8FDD-A146B17586E7}" type="sibTrans" cxnId="{60735661-4C19-4A16-952B-3EF70FF78E83}">
      <dgm:prSet/>
      <dgm:spPr/>
      <dgm:t>
        <a:bodyPr/>
        <a:lstStyle/>
        <a:p>
          <a:endParaRPr lang="en-US"/>
        </a:p>
      </dgm:t>
    </dgm:pt>
    <dgm:pt modelId="{CBC2F046-FAFC-45AB-8F70-D5748E2CDBCF}">
      <dgm:prSet/>
      <dgm:spPr>
        <a:solidFill>
          <a:srgbClr val="0070C0"/>
        </a:solidFill>
      </dgm:spPr>
      <dgm:t>
        <a:bodyPr/>
        <a:lstStyle/>
        <a:p>
          <a:r>
            <a:rPr lang="fr-FR" dirty="0"/>
            <a:t>High SNR</a:t>
          </a:r>
          <a:endParaRPr lang="en-US" dirty="0"/>
        </a:p>
      </dgm:t>
    </dgm:pt>
    <dgm:pt modelId="{BD01F922-0F7E-4C37-853D-920BC927C53C}" type="parTrans" cxnId="{8671B8A0-5CB1-4767-B917-7CB56580CAAC}">
      <dgm:prSet/>
      <dgm:spPr/>
      <dgm:t>
        <a:bodyPr/>
        <a:lstStyle/>
        <a:p>
          <a:endParaRPr lang="en-US"/>
        </a:p>
      </dgm:t>
    </dgm:pt>
    <dgm:pt modelId="{79699021-F6B6-4361-B251-545791E8A2FA}" type="sibTrans" cxnId="{8671B8A0-5CB1-4767-B917-7CB56580CAAC}">
      <dgm:prSet/>
      <dgm:spPr/>
      <dgm:t>
        <a:bodyPr/>
        <a:lstStyle/>
        <a:p>
          <a:endParaRPr lang="en-US"/>
        </a:p>
      </dgm:t>
    </dgm:pt>
    <dgm:pt modelId="{5AA9BAEE-9589-4A49-88DF-FE5D95E3E199}" type="pres">
      <dgm:prSet presAssocID="{CDA0B603-F765-43A5-8196-B37459C1E3D9}" presName="matrix" presStyleCnt="0">
        <dgm:presLayoutVars>
          <dgm:chMax val="1"/>
          <dgm:dir/>
          <dgm:resizeHandles val="exact"/>
        </dgm:presLayoutVars>
      </dgm:prSet>
      <dgm:spPr/>
    </dgm:pt>
    <dgm:pt modelId="{AA1256D3-3FA4-4370-8C8A-6AFC75266420}" type="pres">
      <dgm:prSet presAssocID="{CDA0B603-F765-43A5-8196-B37459C1E3D9}" presName="diamond" presStyleLbl="bgShp" presStyleIdx="0" presStyleCnt="1"/>
      <dgm:spPr>
        <a:solidFill>
          <a:schemeClr val="accent4">
            <a:lumMod val="20000"/>
            <a:lumOff val="80000"/>
          </a:schemeClr>
        </a:solidFill>
      </dgm:spPr>
    </dgm:pt>
    <dgm:pt modelId="{5AF03ED9-72CA-4894-A002-802CD84A8F3C}" type="pres">
      <dgm:prSet presAssocID="{CDA0B603-F765-43A5-8196-B37459C1E3D9}" presName="quad1" presStyleLbl="node1" presStyleIdx="0" presStyleCnt="4" custLinFactNeighborX="1958" custLinFactNeighborY="619">
        <dgm:presLayoutVars>
          <dgm:chMax val="0"/>
          <dgm:chPref val="0"/>
          <dgm:bulletEnabled val="1"/>
        </dgm:presLayoutVars>
      </dgm:prSet>
      <dgm:spPr/>
    </dgm:pt>
    <dgm:pt modelId="{AEA3C1CB-A041-4A53-800D-4D563E9AA4AA}" type="pres">
      <dgm:prSet presAssocID="{CDA0B603-F765-43A5-8196-B37459C1E3D9}" presName="quad2" presStyleLbl="node1" presStyleIdx="1" presStyleCnt="4" custLinFactNeighborX="1958" custLinFactNeighborY="619">
        <dgm:presLayoutVars>
          <dgm:chMax val="0"/>
          <dgm:chPref val="0"/>
          <dgm:bulletEnabled val="1"/>
        </dgm:presLayoutVars>
      </dgm:prSet>
      <dgm:spPr/>
    </dgm:pt>
    <dgm:pt modelId="{DFD00781-08AB-4F80-81D5-4AB4ACF266E6}" type="pres">
      <dgm:prSet presAssocID="{CDA0B603-F765-43A5-8196-B37459C1E3D9}" presName="quad3" presStyleLbl="node1" presStyleIdx="2" presStyleCnt="4" custLinFactNeighborX="1958" custLinFactNeighborY="619">
        <dgm:presLayoutVars>
          <dgm:chMax val="0"/>
          <dgm:chPref val="0"/>
          <dgm:bulletEnabled val="1"/>
        </dgm:presLayoutVars>
      </dgm:prSet>
      <dgm:spPr/>
    </dgm:pt>
    <dgm:pt modelId="{B3FDFDBC-3C67-4174-99A0-428D57C4E24D}" type="pres">
      <dgm:prSet presAssocID="{CDA0B603-F765-43A5-8196-B37459C1E3D9}" presName="quad4" presStyleLbl="node1" presStyleIdx="3" presStyleCnt="4" custLinFactNeighborX="1958" custLinFactNeighborY="619">
        <dgm:presLayoutVars>
          <dgm:chMax val="0"/>
          <dgm:chPref val="0"/>
          <dgm:bulletEnabled val="1"/>
        </dgm:presLayoutVars>
      </dgm:prSet>
      <dgm:spPr/>
    </dgm:pt>
  </dgm:ptLst>
  <dgm:cxnLst>
    <dgm:cxn modelId="{3DCDFF0E-09CC-4A65-A7AC-D07A0E6B2F56}" srcId="{CDA0B603-F765-43A5-8196-B37459C1E3D9}" destId="{2F4F7194-DED9-4418-989D-174F9FCBA139}" srcOrd="1" destOrd="0" parTransId="{4B4770F4-0E49-4B85-AFEC-F17F291B69FA}" sibTransId="{1CA08E86-AC85-4A85-B68F-967B96343299}"/>
    <dgm:cxn modelId="{9FDB7518-8849-4E26-93CB-0AB330ADD4E9}" type="presOf" srcId="{29B313C5-BE5A-4F7C-9CAB-86BA721470EA}" destId="{DFD00781-08AB-4F80-81D5-4AB4ACF266E6}" srcOrd="0" destOrd="0" presId="urn:microsoft.com/office/officeart/2005/8/layout/matrix3"/>
    <dgm:cxn modelId="{3575921B-8312-49DF-8C49-F88232CFC065}" srcId="{CDA0B603-F765-43A5-8196-B37459C1E3D9}" destId="{9ADF4864-0CFB-4554-9F90-129D422CDD84}" srcOrd="0" destOrd="0" parTransId="{D8510983-9AD8-4039-9B6E-F81A9B95BF53}" sibTransId="{246A7C7F-B778-4DF4-9690-DCFA23E2A508}"/>
    <dgm:cxn modelId="{00AEF633-8CE1-4D63-9D49-8447542FEB0A}" type="presOf" srcId="{2F4F7194-DED9-4418-989D-174F9FCBA139}" destId="{AEA3C1CB-A041-4A53-800D-4D563E9AA4AA}" srcOrd="0" destOrd="0" presId="urn:microsoft.com/office/officeart/2005/8/layout/matrix3"/>
    <dgm:cxn modelId="{60735661-4C19-4A16-952B-3EF70FF78E83}" srcId="{CDA0B603-F765-43A5-8196-B37459C1E3D9}" destId="{29B313C5-BE5A-4F7C-9CAB-86BA721470EA}" srcOrd="2" destOrd="0" parTransId="{D4C454B2-3B3F-40E2-9011-E2A22B66B1D3}" sibTransId="{3AA47F50-63C0-4DF5-8FDD-A146B17586E7}"/>
    <dgm:cxn modelId="{5CC94655-9844-4271-AFD2-868BF183BB58}" type="presOf" srcId="{9ADF4864-0CFB-4554-9F90-129D422CDD84}" destId="{5AF03ED9-72CA-4894-A002-802CD84A8F3C}" srcOrd="0" destOrd="0" presId="urn:microsoft.com/office/officeart/2005/8/layout/matrix3"/>
    <dgm:cxn modelId="{D0B9599E-A33D-4ECB-B0D9-61915F712ECB}" type="presOf" srcId="{CDA0B603-F765-43A5-8196-B37459C1E3D9}" destId="{5AA9BAEE-9589-4A49-88DF-FE5D95E3E199}" srcOrd="0" destOrd="0" presId="urn:microsoft.com/office/officeart/2005/8/layout/matrix3"/>
    <dgm:cxn modelId="{8671B8A0-5CB1-4767-B917-7CB56580CAAC}" srcId="{CDA0B603-F765-43A5-8196-B37459C1E3D9}" destId="{CBC2F046-FAFC-45AB-8F70-D5748E2CDBCF}" srcOrd="3" destOrd="0" parTransId="{BD01F922-0F7E-4C37-853D-920BC927C53C}" sibTransId="{79699021-F6B6-4361-B251-545791E8A2FA}"/>
    <dgm:cxn modelId="{79F4B6A2-917A-4F1F-8089-F26E71106984}" type="presOf" srcId="{CBC2F046-FAFC-45AB-8F70-D5748E2CDBCF}" destId="{B3FDFDBC-3C67-4174-99A0-428D57C4E24D}" srcOrd="0" destOrd="0" presId="urn:microsoft.com/office/officeart/2005/8/layout/matrix3"/>
    <dgm:cxn modelId="{91CCE6AE-36B5-48B1-8238-8C2CFD8CF3B5}" type="presParOf" srcId="{5AA9BAEE-9589-4A49-88DF-FE5D95E3E199}" destId="{AA1256D3-3FA4-4370-8C8A-6AFC75266420}" srcOrd="0" destOrd="0" presId="urn:microsoft.com/office/officeart/2005/8/layout/matrix3"/>
    <dgm:cxn modelId="{AD3C7B7B-37D4-4678-B44E-62526BD7957D}" type="presParOf" srcId="{5AA9BAEE-9589-4A49-88DF-FE5D95E3E199}" destId="{5AF03ED9-72CA-4894-A002-802CD84A8F3C}" srcOrd="1" destOrd="0" presId="urn:microsoft.com/office/officeart/2005/8/layout/matrix3"/>
    <dgm:cxn modelId="{73B550F2-7614-43DF-A128-FE8EE90F4253}" type="presParOf" srcId="{5AA9BAEE-9589-4A49-88DF-FE5D95E3E199}" destId="{AEA3C1CB-A041-4A53-800D-4D563E9AA4AA}" srcOrd="2" destOrd="0" presId="urn:microsoft.com/office/officeart/2005/8/layout/matrix3"/>
    <dgm:cxn modelId="{88668DC7-4762-4C30-9C13-1B70B7FA0550}" type="presParOf" srcId="{5AA9BAEE-9589-4A49-88DF-FE5D95E3E199}" destId="{DFD00781-08AB-4F80-81D5-4AB4ACF266E6}" srcOrd="3" destOrd="0" presId="urn:microsoft.com/office/officeart/2005/8/layout/matrix3"/>
    <dgm:cxn modelId="{DD01CB88-D299-4731-ADAC-BAC32299CA9A}" type="presParOf" srcId="{5AA9BAEE-9589-4A49-88DF-FE5D95E3E199}" destId="{B3FDFDBC-3C67-4174-99A0-428D57C4E24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52EDD-C7EA-493D-A2E2-5C12E19737F5}">
      <dsp:nvSpPr>
        <dsp:cNvPr id="0" name=""/>
        <dsp:cNvSpPr/>
      </dsp:nvSpPr>
      <dsp:spPr>
        <a:xfrm>
          <a:off x="0" y="99"/>
          <a:ext cx="6926805" cy="62361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dirty="0" err="1"/>
            <a:t>Leave</a:t>
          </a:r>
          <a:r>
            <a:rPr lang="fr-FR" sz="2600" kern="1200" dirty="0"/>
            <a:t> one out of all (LOO)</a:t>
          </a:r>
        </a:p>
      </dsp:txBody>
      <dsp:txXfrm>
        <a:off x="30442" y="30541"/>
        <a:ext cx="6865921" cy="562726"/>
      </dsp:txXfrm>
    </dsp:sp>
    <dsp:sp modelId="{306D8E76-95F8-4701-9DC8-1FEA0C1B7104}">
      <dsp:nvSpPr>
        <dsp:cNvPr id="0" name=""/>
        <dsp:cNvSpPr/>
      </dsp:nvSpPr>
      <dsp:spPr>
        <a:xfrm>
          <a:off x="0" y="623709"/>
          <a:ext cx="692680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92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fr-FR" sz="1400" b="0" i="0" kern="1200" dirty="0">
              <a:effectLst/>
              <a:latin typeface="Arial" panose="020B0604020202020204" pitchFamily="34" charset="0"/>
            </a:rPr>
            <a:t>F. </a:t>
          </a:r>
          <a:r>
            <a:rPr lang="fr-FR" sz="1400" b="0" i="0" kern="1200" dirty="0" err="1">
              <a:effectLst/>
              <a:latin typeface="Arial" panose="020B0604020202020204" pitchFamily="34" charset="0"/>
            </a:rPr>
            <a:t>Fahimi</a:t>
          </a:r>
          <a:r>
            <a:rPr lang="fr-FR" sz="1400" b="0" i="0" kern="1200" dirty="0">
              <a:effectLst/>
              <a:latin typeface="Arial" panose="020B0604020202020204" pitchFamily="34" charset="0"/>
            </a:rPr>
            <a:t> et al. Journal of Neural Engineering, page 13, 2018.</a:t>
          </a:r>
          <a:endParaRPr lang="fr-FR" sz="1400" kern="1200" dirty="0"/>
        </a:p>
      </dsp:txBody>
      <dsp:txXfrm>
        <a:off x="0" y="623709"/>
        <a:ext cx="6926805" cy="430560"/>
      </dsp:txXfrm>
    </dsp:sp>
    <dsp:sp modelId="{DEE63E6D-C1DA-40D0-8C13-F012144259FF}">
      <dsp:nvSpPr>
        <dsp:cNvPr id="0" name=""/>
        <dsp:cNvSpPr/>
      </dsp:nvSpPr>
      <dsp:spPr>
        <a:xfrm>
          <a:off x="0" y="1054269"/>
          <a:ext cx="6926805" cy="623610"/>
        </a:xfrm>
        <a:prstGeom prst="roundRect">
          <a:avLst/>
        </a:prstGeom>
        <a:solidFill>
          <a:schemeClr val="accent3">
            <a:hueOff val="537089"/>
            <a:satOff val="-6871"/>
            <a:lumOff val="-48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Classifier adaptation</a:t>
          </a:r>
        </a:p>
      </dsp:txBody>
      <dsp:txXfrm>
        <a:off x="30442" y="1084711"/>
        <a:ext cx="6865921" cy="562726"/>
      </dsp:txXfrm>
    </dsp:sp>
    <dsp:sp modelId="{2AD08045-9EA7-408E-9177-B633F969AECA}">
      <dsp:nvSpPr>
        <dsp:cNvPr id="0" name=""/>
        <dsp:cNvSpPr/>
      </dsp:nvSpPr>
      <dsp:spPr>
        <a:xfrm>
          <a:off x="0" y="1677879"/>
          <a:ext cx="692680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92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fr-FR" sz="1400" b="0" i="0" kern="1200" dirty="0">
              <a:effectLst/>
              <a:latin typeface="Arial" panose="020B0604020202020204" pitchFamily="34" charset="0"/>
            </a:rPr>
            <a:t>B. </a:t>
          </a:r>
          <a:r>
            <a:rPr lang="fr-FR" sz="1400" b="0" i="0" kern="1200" dirty="0" err="1">
              <a:effectLst/>
              <a:latin typeface="Arial" panose="020B0604020202020204" pitchFamily="34" charset="0"/>
            </a:rPr>
            <a:t>Aristimunha</a:t>
          </a:r>
          <a:r>
            <a:rPr lang="fr-FR" sz="1400" b="0" i="0" kern="1200" dirty="0">
              <a:effectLst/>
              <a:latin typeface="Arial" panose="020B0604020202020204" pitchFamily="34" charset="0"/>
            </a:rPr>
            <a:t> et al. </a:t>
          </a:r>
          <a:r>
            <a:rPr lang="fr-FR" sz="1400" b="0" i="0" kern="1200" dirty="0" err="1">
              <a:effectLst/>
              <a:latin typeface="Arial" panose="020B0604020202020204" pitchFamily="34" charset="0"/>
            </a:rPr>
            <a:t>NeurIPS</a:t>
          </a:r>
          <a:r>
            <a:rPr lang="fr-FR" sz="1400" b="0" i="0" kern="1200" dirty="0">
              <a:effectLst/>
              <a:latin typeface="Arial" panose="020B0604020202020204" pitchFamily="34" charset="0"/>
            </a:rPr>
            <a:t> workshop AI4Science, page 19, 2023</a:t>
          </a:r>
          <a:endParaRPr lang="fr-FR" sz="1400" kern="1200" dirty="0"/>
        </a:p>
      </dsp:txBody>
      <dsp:txXfrm>
        <a:off x="0" y="1677879"/>
        <a:ext cx="6926805" cy="430560"/>
      </dsp:txXfrm>
    </dsp:sp>
    <dsp:sp modelId="{660E5F09-0E3E-4873-95A7-D8736654B58F}">
      <dsp:nvSpPr>
        <dsp:cNvPr id="0" name=""/>
        <dsp:cNvSpPr/>
      </dsp:nvSpPr>
      <dsp:spPr>
        <a:xfrm>
          <a:off x="0" y="2108439"/>
          <a:ext cx="6926805" cy="623610"/>
        </a:xfrm>
        <a:prstGeom prst="roundRect">
          <a:avLst/>
        </a:prstGeom>
        <a:solidFill>
          <a:schemeClr val="accent3">
            <a:hueOff val="1074177"/>
            <a:satOff val="-13742"/>
            <a:lumOff val="-9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dirty="0" err="1"/>
            <a:t>Features</a:t>
          </a:r>
          <a:r>
            <a:rPr lang="fr-FR" sz="2600" kern="1200" dirty="0"/>
            <a:t> adaptation</a:t>
          </a:r>
        </a:p>
      </dsp:txBody>
      <dsp:txXfrm>
        <a:off x="30442" y="2138881"/>
        <a:ext cx="6865921" cy="562726"/>
      </dsp:txXfrm>
    </dsp:sp>
    <dsp:sp modelId="{650486AF-20D0-4742-9244-77A1D76D3B15}">
      <dsp:nvSpPr>
        <dsp:cNvPr id="0" name=""/>
        <dsp:cNvSpPr/>
      </dsp:nvSpPr>
      <dsp:spPr>
        <a:xfrm>
          <a:off x="0" y="2732049"/>
          <a:ext cx="692680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92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fr-FR" sz="1400" b="0" i="0" kern="1200" dirty="0">
              <a:effectLst/>
              <a:latin typeface="Arial" panose="020B0604020202020204" pitchFamily="34" charset="0"/>
            </a:rPr>
            <a:t>S. </a:t>
          </a:r>
          <a:r>
            <a:rPr lang="fr-FR" sz="1400" b="0" i="0" kern="1200" dirty="0" err="1">
              <a:effectLst/>
              <a:latin typeface="Arial" panose="020B0604020202020204" pitchFamily="34" charset="0"/>
            </a:rPr>
            <a:t>Khazem</a:t>
          </a:r>
          <a:r>
            <a:rPr lang="fr-FR" sz="1400" b="0" i="0" kern="1200" dirty="0">
              <a:effectLst/>
              <a:latin typeface="Arial" panose="020B0604020202020204" pitchFamily="34" charset="0"/>
            </a:rPr>
            <a:t> et al. IEEE/EMBS </a:t>
          </a:r>
          <a:r>
            <a:rPr lang="fr-FR" sz="1400" b="0" i="0" kern="1200" dirty="0" err="1">
              <a:effectLst/>
              <a:latin typeface="Arial" panose="020B0604020202020204" pitchFamily="34" charset="0"/>
            </a:rPr>
            <a:t>Conference</a:t>
          </a:r>
          <a:r>
            <a:rPr lang="fr-FR" sz="1400" b="0" i="0" kern="1200" dirty="0">
              <a:effectLst/>
              <a:latin typeface="Arial" panose="020B0604020202020204" pitchFamily="34" charset="0"/>
            </a:rPr>
            <a:t> on Neural Engineering (NER), page 523 2021</a:t>
          </a:r>
          <a:endParaRPr lang="fr-FR" sz="1400" kern="1200" dirty="0"/>
        </a:p>
      </dsp:txBody>
      <dsp:txXfrm>
        <a:off x="0" y="2732049"/>
        <a:ext cx="6926805" cy="430560"/>
      </dsp:txXfrm>
    </dsp:sp>
    <dsp:sp modelId="{46B44FA9-623E-48A1-88D0-2600B514F5DF}">
      <dsp:nvSpPr>
        <dsp:cNvPr id="0" name=""/>
        <dsp:cNvSpPr/>
      </dsp:nvSpPr>
      <dsp:spPr>
        <a:xfrm>
          <a:off x="0" y="3162609"/>
          <a:ext cx="6926805" cy="623610"/>
        </a:xfrm>
        <a:prstGeom prst="roundRect">
          <a:avLst/>
        </a:prstGeom>
        <a:solidFill>
          <a:schemeClr val="accent3">
            <a:hueOff val="1611266"/>
            <a:satOff val="-20613"/>
            <a:lumOff val="-14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dirty="0"/>
            <a:t>Latent </a:t>
          </a:r>
          <a:r>
            <a:rPr lang="fr-FR" sz="2600" kern="1200" dirty="0" err="1"/>
            <a:t>tranfer</a:t>
          </a:r>
          <a:r>
            <a:rPr lang="fr-FR" sz="2600" kern="1200" dirty="0"/>
            <a:t> </a:t>
          </a:r>
          <a:r>
            <a:rPr lang="fr-FR" sz="2600" kern="1200" dirty="0" err="1"/>
            <a:t>learning</a:t>
          </a:r>
          <a:endParaRPr lang="fr-FR" sz="2600" kern="1200" dirty="0"/>
        </a:p>
      </dsp:txBody>
      <dsp:txXfrm>
        <a:off x="30442" y="3193051"/>
        <a:ext cx="6865921" cy="562726"/>
      </dsp:txXfrm>
    </dsp:sp>
    <dsp:sp modelId="{86FBBA0A-8920-4E16-A764-B02582AE8DB0}">
      <dsp:nvSpPr>
        <dsp:cNvPr id="0" name=""/>
        <dsp:cNvSpPr/>
      </dsp:nvSpPr>
      <dsp:spPr>
        <a:xfrm>
          <a:off x="0" y="3786219"/>
          <a:ext cx="692680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92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fr-FR" sz="1400" b="0" i="0" kern="1200" dirty="0">
              <a:effectLst/>
              <a:latin typeface="Arial" panose="020B0604020202020204" pitchFamily="34" charset="0"/>
            </a:rPr>
            <a:t>R. </a:t>
          </a:r>
          <a:r>
            <a:rPr lang="fr-FR" sz="1400" b="0" i="0" kern="1200" dirty="0" err="1">
              <a:effectLst/>
              <a:latin typeface="Arial" panose="020B0604020202020204" pitchFamily="34" charset="0"/>
            </a:rPr>
            <a:t>Kobler</a:t>
          </a:r>
          <a:r>
            <a:rPr lang="fr-FR" sz="1400" b="0" i="0" kern="1200" dirty="0">
              <a:effectLst/>
              <a:latin typeface="Arial" panose="020B0604020202020204" pitchFamily="34" charset="0"/>
            </a:rPr>
            <a:t> et al. In </a:t>
          </a:r>
          <a:r>
            <a:rPr lang="fr-FR" sz="1400" b="0" i="0" kern="1200" dirty="0" err="1">
              <a:effectLst/>
              <a:latin typeface="Arial" panose="020B0604020202020204" pitchFamily="34" charset="0"/>
            </a:rPr>
            <a:t>NeurIPS</a:t>
          </a:r>
          <a:r>
            <a:rPr lang="fr-FR" sz="1400" b="0" i="0" kern="1200" dirty="0">
              <a:effectLst/>
              <a:latin typeface="Arial" panose="020B0604020202020204" pitchFamily="34" charset="0"/>
            </a:rPr>
            <a:t>, 2022.</a:t>
          </a:r>
          <a:endParaRPr lang="fr-FR" sz="1400" kern="1200" dirty="0"/>
        </a:p>
      </dsp:txBody>
      <dsp:txXfrm>
        <a:off x="0" y="3786219"/>
        <a:ext cx="6926805" cy="430560"/>
      </dsp:txXfrm>
    </dsp:sp>
    <dsp:sp modelId="{F1AC630D-5C74-4A03-8B27-9C6132C1A031}">
      <dsp:nvSpPr>
        <dsp:cNvPr id="0" name=""/>
        <dsp:cNvSpPr/>
      </dsp:nvSpPr>
      <dsp:spPr>
        <a:xfrm>
          <a:off x="0" y="4216779"/>
          <a:ext cx="6926805" cy="623610"/>
        </a:xfrm>
        <a:prstGeom prst="roundRect">
          <a:avLst/>
        </a:prstGeom>
        <a:solidFill>
          <a:schemeClr val="accent3">
            <a:hueOff val="2148354"/>
            <a:satOff val="-27484"/>
            <a:lumOff val="-194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dirty="0"/>
            <a:t>Optimal transport</a:t>
          </a:r>
        </a:p>
      </dsp:txBody>
      <dsp:txXfrm>
        <a:off x="30442" y="4247221"/>
        <a:ext cx="6865921" cy="562726"/>
      </dsp:txXfrm>
    </dsp:sp>
    <dsp:sp modelId="{B3BC7D27-B377-41D4-95A3-3ED20792197D}">
      <dsp:nvSpPr>
        <dsp:cNvPr id="0" name=""/>
        <dsp:cNvSpPr/>
      </dsp:nvSpPr>
      <dsp:spPr>
        <a:xfrm>
          <a:off x="0" y="4840389"/>
          <a:ext cx="6926805"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92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n-US" sz="1400" kern="1200" dirty="0">
              <a:latin typeface="Arial" panose="020B0604020202020204" pitchFamily="34" charset="0"/>
              <a:cs typeface="Arial" panose="020B0604020202020204" pitchFamily="34" charset="0"/>
            </a:rPr>
            <a:t>N. T. H. </a:t>
          </a:r>
          <a:r>
            <a:rPr lang="en-US" sz="1400" kern="1200" dirty="0" err="1">
              <a:latin typeface="Arial" panose="020B0604020202020204" pitchFamily="34" charset="0"/>
              <a:cs typeface="Arial" panose="020B0604020202020204" pitchFamily="34" charset="0"/>
            </a:rPr>
            <a:t>Gayraud</a:t>
          </a:r>
          <a:r>
            <a:rPr lang="en-US" sz="1400" kern="1200" dirty="0">
              <a:latin typeface="Arial" panose="020B0604020202020204" pitchFamily="34" charset="0"/>
              <a:cs typeface="Arial" panose="020B0604020202020204" pitchFamily="34" charset="0"/>
            </a:rPr>
            <a:t> et al. Graz Brain-Computer Interface Conference, 2017</a:t>
          </a:r>
          <a:endParaRPr lang="fr-FR" sz="1400" kern="1200" dirty="0">
            <a:latin typeface="Arial" panose="020B0604020202020204" pitchFamily="34" charset="0"/>
            <a:cs typeface="Arial" panose="020B0604020202020204" pitchFamily="34" charset="0"/>
          </a:endParaRPr>
        </a:p>
      </dsp:txBody>
      <dsp:txXfrm>
        <a:off x="0" y="4840389"/>
        <a:ext cx="6926805" cy="430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256D3-3FA4-4370-8C8A-6AFC75266420}">
      <dsp:nvSpPr>
        <dsp:cNvPr id="0" name=""/>
        <dsp:cNvSpPr/>
      </dsp:nvSpPr>
      <dsp:spPr>
        <a:xfrm>
          <a:off x="130675" y="0"/>
          <a:ext cx="4351338" cy="4351338"/>
        </a:xfrm>
        <a:prstGeom prst="diamond">
          <a:avLst/>
        </a:prstGeom>
        <a:solidFill>
          <a:schemeClr val="accent4">
            <a:lumMod val="20000"/>
            <a:lumOff val="80000"/>
          </a:schemeClr>
        </a:solidFill>
        <a:ln>
          <a:noFill/>
        </a:ln>
        <a:effectLst/>
      </dsp:spPr>
      <dsp:style>
        <a:lnRef idx="0">
          <a:scrgbClr r="0" g="0" b="0"/>
        </a:lnRef>
        <a:fillRef idx="1">
          <a:scrgbClr r="0" g="0" b="0"/>
        </a:fillRef>
        <a:effectRef idx="0">
          <a:scrgbClr r="0" g="0" b="0"/>
        </a:effectRef>
        <a:fontRef idx="minor"/>
      </dsp:style>
    </dsp:sp>
    <dsp:sp modelId="{5AF03ED9-72CA-4894-A002-802CD84A8F3C}">
      <dsp:nvSpPr>
        <dsp:cNvPr id="0" name=""/>
        <dsp:cNvSpPr/>
      </dsp:nvSpPr>
      <dsp:spPr>
        <a:xfrm>
          <a:off x="577280" y="423881"/>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Few flashes per second </a:t>
          </a:r>
        </a:p>
        <a:p>
          <a:pPr marL="0" lvl="0" indent="0" algn="ctr" defTabSz="844550">
            <a:lnSpc>
              <a:spcPct val="90000"/>
            </a:lnSpc>
            <a:spcBef>
              <a:spcPct val="0"/>
            </a:spcBef>
            <a:spcAft>
              <a:spcPct val="35000"/>
            </a:spcAft>
            <a:buNone/>
          </a:pPr>
          <a:r>
            <a:rPr lang="fr-FR" sz="1900" kern="1200" dirty="0"/>
            <a:t>(3/sec. </a:t>
          </a:r>
          <a:r>
            <a:rPr lang="fr-FR" sz="1900" kern="1200" dirty="0" err="1"/>
            <a:t>aperiodically</a:t>
          </a:r>
          <a:r>
            <a:rPr lang="fr-FR" sz="1900" kern="1200" dirty="0"/>
            <a:t>)</a:t>
          </a:r>
          <a:endParaRPr lang="en-US" sz="1900" kern="1200" dirty="0"/>
        </a:p>
      </dsp:txBody>
      <dsp:txXfrm>
        <a:off x="660122" y="506723"/>
        <a:ext cx="1531337" cy="1531337"/>
      </dsp:txXfrm>
    </dsp:sp>
    <dsp:sp modelId="{AEA3C1CB-A041-4A53-800D-4D563E9AA4AA}">
      <dsp:nvSpPr>
        <dsp:cNvPr id="0" name=""/>
        <dsp:cNvSpPr/>
      </dsp:nvSpPr>
      <dsp:spPr>
        <a:xfrm>
          <a:off x="2404842" y="423881"/>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Allows bitwise decoding</a:t>
          </a:r>
          <a:endParaRPr lang="en-US" sz="1900" kern="1200"/>
        </a:p>
      </dsp:txBody>
      <dsp:txXfrm>
        <a:off x="2487684" y="506723"/>
        <a:ext cx="1531337" cy="1531337"/>
      </dsp:txXfrm>
    </dsp:sp>
    <dsp:sp modelId="{DFD00781-08AB-4F80-81D5-4AB4ACF266E6}">
      <dsp:nvSpPr>
        <dsp:cNvPr id="0" name=""/>
        <dsp:cNvSpPr/>
      </dsp:nvSpPr>
      <dsp:spPr>
        <a:xfrm>
          <a:off x="577280" y="2251443"/>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Strong response</a:t>
          </a:r>
          <a:endParaRPr lang="en-US" sz="1900" kern="1200"/>
        </a:p>
      </dsp:txBody>
      <dsp:txXfrm>
        <a:off x="660122" y="2334285"/>
        <a:ext cx="1531337" cy="1531337"/>
      </dsp:txXfrm>
    </dsp:sp>
    <dsp:sp modelId="{B3FDFDBC-3C67-4174-99A0-428D57C4E24D}">
      <dsp:nvSpPr>
        <dsp:cNvPr id="0" name=""/>
        <dsp:cNvSpPr/>
      </dsp:nvSpPr>
      <dsp:spPr>
        <a:xfrm>
          <a:off x="2404842" y="2251443"/>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High SNR</a:t>
          </a:r>
          <a:endParaRPr lang="en-US" sz="1900" kern="1200" dirty="0"/>
        </a:p>
      </dsp:txBody>
      <dsp:txXfrm>
        <a:off x="2487684" y="2334285"/>
        <a:ext cx="1531337" cy="15313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518D800-D911-D648-B079-AD6C1A2036FD}" type="datetimeFigureOut">
              <a:rPr lang="fr-FR" smtClean="0"/>
              <a:t>04/10/2024</a:t>
            </a:fld>
            <a:endParaRPr lang="fr-FR"/>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35AC577-BBDB-F247-939E-70F8457DFBEC}" type="slidenum">
              <a:rPr lang="fr-FR" smtClean="0"/>
              <a:t>‹N°›</a:t>
            </a:fld>
            <a:endParaRPr lang="fr-FR"/>
          </a:p>
        </p:txBody>
      </p:sp>
    </p:spTree>
    <p:extLst>
      <p:ext uri="{BB962C8B-B14F-4D97-AF65-F5344CB8AC3E}">
        <p14:creationId xmlns:p14="http://schemas.microsoft.com/office/powerpoint/2010/main" val="1440607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1</a:t>
            </a:fld>
            <a:endParaRPr lang="fr-FR"/>
          </a:p>
        </p:txBody>
      </p:sp>
    </p:spTree>
    <p:extLst>
      <p:ext uri="{BB962C8B-B14F-4D97-AF65-F5344CB8AC3E}">
        <p14:creationId xmlns:p14="http://schemas.microsoft.com/office/powerpoint/2010/main" val="2373675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5</a:t>
            </a:fld>
            <a:endParaRPr lang="fr-FR"/>
          </a:p>
        </p:txBody>
      </p:sp>
    </p:spTree>
    <p:extLst>
      <p:ext uri="{BB962C8B-B14F-4D97-AF65-F5344CB8AC3E}">
        <p14:creationId xmlns:p14="http://schemas.microsoft.com/office/powerpoint/2010/main" val="1501634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Dire :</a:t>
            </a:r>
          </a:p>
          <a:p>
            <a:pPr marL="285750" indent="-285750">
              <a:buFont typeface="Arial" panose="020B0604020202020204" pitchFamily="34" charset="0"/>
              <a:buChar char="•"/>
            </a:pPr>
            <a:r>
              <a:rPr lang="fr-FR" dirty="0"/>
              <a:t>Use of MOABB for </a:t>
            </a:r>
            <a:r>
              <a:rPr lang="fr-FR" dirty="0" err="1">
                <a:highlight>
                  <a:srgbClr val="FFFF00"/>
                </a:highlight>
              </a:rPr>
              <a:t>statistical</a:t>
            </a:r>
            <a:r>
              <a:rPr lang="fr-FR" dirty="0"/>
              <a:t> </a:t>
            </a:r>
            <a:r>
              <a:rPr lang="fr-FR" dirty="0" err="1"/>
              <a:t>analysis</a:t>
            </a:r>
            <a:endParaRPr lang="fr-FR" dirty="0"/>
          </a:p>
          <a:p>
            <a:pPr marL="285750" indent="-285750">
              <a:buFont typeface="Arial" panose="020B0604020202020204" pitchFamily="34" charset="0"/>
              <a:buChar char="•"/>
            </a:pPr>
            <a:r>
              <a:rPr lang="fr-FR" dirty="0"/>
              <a:t>Offline </a:t>
            </a:r>
            <a:r>
              <a:rPr lang="fr-FR" dirty="0" err="1"/>
              <a:t>analysis</a:t>
            </a:r>
            <a:endParaRPr lang="fr-FR" dirty="0"/>
          </a:p>
          <a:p>
            <a:pPr marL="285750" indent="-285750">
              <a:buFont typeface="Arial" panose="020B0604020202020204" pitchFamily="34" charset="0"/>
              <a:buChar char="•"/>
            </a:pPr>
            <a:r>
              <a:rPr lang="fr-FR" dirty="0" err="1"/>
              <a:t>Framewise</a:t>
            </a:r>
            <a:r>
              <a:rPr lang="fr-FR" dirty="0"/>
              <a:t> </a:t>
            </a:r>
            <a:r>
              <a:rPr lang="fr-FR" dirty="0" err="1"/>
              <a:t>decoding</a:t>
            </a:r>
            <a:r>
              <a:rPr lang="fr-FR" dirty="0"/>
              <a:t> to </a:t>
            </a:r>
            <a:r>
              <a:rPr lang="fr-FR" dirty="0" err="1"/>
              <a:t>reconstruct</a:t>
            </a:r>
            <a:r>
              <a:rPr lang="fr-FR" dirty="0"/>
              <a:t> the code and </a:t>
            </a:r>
            <a:r>
              <a:rPr lang="fr-FR" dirty="0" err="1"/>
              <a:t>perform</a:t>
            </a:r>
            <a:r>
              <a:rPr lang="fr-FR" dirty="0"/>
              <a:t> </a:t>
            </a:r>
            <a:r>
              <a:rPr lang="fr-FR" dirty="0" err="1"/>
              <a:t>template</a:t>
            </a:r>
            <a:r>
              <a:rPr lang="fr-FR" dirty="0"/>
              <a:t> </a:t>
            </a:r>
            <a:r>
              <a:rPr lang="fr-FR" dirty="0" err="1"/>
              <a:t>matching</a:t>
            </a:r>
            <a:endParaRPr 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Data are </a:t>
            </a:r>
            <a:r>
              <a:rPr lang="fr-FR" dirty="0" err="1"/>
              <a:t>normalized</a:t>
            </a:r>
            <a:r>
              <a:rPr lang="fr-FR" dirty="0"/>
              <a:t>, </a:t>
            </a:r>
            <a:r>
              <a:rPr lang="fr-FR" dirty="0" err="1">
                <a:highlight>
                  <a:srgbClr val="FFFF00"/>
                </a:highlight>
              </a:rPr>
              <a:t>spatially</a:t>
            </a:r>
            <a:r>
              <a:rPr lang="fr-FR" dirty="0"/>
              <a:t> and </a:t>
            </a:r>
            <a:r>
              <a:rPr lang="fr-FR" dirty="0" err="1"/>
              <a:t>temporaly</a:t>
            </a:r>
            <a:r>
              <a:rPr lang="fr-FR" dirty="0"/>
              <a:t> </a:t>
            </a:r>
            <a:r>
              <a:rPr lang="fr-FR" dirty="0" err="1"/>
              <a:t>filtered</a:t>
            </a:r>
            <a:r>
              <a:rPr lang="fr-FR" dirty="0"/>
              <a:t> and </a:t>
            </a:r>
            <a:r>
              <a:rPr lang="fr-FR" dirty="0" err="1">
                <a:highlight>
                  <a:srgbClr val="FFFF00"/>
                </a:highlight>
              </a:rPr>
              <a:t>spatially</a:t>
            </a:r>
            <a:r>
              <a:rPr lang="fr-FR" dirty="0"/>
              <a:t> </a:t>
            </a:r>
            <a:r>
              <a:rPr lang="fr-FR" dirty="0" err="1"/>
              <a:t>recentered</a:t>
            </a:r>
            <a:endParaRPr lang="fr-FR" dirty="0"/>
          </a:p>
          <a:p>
            <a:pPr marL="285750" indent="-285750">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10</a:t>
            </a:fld>
            <a:endParaRPr lang="fr-FR"/>
          </a:p>
        </p:txBody>
      </p:sp>
    </p:spTree>
    <p:extLst>
      <p:ext uri="{BB962C8B-B14F-4D97-AF65-F5344CB8AC3E}">
        <p14:creationId xmlns:p14="http://schemas.microsoft.com/office/powerpoint/2010/main" val="3471650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Dire: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Arial" panose="020B0604020202020204" pitchFamily="34" charset="0"/>
              </a:rPr>
              <a:t>All three models show comparable performance without significant </a:t>
            </a:r>
            <a:r>
              <a:rPr lang="en-US" b="0" i="0" dirty="0">
                <a:effectLst/>
                <a:latin typeface="Arial" panose="020B0604020202020204" pitchFamily="34" charset="0"/>
                <a:cs typeface="Arial" panose="020B0604020202020204" pitchFamily="34" charset="0"/>
              </a:rPr>
              <a:t>differences (excep</a:t>
            </a:r>
            <a:r>
              <a:rPr lang="en-US" dirty="0">
                <a:latin typeface="Arial" panose="020B0604020202020204" pitchFamily="34" charset="0"/>
                <a:cs typeface="Arial" panose="020B0604020202020204" pitchFamily="34" charset="0"/>
              </a:rPr>
              <a:t>t in SS setting)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latin typeface="Arial" panose="020B0604020202020204" pitchFamily="34" charset="0"/>
                <a:cs typeface="Arial" panose="020B0604020202020204" pitchFamily="34" charset="0"/>
              </a:rPr>
              <a:t>(~ 93% </a:t>
            </a:r>
            <a:r>
              <a:rPr lang="fr-FR" dirty="0" err="1">
                <a:latin typeface="Arial" panose="020B0604020202020204" pitchFamily="34" charset="0"/>
                <a:cs typeface="Arial" panose="020B0604020202020204" pitchFamily="34" charset="0"/>
              </a:rPr>
              <a:t>accuracy</a:t>
            </a:r>
            <a:r>
              <a:rPr lang="fr-FR" dirty="0">
                <a:latin typeface="Arial" panose="020B0604020202020204" pitchFamily="34" charset="0"/>
                <a:cs typeface="Arial" panose="020B0604020202020204" pitchFamily="34"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latin typeface="Arial" panose="020B0604020202020204" pitchFamily="34" charset="0"/>
                <a:cs typeface="Arial" panose="020B0604020202020204" pitchFamily="34" charset="0"/>
              </a:rPr>
              <a:t>SPDBNNet </a:t>
            </a:r>
            <a:r>
              <a:rPr lang="fr-FR" dirty="0" err="1">
                <a:latin typeface="Arial" panose="020B0604020202020204" pitchFamily="34" charset="0"/>
                <a:cs typeface="Arial" panose="020B0604020202020204" pitchFamily="34" charset="0"/>
              </a:rPr>
              <a:t>is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slower</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SPDNet and CNN (training time: 1400s vs 130s)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13</a:t>
            </a:fld>
            <a:endParaRPr lang="fr-FR"/>
          </a:p>
        </p:txBody>
      </p:sp>
    </p:spTree>
    <p:extLst>
      <p:ext uri="{BB962C8B-B14F-4D97-AF65-F5344CB8AC3E}">
        <p14:creationId xmlns:p14="http://schemas.microsoft.com/office/powerpoint/2010/main" val="3260748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solidFill>
                  <a:schemeClr val="accent1">
                    <a:lumMod val="75000"/>
                  </a:schemeClr>
                </a:solidFill>
              </a:rPr>
              <a:t>Avant de parler des prochains travaux, peut-être mettre quelques ‘’</a:t>
            </a:r>
            <a:r>
              <a:rPr lang="fr-FR" dirty="0" err="1">
                <a:solidFill>
                  <a:schemeClr val="accent1">
                    <a:lumMod val="75000"/>
                  </a:schemeClr>
                </a:solidFill>
              </a:rPr>
              <a:t>take</a:t>
            </a:r>
            <a:r>
              <a:rPr lang="fr-FR" dirty="0">
                <a:solidFill>
                  <a:schemeClr val="accent1">
                    <a:lumMod val="75000"/>
                  </a:schemeClr>
                </a:solidFill>
              </a:rPr>
              <a:t>-home messages’’:</a:t>
            </a:r>
            <a:br>
              <a:rPr lang="fr-FR" dirty="0">
                <a:solidFill>
                  <a:schemeClr val="accent1">
                    <a:lumMod val="75000"/>
                  </a:schemeClr>
                </a:solidFill>
              </a:rPr>
            </a:br>
            <a:r>
              <a:rPr lang="fr-FR" dirty="0">
                <a:solidFill>
                  <a:schemeClr val="accent1">
                    <a:lumMod val="75000"/>
                  </a:schemeClr>
                </a:solidFill>
              </a:rPr>
              <a:t>- rappel de l’approche proposée &amp; originalité</a:t>
            </a:r>
          </a:p>
          <a:p>
            <a:r>
              <a:rPr lang="fr-FR" dirty="0">
                <a:solidFill>
                  <a:schemeClr val="accent1">
                    <a:lumMod val="75000"/>
                  </a:schemeClr>
                </a:solidFill>
              </a:rPr>
              <a:t>- Principales conclusions</a:t>
            </a:r>
          </a:p>
          <a:p>
            <a:endParaRPr lang="en-US" dirty="0"/>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15</a:t>
            </a:fld>
            <a:endParaRPr lang="fr-FR"/>
          </a:p>
        </p:txBody>
      </p:sp>
    </p:spTree>
    <p:extLst>
      <p:ext uri="{BB962C8B-B14F-4D97-AF65-F5344CB8AC3E}">
        <p14:creationId xmlns:p14="http://schemas.microsoft.com/office/powerpoint/2010/main" val="18870407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re image moteur">
    <p:bg>
      <p:bgPr>
        <a:blipFill>
          <a:blip r:embed="rId2"/>
          <a:srcRect t="9677" b="9676"/>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451788" y="2061647"/>
            <a:ext cx="6291912" cy="906450"/>
          </a:xfrm>
        </p:spPr>
        <p:txBody>
          <a:bodyPr>
            <a:noAutofit/>
          </a:bodyPr>
          <a:lstStyle>
            <a:lvl1pPr algn="l">
              <a:defRPr sz="3200" b="1">
                <a:solidFill>
                  <a:schemeClr val="bg1"/>
                </a:solidFill>
                <a:latin typeface="Georgia"/>
                <a:ea typeface="Georgia"/>
              </a:defRPr>
            </a:lvl1pPr>
          </a:lstStyle>
          <a:p>
            <a:pPr>
              <a:defRPr/>
            </a:pPr>
            <a:r>
              <a:rPr lang="fr-FR" dirty="0"/>
              <a:t>Cliquez et modifiez le titre</a:t>
            </a:r>
            <a:endParaRPr dirty="0"/>
          </a:p>
        </p:txBody>
      </p:sp>
      <p:pic>
        <p:nvPicPr>
          <p:cNvPr id="5" name="Image 6"/>
          <p:cNvPicPr/>
          <p:nvPr userDrawn="1"/>
        </p:nvPicPr>
        <p:blipFill>
          <a:blip r:embed="rId3"/>
          <a:stretch/>
        </p:blipFill>
        <p:spPr bwMode="auto">
          <a:xfrm>
            <a:off x="9624392" y="5157192"/>
            <a:ext cx="1716329" cy="1041502"/>
          </a:xfrm>
          <a:prstGeom prst="rect">
            <a:avLst/>
          </a:prstGeom>
          <a:ln>
            <a:noFill/>
          </a:ln>
        </p:spPr>
      </p:pic>
      <p:sp>
        <p:nvSpPr>
          <p:cNvPr id="6" name="Rectangle 8"/>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a:t>Cliquez pour modifier les styles du texte du masque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Titre image perso">
    <p:bg>
      <p:bgPr>
        <a:blipFill>
          <a:blip r:embed="rId2"/>
          <a:srcRect t="9677" b="9676"/>
          <a:stretch/>
        </a:blipFill>
        <a:effectLst/>
      </p:bgPr>
    </p:bg>
    <p:spTree>
      <p:nvGrpSpPr>
        <p:cNvPr id="1" name=""/>
        <p:cNvGrpSpPr/>
        <p:nvPr/>
      </p:nvGrpSpPr>
      <p:grpSpPr bwMode="auto">
        <a:xfrm>
          <a:off x="0" y="0"/>
          <a:ext cx="0" cy="0"/>
          <a:chOff x="0" y="0"/>
          <a:chExt cx="0" cy="0"/>
        </a:xfrm>
      </p:grpSpPr>
      <p:sp>
        <p:nvSpPr>
          <p:cNvPr id="32" name="Espace réservé pour une image  31"/>
          <p:cNvSpPr>
            <a:spLocks noGrp="1"/>
          </p:cNvSpPr>
          <p:nvPr>
            <p:ph type="pic" sz="quarter" idx="11" hasCustomPrompt="1"/>
          </p:nvPr>
        </p:nvSpPr>
        <p:spPr>
          <a:xfrm>
            <a:off x="0" y="-3627784"/>
            <a:ext cx="12576175" cy="6858000"/>
          </a:xfrm>
        </p:spPr>
        <p:txBody>
          <a:bodyPr anchor="t"/>
          <a:lstStyle>
            <a:lvl1pPr marL="0" indent="0">
              <a:buNone/>
              <a:defRPr/>
            </a:lvl1pPr>
          </a:lstStyle>
          <a:p>
            <a:r>
              <a:rPr lang="fr-FR" dirty="0"/>
              <a:t>(1) Cliquez sur l’icône d’image pour ajouter une photographie, (2) cliquez si nécessaire sur « rétablir » pour remettre l’image derrière le fond (3) déplacez et cadrez l’image en fonction des besoins (4) Rognez l’image si nécessaire (à la présentation l’image est automatiquement rognée aux limites de la planche. </a:t>
            </a:r>
          </a:p>
          <a:p>
            <a:endParaRPr lang="fr-FR" dirty="0"/>
          </a:p>
        </p:txBody>
      </p:sp>
      <p:sp>
        <p:nvSpPr>
          <p:cNvPr id="35" name="Espace réservé du texte 34"/>
          <p:cNvSpPr>
            <a:spLocks noGrp="1"/>
          </p:cNvSpPr>
          <p:nvPr>
            <p:ph type="body" sz="quarter" idx="12"/>
          </p:nvPr>
        </p:nvSpPr>
        <p:spPr>
          <a:xfrm>
            <a:off x="0" y="-1588"/>
            <a:ext cx="12192000" cy="6858000"/>
          </a:xfrm>
          <a:blipFill>
            <a:blip r:embed="rId3"/>
            <a:stretch>
              <a:fillRect/>
            </a:stretch>
          </a:blipFill>
        </p:spPr>
        <p:txBody>
          <a:bodyPr anchor="b">
            <a:normAutofit/>
          </a:bodyPr>
          <a:lstStyle>
            <a:lvl1pPr>
              <a:defRPr sz="100">
                <a:solidFill>
                  <a:srgbClr val="002060"/>
                </a:solidFill>
              </a:defRPr>
            </a:lvl1pPr>
          </a:lstStyle>
          <a:p>
            <a:pPr marL="228600" marR="0" lvl="0" indent="-228600" algn="l" defTabSz="914400" eaLnBrk="1" fontAlgn="auto" latinLnBrk="0" hangingPunct="1">
              <a:lnSpc>
                <a:spcPct val="90000"/>
              </a:lnSpc>
              <a:spcBef>
                <a:spcPts val="1000"/>
              </a:spcBef>
              <a:spcAft>
                <a:spcPts val="0"/>
              </a:spcAft>
              <a:buClrTx/>
              <a:buSzTx/>
              <a:buFont typeface="Arial"/>
              <a:buNone/>
              <a:tabLst/>
              <a:defRPr/>
            </a:pPr>
            <a:endParaRPr lang="fr-FR" dirty="0"/>
          </a:p>
        </p:txBody>
      </p:sp>
      <p:sp>
        <p:nvSpPr>
          <p:cNvPr id="36" name="Titre 1"/>
          <p:cNvSpPr>
            <a:spLocks noGrp="1"/>
          </p:cNvSpPr>
          <p:nvPr>
            <p:ph type="title"/>
          </p:nvPr>
        </p:nvSpPr>
        <p:spPr bwMode="auto">
          <a:xfrm>
            <a:off x="451788" y="2061647"/>
            <a:ext cx="6291912" cy="906450"/>
          </a:xfrm>
        </p:spPr>
        <p:txBody>
          <a:bodyPr>
            <a:noAutofit/>
          </a:bodyPr>
          <a:lstStyle>
            <a:lvl1pPr algn="l">
              <a:defRPr sz="3200" b="1">
                <a:solidFill>
                  <a:schemeClr val="bg1"/>
                </a:solidFill>
                <a:latin typeface="Georgia"/>
                <a:ea typeface="Georgia"/>
              </a:defRPr>
            </a:lvl1pPr>
          </a:lstStyle>
          <a:p>
            <a:pPr>
              <a:defRPr/>
            </a:pPr>
            <a:r>
              <a:rPr lang="fr-FR" dirty="0"/>
              <a:t>Cliquez et modifiez le titre</a:t>
            </a:r>
            <a:endParaRPr dirty="0"/>
          </a:p>
        </p:txBody>
      </p:sp>
      <p:pic>
        <p:nvPicPr>
          <p:cNvPr id="37" name="Image 6"/>
          <p:cNvPicPr/>
          <p:nvPr userDrawn="1"/>
        </p:nvPicPr>
        <p:blipFill>
          <a:blip r:embed="rId4"/>
          <a:stretch/>
        </p:blipFill>
        <p:spPr bwMode="auto">
          <a:xfrm>
            <a:off x="9626600" y="5185847"/>
            <a:ext cx="1716329" cy="1041502"/>
          </a:xfrm>
          <a:prstGeom prst="rect">
            <a:avLst/>
          </a:prstGeom>
          <a:ln>
            <a:noFill/>
          </a:ln>
        </p:spPr>
      </p:pic>
      <p:sp>
        <p:nvSpPr>
          <p:cNvPr id="38" name="Rectangle 8"/>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9"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dirty="0"/>
              <a:t>Cliquez pour modifier les styles du texte du masque</a:t>
            </a:r>
            <a:endParaRPr dirty="0"/>
          </a:p>
        </p:txBody>
      </p:sp>
    </p:spTree>
    <p:extLst>
      <p:ext uri="{BB962C8B-B14F-4D97-AF65-F5344CB8AC3E}">
        <p14:creationId xmlns:p14="http://schemas.microsoft.com/office/powerpoint/2010/main" val="208552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re sans image">
    <p:bg>
      <p:bgPr>
        <a:blipFill>
          <a:blip r:embed="rId2"/>
          <a:srcRect t="9677" b="9676"/>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452438" y="2060848"/>
            <a:ext cx="6234112" cy="906450"/>
          </a:xfrm>
        </p:spPr>
        <p:txBody>
          <a:bodyPr vert="horz" lIns="91440" tIns="45720" rIns="91440" bIns="45720" rtlCol="0" anchor="ctr">
            <a:noAutofit/>
          </a:bodyPr>
          <a:lstStyle>
            <a:lvl1pPr>
              <a:defRPr lang="fr-FR" sz="3200" b="1">
                <a:solidFill>
                  <a:schemeClr val="bg1"/>
                </a:solidFill>
                <a:latin typeface="Georgia"/>
                <a:ea typeface="Georgia"/>
              </a:defRPr>
            </a:lvl1pPr>
          </a:lstStyle>
          <a:p>
            <a:pPr marL="0" lvl="0" algn="l">
              <a:defRPr/>
            </a:pPr>
            <a:r>
              <a:rPr lang="fr-FR" dirty="0"/>
              <a:t>Cliquez et modifiez le titre</a:t>
            </a:r>
            <a:endParaRPr dirty="0"/>
          </a:p>
        </p:txBody>
      </p:sp>
      <p:sp>
        <p:nvSpPr>
          <p:cNvPr id="6" name="Rectangle 6"/>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a:t>Cliquez pour modifier les styles du texte du masque</a:t>
            </a:r>
            <a:endParaRPr/>
          </a:p>
        </p:txBody>
      </p:sp>
      <p:pic>
        <p:nvPicPr>
          <p:cNvPr id="8" name="Image 6">
            <a:extLst>
              <a:ext uri="{FF2B5EF4-FFF2-40B4-BE49-F238E27FC236}">
                <a16:creationId xmlns:a16="http://schemas.microsoft.com/office/drawing/2014/main" id="{4E93B45A-22AF-B34A-AA08-8AF0D93C118F}"/>
              </a:ext>
            </a:extLst>
          </p:cNvPr>
          <p:cNvPicPr/>
          <p:nvPr userDrawn="1"/>
        </p:nvPicPr>
        <p:blipFill>
          <a:blip r:embed="rId3"/>
          <a:stretch/>
        </p:blipFill>
        <p:spPr bwMode="auto">
          <a:xfrm>
            <a:off x="9626600" y="5185847"/>
            <a:ext cx="1716329" cy="1041502"/>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Titre intermédiaire">
    <p:bg>
      <p:bgPr>
        <a:blipFill>
          <a:blip r:embed="rId2"/>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1130300" y="2146299"/>
            <a:ext cx="10648012" cy="694797"/>
          </a:xfrm>
        </p:spPr>
        <p:txBody>
          <a:bodyPr/>
          <a:lstStyle>
            <a:lvl1pPr algn="l">
              <a:defRPr lang="fr-FR" sz="3000" b="1">
                <a:solidFill>
                  <a:schemeClr val="bg1"/>
                </a:solidFill>
                <a:latin typeface="Georgia"/>
                <a:ea typeface="Georgia"/>
              </a:defRPr>
            </a:lvl1pPr>
          </a:lstStyle>
          <a:p>
            <a:pPr lvl="0" algn="l">
              <a:defRPr/>
            </a:pPr>
            <a:r>
              <a:rPr lang="fr-FR"/>
              <a:t>Cliquez et modifiez le titre</a:t>
            </a:r>
            <a:endParaRPr/>
          </a:p>
        </p:txBody>
      </p:sp>
      <p:sp>
        <p:nvSpPr>
          <p:cNvPr id="5" name="Rectangle 5"/>
          <p:cNvSpPr/>
          <p:nvPr userDrawn="1"/>
        </p:nvSpPr>
        <p:spPr bwMode="auto">
          <a:xfrm>
            <a:off x="1181099" y="28230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 name="Espace réservé du contenu 7"/>
          <p:cNvSpPr>
            <a:spLocks noGrp="1"/>
          </p:cNvSpPr>
          <p:nvPr>
            <p:ph sz="quarter" idx="13"/>
          </p:nvPr>
        </p:nvSpPr>
        <p:spPr bwMode="auto">
          <a:xfrm>
            <a:off x="1181099" y="2997200"/>
            <a:ext cx="5676900" cy="1816100"/>
          </a:xfrm>
        </p:spPr>
        <p:txBody>
          <a:bodyPr/>
          <a:lstStyle>
            <a:lvl1pPr marL="228600" indent="-228600">
              <a:buNone/>
              <a:defRPr lang="fr-FR" sz="2600" b="0" i="1">
                <a:solidFill>
                  <a:schemeClr val="bg1"/>
                </a:solidFill>
                <a:latin typeface="Georgia"/>
                <a:ea typeface="Georgia"/>
              </a:defRPr>
            </a:lvl1pPr>
          </a:lstStyle>
          <a:p>
            <a:pPr marL="0" lvl="0" indent="0">
              <a:defRPr/>
            </a:pPr>
            <a:r>
              <a:rPr lang="fr-FR"/>
              <a:t>Cliquez pour modifier les styles du texte du masque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4" name="Forme libre 18"/>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5" name="Grouper 13"/>
          <p:cNvGrpSpPr/>
          <p:nvPr userDrawn="1"/>
        </p:nvGrpSpPr>
        <p:grpSpPr bwMode="auto">
          <a:xfrm>
            <a:off x="0" y="136313"/>
            <a:ext cx="1128128" cy="799613"/>
            <a:chOff x="0" y="136313"/>
            <a:chExt cx="1128128" cy="804749"/>
          </a:xfrm>
        </p:grpSpPr>
        <p:sp>
          <p:nvSpPr>
            <p:cNvPr id="6" name="Forme libre 15"/>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7" name="Forme libre 16"/>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8" name="Forme libre 14"/>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9" name="Titre 1"/>
          <p:cNvSpPr>
            <a:spLocks noGrp="1"/>
          </p:cNvSpPr>
          <p:nvPr userDrawn="1">
            <p:ph type="title" hasCustomPrompt="1"/>
          </p:nvPr>
        </p:nvSpPr>
        <p:spPr bwMode="auto">
          <a:xfrm>
            <a:off x="656493" y="-1"/>
            <a:ext cx="11535507" cy="935513"/>
          </a:xfrm>
        </p:spPr>
        <p:txBody>
          <a:bodyPr anchor="ctr"/>
          <a:lstStyle>
            <a:lvl1pPr>
              <a:defRPr>
                <a:solidFill>
                  <a:schemeClr val="bg1"/>
                </a:solidFill>
                <a:latin typeface="Arial"/>
                <a:ea typeface="Arial"/>
              </a:defRPr>
            </a:lvl1pPr>
          </a:lstStyle>
          <a:p>
            <a:pPr>
              <a:defRPr/>
            </a:pPr>
            <a:r>
              <a:rPr lang="fr-FR" dirty="0"/>
              <a:t>Cliquez et modifiez le titre</a:t>
            </a:r>
            <a:endParaRPr dirty="0"/>
          </a:p>
        </p:txBody>
      </p:sp>
      <p:sp>
        <p:nvSpPr>
          <p:cNvPr id="10" name="Espace réservé du contenu 2"/>
          <p:cNvSpPr>
            <a:spLocks noGrp="1"/>
          </p:cNvSpPr>
          <p:nvPr userDrawn="1">
            <p:ph idx="1"/>
          </p:nvPr>
        </p:nvSpPr>
        <p:spPr bwMode="auto">
          <a:xfrm>
            <a:off x="465513" y="1535723"/>
            <a:ext cx="11492025" cy="4641240"/>
          </a:xfrm>
        </p:spPr>
        <p:txBody>
          <a:bodyPr>
            <a:normAutofit/>
          </a:bodyPr>
          <a:lstStyle>
            <a:lvl1pPr>
              <a:defRPr sz="3600">
                <a:latin typeface="Arial"/>
                <a:ea typeface="Arial"/>
              </a:defRPr>
            </a:lvl1pPr>
            <a:lvl2pPr>
              <a:defRPr sz="3200">
                <a:latin typeface="Arial"/>
                <a:ea typeface="Arial"/>
              </a:defRPr>
            </a:lvl2pPr>
            <a:lvl3pPr>
              <a:defRPr sz="2800">
                <a:latin typeface="Arial"/>
                <a:ea typeface="Arial"/>
              </a:defRPr>
            </a:lvl3pPr>
            <a:lvl4pPr>
              <a:defRPr sz="2400">
                <a:latin typeface="Arial"/>
                <a:ea typeface="Arial"/>
              </a:defRPr>
            </a:lvl4pPr>
            <a:lvl5pPr>
              <a:defRPr sz="2400">
                <a:latin typeface="Arial"/>
                <a:ea typeface="Arial"/>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 name="Espace réservé de la date 3"/>
          <p:cNvSpPr>
            <a:spLocks noGrp="1"/>
          </p:cNvSpPr>
          <p:nvPr userDrawn="1">
            <p:ph type="dt" sz="half" idx="10"/>
          </p:nvPr>
        </p:nvSpPr>
        <p:spPr bwMode="auto">
          <a:xfrm>
            <a:off x="0" y="6492875"/>
            <a:ext cx="2743200" cy="365125"/>
          </a:xfrm>
        </p:spPr>
        <p:txBody>
          <a:bodyPr/>
          <a:lstStyle>
            <a:lvl1pPr>
              <a:defRPr>
                <a:latin typeface="Arial"/>
                <a:ea typeface="Arial"/>
              </a:defRPr>
            </a:lvl1pPr>
          </a:lstStyle>
          <a:p>
            <a:pPr>
              <a:defRPr/>
            </a:pPr>
            <a:fld id="{571799DC-901E-B14A-8054-0AE0FDF86F9C}" type="datetime1">
              <a:rPr lang="fr-FR" smtClean="0"/>
              <a:t>04/10/2024</a:t>
            </a:fld>
            <a:endParaRPr lang="fr-FR"/>
          </a:p>
        </p:txBody>
      </p:sp>
      <p:sp>
        <p:nvSpPr>
          <p:cNvPr id="12" name="Espace réservé du pied de page 4"/>
          <p:cNvSpPr>
            <a:spLocks noGrp="1"/>
          </p:cNvSpPr>
          <p:nvPr userDrawn="1">
            <p:ph type="ftr" sz="quarter" idx="11"/>
          </p:nvPr>
        </p:nvSpPr>
        <p:spPr bwMode="auto">
          <a:xfrm>
            <a:off x="4038600" y="6471871"/>
            <a:ext cx="4114800" cy="365125"/>
          </a:xfrm>
        </p:spPr>
        <p:txBody>
          <a:bodyPr/>
          <a:lstStyle>
            <a:lvl1pPr>
              <a:defRPr>
                <a:latin typeface="Arial"/>
                <a:ea typeface="Arial"/>
              </a:defRPr>
            </a:lvl1pPr>
          </a:lstStyle>
          <a:p>
            <a:pPr>
              <a:defRPr/>
            </a:pPr>
            <a:r>
              <a:rPr lang="fr-FR"/>
              <a:t>ISAE-SUPAERO</a:t>
            </a:r>
            <a:endParaRPr dirty="0"/>
          </a:p>
        </p:txBody>
      </p:sp>
      <p:sp>
        <p:nvSpPr>
          <p:cNvPr id="13" name="Espace réservé du numéro de diapositive 5"/>
          <p:cNvSpPr>
            <a:spLocks noGrp="1"/>
          </p:cNvSpPr>
          <p:nvPr userDrawn="1">
            <p:ph type="sldNum" sz="quarter" idx="12"/>
          </p:nvPr>
        </p:nvSpPr>
        <p:spPr bwMode="auto">
          <a:xfrm>
            <a:off x="9448799" y="6474435"/>
            <a:ext cx="2743200" cy="365125"/>
          </a:xfrm>
        </p:spPr>
        <p:txBody>
          <a:bodyPr/>
          <a:lstStyle>
            <a:lvl1pPr>
              <a:defRPr>
                <a:latin typeface="Arial"/>
                <a:ea typeface="Arial"/>
              </a:defRPr>
            </a:lvl1pPr>
          </a:lstStyle>
          <a:p>
            <a:pPr>
              <a:defRPr/>
            </a:pPr>
            <a:fld id="{5E177536-18BF-1743-A360-A4663329E682}" type="slidenum">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1_Deux contenus">
    <p:spTree>
      <p:nvGrpSpPr>
        <p:cNvPr id="1" name=""/>
        <p:cNvGrpSpPr/>
        <p:nvPr/>
      </p:nvGrpSpPr>
      <p:grpSpPr bwMode="auto">
        <a:xfrm>
          <a:off x="0" y="0"/>
          <a:ext cx="0" cy="0"/>
          <a:chOff x="0" y="0"/>
          <a:chExt cx="0" cy="0"/>
        </a:xfrm>
      </p:grpSpPr>
      <p:sp>
        <p:nvSpPr>
          <p:cNvPr id="5" name="Espace réservé du contenu 2"/>
          <p:cNvSpPr>
            <a:spLocks noGrp="1"/>
          </p:cNvSpPr>
          <p:nvPr>
            <p:ph sz="half" idx="1"/>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 name="Espace réservé du contenu 3"/>
          <p:cNvSpPr>
            <a:spLocks noGrp="1"/>
          </p:cNvSpPr>
          <p:nvPr>
            <p:ph sz="half" idx="2"/>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e la date 4"/>
          <p:cNvSpPr>
            <a:spLocks noGrp="1"/>
          </p:cNvSpPr>
          <p:nvPr>
            <p:ph type="dt" sz="half" idx="10"/>
          </p:nvPr>
        </p:nvSpPr>
        <p:spPr bwMode="auto"/>
        <p:txBody>
          <a:bodyPr/>
          <a:lstStyle/>
          <a:p>
            <a:pPr>
              <a:defRPr/>
            </a:pPr>
            <a:fld id="{CF7091EC-61AD-FD4A-B9B4-7CA93887C7CA}" type="datetime1">
              <a:rPr lang="fr-FR" smtClean="0"/>
              <a:t>04/10/2024</a:t>
            </a:fld>
            <a:endParaRPr lang="fr-FR"/>
          </a:p>
        </p:txBody>
      </p:sp>
      <p:sp>
        <p:nvSpPr>
          <p:cNvPr id="8" name="Espace réservé du pied de page 5"/>
          <p:cNvSpPr>
            <a:spLocks noGrp="1"/>
          </p:cNvSpPr>
          <p:nvPr>
            <p:ph type="ftr" sz="quarter" idx="11"/>
          </p:nvPr>
        </p:nvSpPr>
        <p:spPr bwMode="auto"/>
        <p:txBody>
          <a:bodyPr/>
          <a:lstStyle/>
          <a:p>
            <a:pPr>
              <a:defRPr/>
            </a:pPr>
            <a:r>
              <a:rPr lang="fr-FR"/>
              <a:t>ISAE-SUPAERO</a:t>
            </a:r>
            <a:endParaRPr/>
          </a:p>
        </p:txBody>
      </p:sp>
      <p:sp>
        <p:nvSpPr>
          <p:cNvPr id="9" name="Espace réservé du numéro de diapositive 6"/>
          <p:cNvSpPr>
            <a:spLocks noGrp="1"/>
          </p:cNvSpPr>
          <p:nvPr>
            <p:ph type="sldNum" sz="quarter" idx="12"/>
          </p:nvPr>
        </p:nvSpPr>
        <p:spPr bwMode="auto"/>
        <p:txBody>
          <a:bodyPr/>
          <a:lstStyle/>
          <a:p>
            <a:pPr>
              <a:defRPr/>
            </a:pPr>
            <a:fld id="{5E177536-18BF-1743-A360-A4663329E682}" type="slidenum">
              <a:t>‹N°›</a:t>
            </a:fld>
            <a:endParaRPr lang="fr-FR"/>
          </a:p>
        </p:txBody>
      </p:sp>
      <p:sp>
        <p:nvSpPr>
          <p:cNvPr id="25" name="Forme libre 18">
            <a:extLst>
              <a:ext uri="{FF2B5EF4-FFF2-40B4-BE49-F238E27FC236}">
                <a16:creationId xmlns:a16="http://schemas.microsoft.com/office/drawing/2014/main" id="{6C4558E4-B38D-4040-9E20-30E5F0499642}"/>
              </a:ext>
            </a:extLst>
          </p:cNvPr>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26" name="Grouper 13">
            <a:extLst>
              <a:ext uri="{FF2B5EF4-FFF2-40B4-BE49-F238E27FC236}">
                <a16:creationId xmlns:a16="http://schemas.microsoft.com/office/drawing/2014/main" id="{4BB70C6A-AA5E-E543-926D-63ED27207595}"/>
              </a:ext>
            </a:extLst>
          </p:cNvPr>
          <p:cNvGrpSpPr/>
          <p:nvPr userDrawn="1"/>
        </p:nvGrpSpPr>
        <p:grpSpPr bwMode="auto">
          <a:xfrm>
            <a:off x="0" y="136313"/>
            <a:ext cx="1128128" cy="799613"/>
            <a:chOff x="0" y="136313"/>
            <a:chExt cx="1128128" cy="804749"/>
          </a:xfrm>
        </p:grpSpPr>
        <p:sp>
          <p:nvSpPr>
            <p:cNvPr id="27" name="Forme libre 15">
              <a:extLst>
                <a:ext uri="{FF2B5EF4-FFF2-40B4-BE49-F238E27FC236}">
                  <a16:creationId xmlns:a16="http://schemas.microsoft.com/office/drawing/2014/main" id="{D8F469E6-7A2A-A24B-A9CA-1A7378D0C23E}"/>
                </a:ext>
              </a:extLst>
            </p:cNvPr>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28" name="Forme libre 16">
              <a:extLst>
                <a:ext uri="{FF2B5EF4-FFF2-40B4-BE49-F238E27FC236}">
                  <a16:creationId xmlns:a16="http://schemas.microsoft.com/office/drawing/2014/main" id="{C891C920-43D6-CF42-A84A-C21ADD0A9369}"/>
                </a:ext>
              </a:extLst>
            </p:cNvPr>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29" name="Forme libre 14">
            <a:extLst>
              <a:ext uri="{FF2B5EF4-FFF2-40B4-BE49-F238E27FC236}">
                <a16:creationId xmlns:a16="http://schemas.microsoft.com/office/drawing/2014/main" id="{EAC4A7D4-C4E6-054F-9D87-CE1C760A7605}"/>
              </a:ext>
            </a:extLst>
          </p:cNvPr>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0" name="Titre 1">
            <a:extLst>
              <a:ext uri="{FF2B5EF4-FFF2-40B4-BE49-F238E27FC236}">
                <a16:creationId xmlns:a16="http://schemas.microsoft.com/office/drawing/2014/main" id="{A264D82C-0B33-EF49-86BB-54BAB7C4A85D}"/>
              </a:ext>
            </a:extLst>
          </p:cNvPr>
          <p:cNvSpPr>
            <a:spLocks noGrp="1"/>
          </p:cNvSpPr>
          <p:nvPr>
            <p:ph type="title" hasCustomPrompt="1"/>
          </p:nvPr>
        </p:nvSpPr>
        <p:spPr bwMode="auto">
          <a:xfrm>
            <a:off x="656493" y="-1"/>
            <a:ext cx="11535507" cy="935513"/>
          </a:xfrm>
        </p:spPr>
        <p:txBody>
          <a:bodyPr anchor="ctr"/>
          <a:lstStyle>
            <a:lvl1pPr>
              <a:defRPr>
                <a:solidFill>
                  <a:schemeClr val="bg1"/>
                </a:solidFill>
                <a:latin typeface="Arial"/>
                <a:ea typeface="Arial"/>
              </a:defRPr>
            </a:lvl1pPr>
          </a:lstStyle>
          <a:p>
            <a:pPr>
              <a:defRPr/>
            </a:pPr>
            <a:r>
              <a:rPr lang="fr-FR" dirty="0"/>
              <a:t>Cliquez et modifiez le titre</a:t>
            </a:r>
            <a:endParaRPr dirty="0"/>
          </a:p>
        </p:txBody>
      </p:sp>
    </p:spTree>
    <p:extLst>
      <p:ext uri="{BB962C8B-B14F-4D97-AF65-F5344CB8AC3E}">
        <p14:creationId xmlns:p14="http://schemas.microsoft.com/office/powerpoint/2010/main" val="4047032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2_Titre seul">
    <p:spTree>
      <p:nvGrpSpPr>
        <p:cNvPr id="1" name=""/>
        <p:cNvGrpSpPr/>
        <p:nvPr/>
      </p:nvGrpSpPr>
      <p:grpSpPr bwMode="auto">
        <a:xfrm>
          <a:off x="0" y="0"/>
          <a:ext cx="0" cy="0"/>
          <a:chOff x="0" y="0"/>
          <a:chExt cx="0" cy="0"/>
        </a:xfrm>
      </p:grpSpPr>
      <p:sp>
        <p:nvSpPr>
          <p:cNvPr id="5" name="Espace réservé de la date 2"/>
          <p:cNvSpPr>
            <a:spLocks noGrp="1"/>
          </p:cNvSpPr>
          <p:nvPr>
            <p:ph type="dt" sz="half" idx="10"/>
          </p:nvPr>
        </p:nvSpPr>
        <p:spPr bwMode="auto"/>
        <p:txBody>
          <a:bodyPr/>
          <a:lstStyle/>
          <a:p>
            <a:pPr>
              <a:defRPr/>
            </a:pPr>
            <a:fld id="{995ABFFC-9B3E-E046-B16A-EAB56573FF59}" type="datetime1">
              <a:rPr lang="fr-FR" smtClean="0"/>
              <a:t>04/10/2024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6460415"/>
            <a:chOff x="0" y="-12825"/>
            <a:chExt cx="12194324" cy="6460415"/>
          </a:xfrm>
        </p:grpSpPr>
        <p:grpSp>
          <p:nvGrpSpPr>
            <p:cNvPr id="9" name="Grouper 6"/>
            <p:cNvGrpSpPr/>
            <p:nvPr userDrawn="1"/>
          </p:nvGrpSpPr>
          <p:grpSpPr bwMode="auto">
            <a:xfrm>
              <a:off x="0" y="2358"/>
              <a:ext cx="6887395" cy="6445232"/>
              <a:chOff x="0" y="2358"/>
              <a:chExt cx="6887395" cy="6445232"/>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5" name="Forme libre 9">
                <a:extLst>
                  <a:ext uri="{FF2B5EF4-FFF2-40B4-BE49-F238E27FC236}">
                    <a16:creationId xmlns:a16="http://schemas.microsoft.com/office/drawing/2014/main" id="{778AB88D-C9F2-704E-9935-55F772E74010}"/>
                  </a:ext>
                </a:extLst>
              </p:cNvPr>
              <p:cNvSpPr/>
              <p:nvPr userDrawn="1"/>
            </p:nvSpPr>
            <p:spPr bwMode="auto">
              <a:xfrm>
                <a:off x="655760" y="326983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7" name="Forme libre 9">
                <a:extLst>
                  <a:ext uri="{FF2B5EF4-FFF2-40B4-BE49-F238E27FC236}">
                    <a16:creationId xmlns:a16="http://schemas.microsoft.com/office/drawing/2014/main" id="{BA997941-F629-3549-A025-62EB38728F1A}"/>
                  </a:ext>
                </a:extLst>
              </p:cNvPr>
              <p:cNvSpPr/>
              <p:nvPr userDrawn="1"/>
            </p:nvSpPr>
            <p:spPr bwMode="auto">
              <a:xfrm>
                <a:off x="664626" y="600462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8" name="Forme libre 9">
                <a:extLst>
                  <a:ext uri="{FF2B5EF4-FFF2-40B4-BE49-F238E27FC236}">
                    <a16:creationId xmlns:a16="http://schemas.microsoft.com/office/drawing/2014/main" id="{69A2FE9E-8197-D64D-B7E2-53321B002CAA}"/>
                  </a:ext>
                </a:extLst>
              </p:cNvPr>
              <p:cNvSpPr/>
              <p:nvPr userDrawn="1"/>
            </p:nvSpPr>
            <p:spPr bwMode="auto">
              <a:xfrm>
                <a:off x="6421882" y="6054121"/>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9" name="Forme libre 9">
                <a:extLst>
                  <a:ext uri="{FF2B5EF4-FFF2-40B4-BE49-F238E27FC236}">
                    <a16:creationId xmlns:a16="http://schemas.microsoft.com/office/drawing/2014/main" id="{27AE7A52-C412-B948-99F8-E7581EAE8BA0}"/>
                  </a:ext>
                </a:extLst>
              </p:cNvPr>
              <p:cNvSpPr/>
              <p:nvPr userDrawn="1"/>
            </p:nvSpPr>
            <p:spPr bwMode="auto">
              <a:xfrm>
                <a:off x="6410809" y="3240775"/>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4" name="CustomShape 11"/>
          <p:cNvSpPr/>
          <p:nvPr userDrawn="1"/>
        </p:nvSpPr>
        <p:spPr bwMode="auto">
          <a:xfrm rot="16199998">
            <a:off x="-917772" y="2124270"/>
            <a:ext cx="2412624"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algn="ctr">
              <a:lnSpc>
                <a:spcPct val="100000"/>
              </a:lnSpc>
              <a:defRPr/>
            </a:pPr>
            <a:r>
              <a:rPr lang="fr-FR" sz="2000" b="1" i="0" strike="noStrike" spc="-1">
                <a:solidFill>
                  <a:srgbClr val="9B9B9B"/>
                </a:solidFill>
                <a:latin typeface="Arial"/>
                <a:ea typeface="Arial"/>
              </a:rPr>
              <a:t>AXE INTERNE</a:t>
            </a:r>
            <a:endParaRPr lang="fr-FR" sz="2000" b="1" i="0" strike="noStrike" spc="-1">
              <a:latin typeface="Arial"/>
              <a:ea typeface="Arial"/>
            </a:endParaRPr>
          </a:p>
        </p:txBody>
      </p:sp>
      <p:sp>
        <p:nvSpPr>
          <p:cNvPr id="15" name="CustomShape 11"/>
          <p:cNvSpPr/>
          <p:nvPr userDrawn="1"/>
        </p:nvSpPr>
        <p:spPr bwMode="auto">
          <a:xfrm rot="16199998">
            <a:off x="-932698" y="4827020"/>
            <a:ext cx="2422525"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lvl="0" algn="ctr">
              <a:lnSpc>
                <a:spcPct val="100000"/>
              </a:lnSpc>
              <a:defRPr/>
            </a:pPr>
            <a:r>
              <a:rPr lang="fr-FR" sz="2000" b="1" i="0" strike="noStrike" spc="-1">
                <a:solidFill>
                  <a:srgbClr val="9B9B9B"/>
                </a:solidFill>
                <a:latin typeface="Arial"/>
                <a:ea typeface="Arial"/>
              </a:rPr>
              <a:t>AXE EXTERNE</a:t>
            </a:r>
            <a:endParaRPr/>
          </a:p>
        </p:txBody>
      </p:sp>
      <p:sp>
        <p:nvSpPr>
          <p:cNvPr id="16" name="CustomShape 14"/>
          <p:cNvSpPr/>
          <p:nvPr userDrawn="1"/>
        </p:nvSpPr>
        <p:spPr bwMode="auto">
          <a:xfrm rot="20845800">
            <a:off x="1173756" y="1782540"/>
            <a:ext cx="4489973" cy="1270438"/>
          </a:xfrm>
          <a:prstGeom prst="rect">
            <a:avLst/>
          </a:prstGeom>
          <a:noFill/>
          <a:ln>
            <a:noFill/>
          </a:ln>
          <a:effectLst/>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FORCES</a:t>
            </a:r>
            <a:endParaRPr lang="fr-FR" sz="6000" b="0" strike="noStrike" spc="-1" dirty="0">
              <a:solidFill>
                <a:schemeClr val="bg1">
                  <a:lumMod val="95000"/>
                </a:schemeClr>
              </a:solidFill>
              <a:latin typeface="Arial"/>
            </a:endParaRPr>
          </a:p>
        </p:txBody>
      </p:sp>
      <p:sp>
        <p:nvSpPr>
          <p:cNvPr id="17" name="CustomShape 15"/>
          <p:cNvSpPr/>
          <p:nvPr userDrawn="1"/>
        </p:nvSpPr>
        <p:spPr bwMode="auto">
          <a:xfrm rot="20845800">
            <a:off x="7343923" y="4844555"/>
            <a:ext cx="3526200"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MENACES</a:t>
            </a:r>
            <a:endParaRPr dirty="0">
              <a:solidFill>
                <a:schemeClr val="bg1">
                  <a:lumMod val="95000"/>
                </a:schemeClr>
              </a:solidFill>
            </a:endParaRPr>
          </a:p>
        </p:txBody>
      </p:sp>
      <p:sp>
        <p:nvSpPr>
          <p:cNvPr id="18" name="CustomShape 16"/>
          <p:cNvSpPr/>
          <p:nvPr userDrawn="1"/>
        </p:nvSpPr>
        <p:spPr bwMode="auto">
          <a:xfrm rot="20845800">
            <a:off x="6999444" y="2005395"/>
            <a:ext cx="4862771"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FAIBLESSES</a:t>
            </a:r>
            <a:r>
              <a:rPr lang="fr-FR" sz="8000" b="1" strike="noStrike" spc="-1" dirty="0">
                <a:solidFill>
                  <a:schemeClr val="bg1">
                    <a:lumMod val="95000"/>
                  </a:schemeClr>
                </a:solidFill>
                <a:latin typeface="Avenir Black"/>
                <a:ea typeface="Avenir Black"/>
              </a:rPr>
              <a:t> </a:t>
            </a:r>
            <a:endParaRPr dirty="0">
              <a:solidFill>
                <a:schemeClr val="bg1">
                  <a:lumMod val="95000"/>
                </a:schemeClr>
              </a:solidFill>
            </a:endParaRPr>
          </a:p>
        </p:txBody>
      </p:sp>
      <p:sp>
        <p:nvSpPr>
          <p:cNvPr id="19" name="CustomShape 17"/>
          <p:cNvSpPr/>
          <p:nvPr userDrawn="1"/>
        </p:nvSpPr>
        <p:spPr bwMode="auto">
          <a:xfrm rot="20845800">
            <a:off x="464232" y="4660024"/>
            <a:ext cx="6012665"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OPPORTUNITES</a:t>
            </a:r>
            <a:endParaRPr dirty="0">
              <a:solidFill>
                <a:schemeClr val="bg1">
                  <a:lumMod val="95000"/>
                </a:schemeClr>
              </a:solidFill>
            </a:endParaRPr>
          </a:p>
        </p:txBody>
      </p:sp>
      <p:sp>
        <p:nvSpPr>
          <p:cNvPr id="20" name="Espace réservé du contenu 14"/>
          <p:cNvSpPr>
            <a:spLocks noGrp="1"/>
          </p:cNvSpPr>
          <p:nvPr>
            <p:ph sz="quarter" idx="13"/>
          </p:nvPr>
        </p:nvSpPr>
        <p:spPr bwMode="auto">
          <a:xfrm>
            <a:off x="656492" y="1218194"/>
            <a:ext cx="5524500" cy="2422525"/>
          </a:xfrm>
          <a:prstGeom prst="rect">
            <a:avLst/>
          </a:prstGeom>
          <a:noFill/>
          <a:ln>
            <a:noFill/>
          </a:ln>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21" name="Espace réservé du contenu 14"/>
          <p:cNvSpPr>
            <a:spLocks noGrp="1"/>
          </p:cNvSpPr>
          <p:nvPr>
            <p:ph sz="quarter" idx="14"/>
          </p:nvPr>
        </p:nvSpPr>
        <p:spPr bwMode="auto">
          <a:xfrm>
            <a:off x="6444145" y="1203545"/>
            <a:ext cx="5524500" cy="2422525"/>
          </a:xfrm>
          <a:prstGeom prst="rect">
            <a:avLst/>
          </a:prstGeom>
          <a:noFill/>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22" name="Espace réservé du contenu 14"/>
          <p:cNvSpPr>
            <a:spLocks noGrp="1"/>
          </p:cNvSpPr>
          <p:nvPr>
            <p:ph sz="quarter" idx="15"/>
          </p:nvPr>
        </p:nvSpPr>
        <p:spPr bwMode="auto">
          <a:xfrm>
            <a:off x="6433888" y="3983032"/>
            <a:ext cx="5524500" cy="2422525"/>
          </a:xfrm>
          <a:prstGeom prst="rect">
            <a:avLst/>
          </a:prstGeom>
          <a:noFill/>
        </p:spPr>
        <p:txBody>
          <a:bodyPr anchor="ctr">
            <a:normAutofit/>
          </a:bodyPr>
          <a:lstStyle>
            <a:lvl1pPr algn="l">
              <a:defRPr sz="2000">
                <a:latin typeface="Arial Narrow"/>
                <a:ea typeface="Arial Narrow"/>
              </a:defRPr>
            </a:lvl1pPr>
          </a:lstStyle>
          <a:p>
            <a:pPr lvl="0">
              <a:defRPr/>
            </a:pPr>
            <a:r>
              <a:rPr lang="fr-FR"/>
              <a:t>Cliquez pour modifier les styles du texte du masque</a:t>
            </a:r>
            <a:endParaRPr/>
          </a:p>
        </p:txBody>
      </p:sp>
      <p:sp>
        <p:nvSpPr>
          <p:cNvPr id="23" name="Espace réservé du contenu 14"/>
          <p:cNvSpPr>
            <a:spLocks noGrp="1"/>
          </p:cNvSpPr>
          <p:nvPr>
            <p:ph sz="quarter" idx="16"/>
          </p:nvPr>
        </p:nvSpPr>
        <p:spPr bwMode="auto">
          <a:xfrm>
            <a:off x="664626" y="3923014"/>
            <a:ext cx="5524500" cy="2422525"/>
          </a:xfrm>
          <a:prstGeom prst="rect">
            <a:avLst/>
          </a:prstGeom>
          <a:noFill/>
        </p:spPr>
        <p:txBody>
          <a:bodyPr anchor="ctr">
            <a:normAutofit/>
          </a:bodyPr>
          <a:lstStyle>
            <a:lvl1pPr algn="l">
              <a:defRPr sz="2000">
                <a:solidFill>
                  <a:schemeClr val="tx1"/>
                </a:solidFill>
                <a:latin typeface="Arial Narrow"/>
                <a:ea typeface="Arial Narrow"/>
              </a:defRPr>
            </a:lvl1pPr>
          </a:lstStyle>
          <a:p>
            <a:pPr lvl="0">
              <a:defRPr/>
            </a:pPr>
            <a:r>
              <a:rPr lang="fr-FR" dirty="0"/>
              <a:t>Cliquez pour modifier les styles du texte du masque</a:t>
            </a:r>
          </a:p>
        </p:txBody>
      </p:sp>
      <p:sp>
        <p:nvSpPr>
          <p:cNvPr id="26" name="Forme libre 18">
            <a:extLst>
              <a:ext uri="{FF2B5EF4-FFF2-40B4-BE49-F238E27FC236}">
                <a16:creationId xmlns:a16="http://schemas.microsoft.com/office/drawing/2014/main" id="{97E1992B-F23E-FE4B-A696-646BC8E0AB53}"/>
              </a:ext>
            </a:extLst>
          </p:cNvPr>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30" name="Grouper 13">
            <a:extLst>
              <a:ext uri="{FF2B5EF4-FFF2-40B4-BE49-F238E27FC236}">
                <a16:creationId xmlns:a16="http://schemas.microsoft.com/office/drawing/2014/main" id="{CE66B4CC-FD6D-7C46-8686-E46B2AD83AC2}"/>
              </a:ext>
            </a:extLst>
          </p:cNvPr>
          <p:cNvGrpSpPr/>
          <p:nvPr userDrawn="1"/>
        </p:nvGrpSpPr>
        <p:grpSpPr bwMode="auto">
          <a:xfrm>
            <a:off x="0" y="136313"/>
            <a:ext cx="1128128" cy="799613"/>
            <a:chOff x="0" y="136313"/>
            <a:chExt cx="1128128" cy="804749"/>
          </a:xfrm>
        </p:grpSpPr>
        <p:sp>
          <p:nvSpPr>
            <p:cNvPr id="31" name="Forme libre 15">
              <a:extLst>
                <a:ext uri="{FF2B5EF4-FFF2-40B4-BE49-F238E27FC236}">
                  <a16:creationId xmlns:a16="http://schemas.microsoft.com/office/drawing/2014/main" id="{26778EA5-7AB6-4A48-86F8-4B186163F590}"/>
                </a:ext>
              </a:extLst>
            </p:cNvPr>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2" name="Forme libre 16">
              <a:extLst>
                <a:ext uri="{FF2B5EF4-FFF2-40B4-BE49-F238E27FC236}">
                  <a16:creationId xmlns:a16="http://schemas.microsoft.com/office/drawing/2014/main" id="{327C4C1F-A879-1248-8637-8F44CE2657CD}"/>
                </a:ext>
              </a:extLst>
            </p:cNvPr>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33" name="Forme libre 14">
            <a:extLst>
              <a:ext uri="{FF2B5EF4-FFF2-40B4-BE49-F238E27FC236}">
                <a16:creationId xmlns:a16="http://schemas.microsoft.com/office/drawing/2014/main" id="{5E5104AD-497F-0D48-AEE2-986A940384FC}"/>
              </a:ext>
            </a:extLst>
          </p:cNvPr>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4" name="Titre 1">
            <a:extLst>
              <a:ext uri="{FF2B5EF4-FFF2-40B4-BE49-F238E27FC236}">
                <a16:creationId xmlns:a16="http://schemas.microsoft.com/office/drawing/2014/main" id="{CE52B886-49FA-934F-98DA-6762814AC526}"/>
              </a:ext>
            </a:extLst>
          </p:cNvPr>
          <p:cNvSpPr>
            <a:spLocks noGrp="1"/>
          </p:cNvSpPr>
          <p:nvPr>
            <p:ph type="title"/>
          </p:nvPr>
        </p:nvSpPr>
        <p:spPr bwMode="auto">
          <a:xfrm>
            <a:off x="656493" y="0"/>
            <a:ext cx="11535507" cy="929246"/>
          </a:xfrm>
        </p:spPr>
        <p:txBody>
          <a:bodyPr/>
          <a:lstStyle>
            <a:lvl1pPr>
              <a:defRPr>
                <a:solidFill>
                  <a:schemeClr val="bg1"/>
                </a:solidFill>
                <a:latin typeface="Arial"/>
                <a:ea typeface="Arial"/>
              </a:defRPr>
            </a:lvl1pPr>
          </a:lstStyle>
          <a:p>
            <a:pPr>
              <a:defRPr/>
            </a:pPr>
            <a:r>
              <a:rPr lang="fr-FR" dirty="0"/>
              <a:t>Cliquez et modifiez le titre</a:t>
            </a:r>
            <a:endParaRPr dirty="0"/>
          </a:p>
        </p:txBody>
      </p:sp>
    </p:spTree>
    <p:extLst>
      <p:ext uri="{BB962C8B-B14F-4D97-AF65-F5344CB8AC3E}">
        <p14:creationId xmlns:p14="http://schemas.microsoft.com/office/powerpoint/2010/main" val="88503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itle" preserve="1" userDrawn="1">
  <p:cSld name="Titre bleu ciel">
    <p:bg>
      <p:bgPr>
        <a:blipFill>
          <a:blip r:embed="rId2"/>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ctrTitle"/>
          </p:nvPr>
        </p:nvSpPr>
        <p:spPr bwMode="auto">
          <a:xfrm>
            <a:off x="138113" y="2100263"/>
            <a:ext cx="7505700" cy="837406"/>
          </a:xfrm>
        </p:spPr>
        <p:txBody>
          <a:bodyPr anchor="b">
            <a:normAutofit/>
          </a:bodyPr>
          <a:lstStyle>
            <a:lvl1pPr algn="l">
              <a:defRPr sz="3200">
                <a:latin typeface="Georgia"/>
                <a:ea typeface="Georgia"/>
              </a:defRPr>
            </a:lvl1pPr>
          </a:lstStyle>
          <a:p>
            <a:pPr>
              <a:defRPr/>
            </a:pPr>
            <a:r>
              <a:rPr lang="fr-FR"/>
              <a:t>Cliquez et modifiez le titre</a:t>
            </a:r>
            <a:endParaRPr/>
          </a:p>
        </p:txBody>
      </p:sp>
      <p:sp>
        <p:nvSpPr>
          <p:cNvPr id="5" name="Sous-titre 2"/>
          <p:cNvSpPr>
            <a:spLocks noGrp="1"/>
          </p:cNvSpPr>
          <p:nvPr>
            <p:ph type="subTitle" idx="1"/>
          </p:nvPr>
        </p:nvSpPr>
        <p:spPr bwMode="auto">
          <a:xfrm>
            <a:off x="138113" y="2937669"/>
            <a:ext cx="75057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Cliquez pour modifier le style des sous-titres du masque</a:t>
            </a:r>
            <a:endParaRPr/>
          </a:p>
        </p:txBody>
      </p:sp>
      <p:sp>
        <p:nvSpPr>
          <p:cNvPr id="6" name="Espace réservé de la date 3"/>
          <p:cNvSpPr>
            <a:spLocks noGrp="1"/>
          </p:cNvSpPr>
          <p:nvPr>
            <p:ph type="dt" sz="half" idx="10"/>
          </p:nvPr>
        </p:nvSpPr>
        <p:spPr bwMode="auto"/>
        <p:txBody>
          <a:bodyPr/>
          <a:lstStyle>
            <a:lvl1pPr>
              <a:defRPr>
                <a:solidFill>
                  <a:schemeClr val="bg1"/>
                </a:solidFill>
              </a:defRPr>
            </a:lvl1pPr>
          </a:lstStyle>
          <a:p>
            <a:pPr>
              <a:defRPr/>
            </a:pPr>
            <a:fld id="{38792B94-4658-5A45-9476-31733C708B9B}" type="datetime1">
              <a:rPr lang="fr-FR" smtClean="0"/>
              <a:t>04/10/2024</a:t>
            </a:fld>
            <a:endParaRPr lang="mr-IN"/>
          </a:p>
        </p:txBody>
      </p:sp>
      <p:sp>
        <p:nvSpPr>
          <p:cNvPr id="7" name="Espace réservé du pied de page 4"/>
          <p:cNvSpPr>
            <a:spLocks noGrp="1"/>
          </p:cNvSpPr>
          <p:nvPr>
            <p:ph type="ftr" sz="quarter" idx="11"/>
          </p:nvPr>
        </p:nvSpPr>
        <p:spPr bwMode="auto"/>
        <p:txBody>
          <a:bodyPr/>
          <a:lstStyle/>
          <a:p>
            <a:pPr>
              <a:defRPr/>
            </a:pPr>
            <a:r>
              <a:rPr lang="fr-FR"/>
              <a:t>ISAE-SUPAERO</a:t>
            </a:r>
            <a:endParaRPr/>
          </a:p>
        </p:txBody>
      </p:sp>
      <p:sp>
        <p:nvSpPr>
          <p:cNvPr id="8" name="Espace réservé du numéro de diapositive 5"/>
          <p:cNvSpPr>
            <a:spLocks noGrp="1"/>
          </p:cNvSpPr>
          <p:nvPr>
            <p:ph type="sldNum" sz="quarter" idx="12"/>
          </p:nvPr>
        </p:nvSpPr>
        <p:spPr bwMode="auto"/>
        <p:txBody>
          <a:bodyPr vert="horz" lIns="91440" tIns="45720" rIns="91440" bIns="45720" rtlCol="0" anchor="ctr"/>
          <a:lstStyle>
            <a:lvl1pPr algn="r">
              <a:defRPr lang="uk-UA" smtClean="0"/>
            </a:lvl1pPr>
          </a:lstStyle>
          <a:p>
            <a:fld id="{5E177536-18BF-1743-A360-A4663329E682}" type="slidenum">
              <a:rPr lang="uk-UA" smtClean="0"/>
              <a:pPr/>
              <a:t>‹N°›</a:t>
            </a:fld>
            <a:endParaRPr lang="uk-UA"/>
          </a:p>
        </p:txBody>
      </p:sp>
      <p:pic>
        <p:nvPicPr>
          <p:cNvPr id="9" name="Image 6"/>
          <p:cNvPicPr/>
          <p:nvPr userDrawn="1"/>
        </p:nvPicPr>
        <p:blipFill>
          <a:blip r:embed="rId3"/>
          <a:stretch/>
        </p:blipFill>
        <p:spPr bwMode="auto">
          <a:xfrm>
            <a:off x="9626600" y="5185847"/>
            <a:ext cx="1716329" cy="1041502"/>
          </a:xfrm>
          <a:prstGeom prst="rect">
            <a:avLst/>
          </a:prstGeom>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Fin">
    <p:bg>
      <p:bgPr>
        <a:blipFill>
          <a:blip r:embed="rId2"/>
          <a:srcRect t="9677" b="9676"/>
          <a:stretch/>
        </a:blipFill>
        <a:effectLst/>
      </p:bgPr>
    </p:bg>
    <p:spTree>
      <p:nvGrpSpPr>
        <p:cNvPr id="1" name=""/>
        <p:cNvGrpSpPr/>
        <p:nvPr/>
      </p:nvGrpSpPr>
      <p:grpSpPr bwMode="auto">
        <a:xfrm>
          <a:off x="0" y="0"/>
          <a:ext cx="0" cy="0"/>
          <a:chOff x="0" y="0"/>
          <a:chExt cx="0" cy="0"/>
        </a:xfrm>
      </p:grpSpPr>
      <p:pic>
        <p:nvPicPr>
          <p:cNvPr id="4" name="Image 6"/>
          <p:cNvPicPr/>
          <p:nvPr userDrawn="1"/>
        </p:nvPicPr>
        <p:blipFill>
          <a:blip r:embed="rId3"/>
          <a:stretch/>
        </p:blipFill>
        <p:spPr bwMode="auto">
          <a:xfrm>
            <a:off x="9626600" y="5084247"/>
            <a:ext cx="1716329" cy="1041502"/>
          </a:xfrm>
          <a:prstGeom prst="rect">
            <a:avLst/>
          </a:prstGeom>
          <a:ln>
            <a:noFill/>
          </a:ln>
        </p:spPr>
      </p:pic>
      <p:sp>
        <p:nvSpPr>
          <p:cNvPr id="5" name="ZoneTexte 6"/>
          <p:cNvSpPr>
            <a:spLocks noAdjustHandles="1"/>
          </p:cNvSpPr>
          <p:nvPr userDrawn="1"/>
        </p:nvSpPr>
        <p:spPr bwMode="auto">
          <a:xfrm>
            <a:off x="1206500" y="3225800"/>
            <a:ext cx="3874779" cy="1138773"/>
          </a:xfrm>
          <a:prstGeom prst="rect">
            <a:avLst/>
          </a:prstGeom>
          <a:noFill/>
        </p:spPr>
        <p:txBody>
          <a:bodyPr wrap="none" rtlCol="0">
            <a:spAutoFit/>
          </a:bodyPr>
          <a:lstStyle/>
          <a:p>
            <a:pPr>
              <a:defRPr/>
            </a:pPr>
            <a:r>
              <a:rPr lang="fr-FR" sz="1200" b="1" dirty="0">
                <a:solidFill>
                  <a:srgbClr val="122372"/>
                </a:solidFill>
                <a:latin typeface="Arial"/>
                <a:ea typeface="Arial"/>
              </a:rPr>
              <a:t>Institut Supérieur de l’Aéronautique et de l’Espace</a:t>
            </a:r>
            <a:endParaRPr dirty="0"/>
          </a:p>
          <a:p>
            <a:pPr>
              <a:spcBef>
                <a:spcPts val="0"/>
              </a:spcBef>
              <a:defRPr/>
            </a:pPr>
            <a:endParaRPr lang="fr-FR" sz="400" dirty="0">
              <a:solidFill>
                <a:srgbClr val="B1B3B4"/>
              </a:solidFill>
              <a:latin typeface="Arial"/>
              <a:ea typeface="Arial"/>
            </a:endParaRPr>
          </a:p>
          <a:p>
            <a:pPr>
              <a:spcBef>
                <a:spcPts val="0"/>
              </a:spcBef>
              <a:defRPr/>
            </a:pPr>
            <a:r>
              <a:rPr lang="fr-FR" sz="1200" dirty="0">
                <a:solidFill>
                  <a:srgbClr val="B1B3B4"/>
                </a:solidFill>
                <a:latin typeface="Arial"/>
                <a:ea typeface="Arial"/>
              </a:rPr>
              <a:t>10, avenue Edouard Belin </a:t>
            </a:r>
            <a:r>
              <a:rPr lang="mr-IN" sz="1200" dirty="0">
                <a:solidFill>
                  <a:srgbClr val="B1B3B4"/>
                </a:solidFill>
                <a:latin typeface="Arial"/>
                <a:ea typeface="Arial"/>
              </a:rPr>
              <a:t>–</a:t>
            </a:r>
            <a:r>
              <a:rPr lang="fr-FR" sz="1200" dirty="0">
                <a:solidFill>
                  <a:srgbClr val="B1B3B4"/>
                </a:solidFill>
                <a:latin typeface="Arial"/>
                <a:ea typeface="Arial"/>
              </a:rPr>
              <a:t> BP 54032</a:t>
            </a:r>
            <a:endParaRPr dirty="0"/>
          </a:p>
          <a:p>
            <a:pPr>
              <a:spcBef>
                <a:spcPts val="0"/>
              </a:spcBef>
              <a:defRPr/>
            </a:pPr>
            <a:r>
              <a:rPr lang="fr-FR" sz="1200" dirty="0">
                <a:solidFill>
                  <a:srgbClr val="B1B3B4"/>
                </a:solidFill>
                <a:latin typeface="Arial"/>
                <a:ea typeface="Arial"/>
              </a:rPr>
              <a:t>31055 Toulouse Cedex 4 </a:t>
            </a:r>
            <a:r>
              <a:rPr lang="mr-IN" sz="1200" dirty="0">
                <a:solidFill>
                  <a:srgbClr val="B1B3B4"/>
                </a:solidFill>
                <a:latin typeface="Arial"/>
                <a:ea typeface="Arial"/>
              </a:rPr>
              <a:t>–</a:t>
            </a:r>
            <a:r>
              <a:rPr lang="fr-FR" sz="1200" dirty="0">
                <a:solidFill>
                  <a:srgbClr val="B1B3B4"/>
                </a:solidFill>
                <a:latin typeface="Arial"/>
                <a:ea typeface="Arial"/>
              </a:rPr>
              <a:t> France</a:t>
            </a:r>
            <a:endParaRPr dirty="0"/>
          </a:p>
          <a:p>
            <a:pPr>
              <a:spcBef>
                <a:spcPts val="0"/>
              </a:spcBef>
              <a:defRPr/>
            </a:pPr>
            <a:r>
              <a:rPr lang="fr-FR" sz="1200" dirty="0">
                <a:solidFill>
                  <a:srgbClr val="B1B3B4"/>
                </a:solidFill>
                <a:latin typeface="Arial"/>
                <a:ea typeface="Arial"/>
              </a:rPr>
              <a:t>T +33 5 61 33 80 80</a:t>
            </a:r>
            <a:endParaRPr dirty="0"/>
          </a:p>
          <a:p>
            <a:pPr>
              <a:spcBef>
                <a:spcPts val="0"/>
              </a:spcBef>
              <a:defRPr/>
            </a:pPr>
            <a:endParaRPr lang="fr-FR" sz="400" dirty="0"/>
          </a:p>
          <a:p>
            <a:pPr>
              <a:defRPr/>
            </a:pPr>
            <a:r>
              <a:rPr lang="fr-FR" sz="1200" b="1" dirty="0">
                <a:solidFill>
                  <a:srgbClr val="FFED00"/>
                </a:solidFill>
                <a:latin typeface="Georgia"/>
                <a:ea typeface="Georgia"/>
              </a:rPr>
              <a:t>www.isae-supaero.fr</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 preserve="1" userDrawn="1">
  <p:cSld name="1_Titre et contenu">
    <p:spTree>
      <p:nvGrpSpPr>
        <p:cNvPr id="1" name=""/>
        <p:cNvGrpSpPr/>
        <p:nvPr/>
      </p:nvGrpSpPr>
      <p:grpSpPr bwMode="auto">
        <a:xfrm>
          <a:off x="0" y="0"/>
          <a:ext cx="0" cy="0"/>
          <a:chOff x="0" y="0"/>
          <a:chExt cx="0" cy="0"/>
        </a:xfrm>
      </p:grpSpPr>
      <p:sp>
        <p:nvSpPr>
          <p:cNvPr id="4" name="Forme libre 19"/>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5" name="Grouper 12"/>
          <p:cNvGrpSpPr/>
          <p:nvPr userDrawn="1"/>
        </p:nvGrpSpPr>
        <p:grpSpPr bwMode="auto">
          <a:xfrm>
            <a:off x="0" y="-12825"/>
            <a:ext cx="12194324" cy="944400"/>
            <a:chOff x="0" y="-12825"/>
            <a:chExt cx="12194324" cy="944400"/>
          </a:xfrm>
        </p:grpSpPr>
        <p:grpSp>
          <p:nvGrpSpPr>
            <p:cNvPr id="6" name="Grouper 13"/>
            <p:cNvGrpSpPr/>
            <p:nvPr userDrawn="1"/>
          </p:nvGrpSpPr>
          <p:grpSpPr bwMode="auto">
            <a:xfrm>
              <a:off x="0" y="126890"/>
              <a:ext cx="1130139" cy="804685"/>
              <a:chOff x="0" y="126890"/>
              <a:chExt cx="1130139" cy="804685"/>
            </a:xfrm>
          </p:grpSpPr>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10" name="Titre 1"/>
          <p:cNvSpPr>
            <a:spLocks noGrp="1"/>
          </p:cNvSpPr>
          <p:nvPr>
            <p:ph type="title"/>
          </p:nvPr>
        </p:nvSpPr>
        <p:spPr bwMode="auto"/>
        <p:txBody>
          <a:bodyPr/>
          <a:lstStyle>
            <a:lvl1pPr>
              <a:defRPr>
                <a:solidFill>
                  <a:schemeClr val="tx1"/>
                </a:solidFill>
                <a:latin typeface="Arial"/>
                <a:ea typeface="Arial"/>
              </a:defRPr>
            </a:lvl1pPr>
          </a:lstStyle>
          <a:p>
            <a:pPr>
              <a:defRPr/>
            </a:pPr>
            <a:r>
              <a:rPr lang="fr-FR" dirty="0"/>
              <a:t>Cliquez et modifiez le titre</a:t>
            </a:r>
            <a:endParaRPr dirty="0"/>
          </a:p>
        </p:txBody>
      </p:sp>
      <p:sp>
        <p:nvSpPr>
          <p:cNvPr id="11" name="Espace réservé du contenu 2"/>
          <p:cNvSpPr>
            <a:spLocks noGrp="1"/>
          </p:cNvSpPr>
          <p:nvPr>
            <p:ph idx="1"/>
          </p:nvPr>
        </p:nvSpPr>
        <p:spPr bwMode="auto">
          <a:xfrm>
            <a:off x="465513" y="1535723"/>
            <a:ext cx="11492025" cy="4641240"/>
          </a:xfrm>
        </p:spPr>
        <p:txBody>
          <a:bodyPr>
            <a:normAutofit/>
          </a:bodyPr>
          <a:lstStyle>
            <a:lvl1pPr>
              <a:defRPr sz="3600">
                <a:latin typeface="Arial"/>
                <a:ea typeface="Arial"/>
              </a:defRPr>
            </a:lvl1pPr>
            <a:lvl2pPr>
              <a:defRPr sz="3200">
                <a:latin typeface="Arial"/>
                <a:ea typeface="Arial"/>
              </a:defRPr>
            </a:lvl2pPr>
            <a:lvl3pPr>
              <a:defRPr sz="2800">
                <a:latin typeface="Arial"/>
                <a:ea typeface="Arial"/>
              </a:defRPr>
            </a:lvl3pPr>
            <a:lvl4pPr>
              <a:defRPr sz="2400">
                <a:latin typeface="Arial"/>
                <a:ea typeface="Arial"/>
              </a:defRPr>
            </a:lvl4pPr>
            <a:lvl5pPr>
              <a:defRPr sz="2400">
                <a:latin typeface="Arial"/>
                <a:ea typeface="Arial"/>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 name="Espace réservé de la date 3"/>
          <p:cNvSpPr>
            <a:spLocks noGrp="1"/>
          </p:cNvSpPr>
          <p:nvPr>
            <p:ph type="dt" sz="half" idx="10"/>
          </p:nvPr>
        </p:nvSpPr>
        <p:spPr bwMode="auto">
          <a:xfrm>
            <a:off x="0" y="6597352"/>
            <a:ext cx="2743200" cy="260648"/>
          </a:xfrm>
        </p:spPr>
        <p:txBody>
          <a:bodyPr/>
          <a:lstStyle>
            <a:lvl1pPr>
              <a:defRPr>
                <a:latin typeface="Arial"/>
                <a:ea typeface="Arial"/>
              </a:defRPr>
            </a:lvl1pPr>
          </a:lstStyle>
          <a:p>
            <a:pPr>
              <a:defRPr/>
            </a:pPr>
            <a:fld id="{4F63FD26-D545-024D-9777-A0198319D86D}" type="datetime1">
              <a:rPr lang="fr-FR" smtClean="0"/>
              <a:t>04/10/2024</a:t>
            </a:fld>
            <a:endParaRPr lang="fr-FR"/>
          </a:p>
        </p:txBody>
      </p:sp>
      <p:sp>
        <p:nvSpPr>
          <p:cNvPr id="13" name="Espace réservé du pied de page 4"/>
          <p:cNvSpPr>
            <a:spLocks noGrp="1"/>
          </p:cNvSpPr>
          <p:nvPr>
            <p:ph type="ftr" sz="quarter" idx="11"/>
          </p:nvPr>
        </p:nvSpPr>
        <p:spPr bwMode="auto">
          <a:xfrm>
            <a:off x="4038600" y="6597352"/>
            <a:ext cx="4114800" cy="239644"/>
          </a:xfrm>
        </p:spPr>
        <p:txBody>
          <a:bodyPr/>
          <a:lstStyle>
            <a:lvl1pPr>
              <a:defRPr>
                <a:latin typeface="Arial"/>
                <a:ea typeface="Arial"/>
              </a:defRPr>
            </a:lvl1p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597352"/>
            <a:ext cx="2743200" cy="242208"/>
          </a:xfrm>
        </p:spPr>
        <p:txBody>
          <a:bodyPr/>
          <a:lstStyle>
            <a:lvl1pPr>
              <a:defRPr>
                <a:latin typeface="Arial"/>
                <a:ea typeface="Arial"/>
              </a:defRPr>
            </a:lvl1pPr>
          </a:lstStyle>
          <a:p>
            <a:pPr>
              <a:defRPr/>
            </a:pPr>
            <a:fld id="{5E177536-18BF-1743-A360-A4663329E682}" type="slidenum">
              <a:t>‹N°›</a:t>
            </a:fld>
            <a:endParaRPr lang="fr-FR"/>
          </a:p>
        </p:txBody>
      </p:sp>
      <p:pic>
        <p:nvPicPr>
          <p:cNvPr id="15" name="Image 12"/>
          <p:cNvPicPr/>
          <p:nvPr userDrawn="1"/>
        </p:nvPicPr>
        <p:blipFill>
          <a:blip r:embed="rId2"/>
          <a:stretch/>
        </p:blipFill>
        <p:spPr bwMode="auto">
          <a:xfrm>
            <a:off x="229531" y="335618"/>
            <a:ext cx="530280" cy="318600"/>
          </a:xfrm>
          <a:prstGeom prst="rect">
            <a:avLst/>
          </a:prstGeom>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obj" preserve="1" userDrawn="1">
  <p:cSld name="2_Titre et contenu">
    <p:spTree>
      <p:nvGrpSpPr>
        <p:cNvPr id="1" name=""/>
        <p:cNvGrpSpPr/>
        <p:nvPr/>
      </p:nvGrpSpPr>
      <p:grpSpPr bwMode="auto">
        <a:xfrm>
          <a:off x="0" y="0"/>
          <a:ext cx="0" cy="0"/>
          <a:chOff x="0" y="0"/>
          <a:chExt cx="0" cy="0"/>
        </a:xfrm>
      </p:grpSpPr>
      <p:grpSp>
        <p:nvGrpSpPr>
          <p:cNvPr id="4" name="Grouper 12"/>
          <p:cNvGrpSpPr/>
          <p:nvPr userDrawn="1"/>
        </p:nvGrpSpPr>
        <p:grpSpPr bwMode="auto">
          <a:xfrm>
            <a:off x="0" y="-12825"/>
            <a:ext cx="12194324" cy="944400"/>
            <a:chOff x="0" y="-12825"/>
            <a:chExt cx="12194324" cy="944400"/>
          </a:xfrm>
        </p:grpSpPr>
        <p:grpSp>
          <p:nvGrpSpPr>
            <p:cNvPr id="5" name="Grouper 13"/>
            <p:cNvGrpSpPr/>
            <p:nvPr userDrawn="1"/>
          </p:nvGrpSpPr>
          <p:grpSpPr bwMode="auto">
            <a:xfrm>
              <a:off x="0" y="2358"/>
              <a:ext cx="1130139" cy="929217"/>
              <a:chOff x="0" y="2358"/>
              <a:chExt cx="1130139" cy="929217"/>
            </a:xfrm>
          </p:grpSpPr>
          <p:sp>
            <p:nvSpPr>
              <p:cNvPr id="6" name="Forme libre 17"/>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0" name="Titre 1"/>
          <p:cNvSpPr>
            <a:spLocks noGrp="1"/>
          </p:cNvSpPr>
          <p:nvPr>
            <p:ph type="title"/>
          </p:nvPr>
        </p:nvSpPr>
        <p:spPr bwMode="auto"/>
        <p:txBody>
          <a:bodyPr/>
          <a:lstStyle>
            <a:lvl1pPr>
              <a:defRPr b="1">
                <a:solidFill>
                  <a:schemeClr val="tx1"/>
                </a:solidFill>
              </a:defRPr>
            </a:lvl1pPr>
          </a:lstStyle>
          <a:p>
            <a:pPr>
              <a:defRPr/>
            </a:pPr>
            <a:r>
              <a:rPr lang="fr-FR"/>
              <a:t>Cliquez et modifiez le titre</a:t>
            </a:r>
            <a:endParaRPr/>
          </a:p>
        </p:txBody>
      </p:sp>
      <p:sp>
        <p:nvSpPr>
          <p:cNvPr id="11" name="Espace réservé du contenu 2"/>
          <p:cNvSpPr>
            <a:spLocks noGrp="1"/>
          </p:cNvSpPr>
          <p:nvPr>
            <p:ph idx="1"/>
          </p:nvPr>
        </p:nvSpPr>
        <p:spPr bwMode="auto">
          <a:xfrm>
            <a:off x="465513" y="1535723"/>
            <a:ext cx="11492025" cy="4641240"/>
          </a:xfrm>
        </p:spPr>
        <p:txBody>
          <a:bodyPr>
            <a:normAutofit/>
          </a:bodyPr>
          <a:lstStyle>
            <a:lvl1pPr>
              <a:defRPr sz="3600"/>
            </a:lvl1pPr>
            <a:lvl2pPr>
              <a:defRPr sz="3200"/>
            </a:lvl2pPr>
            <a:lvl3pPr>
              <a:defRPr sz="2800"/>
            </a:lvl3pPr>
            <a:lvl4pPr>
              <a:defRPr sz="2400"/>
            </a:lvl4pPr>
            <a:lvl5pPr>
              <a:defRPr sz="2400"/>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 name="Espace réservé de la date 3"/>
          <p:cNvSpPr>
            <a:spLocks noGrp="1"/>
          </p:cNvSpPr>
          <p:nvPr>
            <p:ph type="dt" sz="half" idx="10"/>
          </p:nvPr>
        </p:nvSpPr>
        <p:spPr bwMode="auto">
          <a:xfrm>
            <a:off x="0" y="6597352"/>
            <a:ext cx="2743200" cy="260648"/>
          </a:xfrm>
        </p:spPr>
        <p:txBody>
          <a:bodyPr/>
          <a:lstStyle/>
          <a:p>
            <a:pPr>
              <a:defRPr/>
            </a:pPr>
            <a:fld id="{365F4A79-01CE-314B-A781-D79399626C66}" type="datetime1">
              <a:rPr lang="fr-FR" smtClean="0"/>
              <a:t>04/10/2024</a:t>
            </a:fld>
            <a:endParaRPr lang="fr-FR"/>
          </a:p>
        </p:txBody>
      </p:sp>
      <p:sp>
        <p:nvSpPr>
          <p:cNvPr id="13" name="Espace réservé du pied de page 4"/>
          <p:cNvSpPr>
            <a:spLocks noGrp="1"/>
          </p:cNvSpPr>
          <p:nvPr>
            <p:ph type="ftr" sz="quarter" idx="11"/>
          </p:nvPr>
        </p:nvSpPr>
        <p:spPr bwMode="auto">
          <a:xfrm>
            <a:off x="4038600" y="6597352"/>
            <a:ext cx="4114800" cy="239644"/>
          </a:xfrm>
        </p:spPr>
        <p:txBody>
          <a:body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597352"/>
            <a:ext cx="2743200" cy="242208"/>
          </a:xfrm>
        </p:spPr>
        <p:txBody>
          <a:bodyPr/>
          <a:lstStyle/>
          <a:p>
            <a:pPr>
              <a:defRPr/>
            </a:pPr>
            <a:fld id="{5E177536-18BF-1743-A360-A4663329E682}" type="slidenum">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3_Titre et contenu">
    <p:spTree>
      <p:nvGrpSpPr>
        <p:cNvPr id="1" name=""/>
        <p:cNvGrpSpPr/>
        <p:nvPr/>
      </p:nvGrpSpPr>
      <p:grpSpPr bwMode="auto">
        <a:xfrm>
          <a:off x="0" y="0"/>
          <a:ext cx="0" cy="0"/>
          <a:chOff x="0" y="0"/>
          <a:chExt cx="0" cy="0"/>
        </a:xfrm>
      </p:grpSpPr>
      <p:grpSp>
        <p:nvGrpSpPr>
          <p:cNvPr id="4" name="Grouper 12"/>
          <p:cNvGrpSpPr/>
          <p:nvPr userDrawn="1"/>
        </p:nvGrpSpPr>
        <p:grpSpPr bwMode="auto">
          <a:xfrm>
            <a:off x="0" y="-12825"/>
            <a:ext cx="12194324" cy="944400"/>
            <a:chOff x="0" y="-12825"/>
            <a:chExt cx="12194324" cy="944400"/>
          </a:xfrm>
        </p:grpSpPr>
        <p:grpSp>
          <p:nvGrpSpPr>
            <p:cNvPr id="5" name="Grouper 13"/>
            <p:cNvGrpSpPr/>
            <p:nvPr userDrawn="1"/>
          </p:nvGrpSpPr>
          <p:grpSpPr bwMode="auto">
            <a:xfrm>
              <a:off x="0" y="2358"/>
              <a:ext cx="1130139" cy="929217"/>
              <a:chOff x="0" y="2358"/>
              <a:chExt cx="1130139" cy="929217"/>
            </a:xfrm>
          </p:grpSpPr>
          <p:sp>
            <p:nvSpPr>
              <p:cNvPr id="6" name="Forme libre 17"/>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0" name="Titre 1"/>
          <p:cNvSpPr>
            <a:spLocks noGrp="1"/>
          </p:cNvSpPr>
          <p:nvPr>
            <p:ph type="title"/>
          </p:nvPr>
        </p:nvSpPr>
        <p:spPr bwMode="auto"/>
        <p:txBody>
          <a:bodyPr/>
          <a:lstStyle>
            <a:lvl1pPr>
              <a:defRPr b="1">
                <a:solidFill>
                  <a:schemeClr val="tx1"/>
                </a:solidFill>
              </a:defRPr>
            </a:lvl1pPr>
          </a:lstStyle>
          <a:p>
            <a:pPr>
              <a:defRPr/>
            </a:pPr>
            <a:r>
              <a:rPr lang="fr-FR"/>
              <a:t>Cliquez et modifiez le titre</a:t>
            </a:r>
            <a:endParaRPr/>
          </a:p>
        </p:txBody>
      </p:sp>
      <p:sp>
        <p:nvSpPr>
          <p:cNvPr id="11" name="Espace réservé du contenu 2"/>
          <p:cNvSpPr>
            <a:spLocks noGrp="1"/>
          </p:cNvSpPr>
          <p:nvPr>
            <p:ph idx="1"/>
          </p:nvPr>
        </p:nvSpPr>
        <p:spPr bwMode="auto">
          <a:xfrm>
            <a:off x="5453743" y="1535723"/>
            <a:ext cx="6503795" cy="5079390"/>
          </a:xfrm>
        </p:spPr>
        <p:txBody>
          <a:bodyPr>
            <a:normAutofit/>
          </a:bodyPr>
          <a:lstStyle>
            <a:lvl1pPr marL="0" indent="0">
              <a:buFont typeface="+mj-lt"/>
              <a:buNone/>
              <a:defRPr sz="2400" b="0">
                <a:latin typeface="Arial Narrow"/>
                <a:ea typeface="Arial Narrow"/>
              </a:defRPr>
            </a:lvl1pPr>
            <a:lvl2pPr marL="914400" indent="-457200">
              <a:buFont typeface="+mj-lt"/>
              <a:buAutoNum type="arabicPeriod"/>
              <a:defRPr sz="2000">
                <a:latin typeface="Arial Narrow"/>
                <a:ea typeface="Arial Narrow"/>
              </a:defRPr>
            </a:lvl2pPr>
            <a:lvl3pPr>
              <a:defRPr sz="2000"/>
            </a:lvl3pPr>
            <a:lvl4pPr>
              <a:defRPr sz="2400"/>
            </a:lvl4pPr>
            <a:lvl5pPr>
              <a:defRPr sz="2400"/>
            </a:lvl5pPr>
          </a:lstStyle>
          <a:p>
            <a:pPr lvl="0">
              <a:defRPr/>
            </a:pPr>
            <a:r>
              <a:rPr lang="fr-FR"/>
              <a:t>Cliquez pour modifier les styles du texte du masque</a:t>
            </a:r>
            <a:endParaRPr/>
          </a:p>
        </p:txBody>
      </p:sp>
      <p:sp>
        <p:nvSpPr>
          <p:cNvPr id="12" name="Espace réservé de la date 3"/>
          <p:cNvSpPr>
            <a:spLocks noGrp="1"/>
          </p:cNvSpPr>
          <p:nvPr>
            <p:ph type="dt" sz="half" idx="10"/>
          </p:nvPr>
        </p:nvSpPr>
        <p:spPr bwMode="auto">
          <a:xfrm>
            <a:off x="0" y="6615113"/>
            <a:ext cx="2743200" cy="242887"/>
          </a:xfrm>
        </p:spPr>
        <p:txBody>
          <a:bodyPr/>
          <a:lstStyle/>
          <a:p>
            <a:pPr>
              <a:defRPr/>
            </a:pPr>
            <a:fld id="{9F26BEB8-DF91-7C40-81BE-B67FA1EA6837}" type="datetime1">
              <a:rPr lang="fr-FR" smtClean="0"/>
              <a:t>04/10/2024</a:t>
            </a:fld>
            <a:endParaRPr lang="fr-FR"/>
          </a:p>
        </p:txBody>
      </p:sp>
      <p:sp>
        <p:nvSpPr>
          <p:cNvPr id="13" name="Espace réservé du pied de page 4"/>
          <p:cNvSpPr>
            <a:spLocks noGrp="1"/>
          </p:cNvSpPr>
          <p:nvPr>
            <p:ph type="ftr" sz="quarter" idx="11"/>
          </p:nvPr>
        </p:nvSpPr>
        <p:spPr bwMode="auto">
          <a:xfrm>
            <a:off x="4038600" y="6615113"/>
            <a:ext cx="4114800" cy="221883"/>
          </a:xfrm>
        </p:spPr>
        <p:txBody>
          <a:body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615113"/>
            <a:ext cx="2743200" cy="224447"/>
          </a:xfrm>
        </p:spPr>
        <p:txBody>
          <a:bodyPr/>
          <a:lstStyle/>
          <a:p>
            <a:pPr>
              <a:defRPr/>
            </a:pPr>
            <a:fld id="{5E177536-18BF-1743-A360-A4663329E682}" type="slidenum">
              <a:t>‹N°›</a:t>
            </a:fld>
            <a:endParaRPr lang="fr-FR"/>
          </a:p>
        </p:txBody>
      </p:sp>
      <p:sp>
        <p:nvSpPr>
          <p:cNvPr id="15" name="Espace réservé du contenu 7"/>
          <p:cNvSpPr>
            <a:spLocks noGrp="1"/>
          </p:cNvSpPr>
          <p:nvPr>
            <p:ph sz="quarter" idx="13"/>
          </p:nvPr>
        </p:nvSpPr>
        <p:spPr bwMode="auto">
          <a:xfrm>
            <a:off x="161318" y="1535722"/>
            <a:ext cx="4939320" cy="1721827"/>
          </a:xfrm>
        </p:spPr>
        <p:txBody>
          <a:bodyPr/>
          <a:lstStyle>
            <a:lvl1pPr marL="0" indent="0">
              <a:buNone/>
              <a:defRPr b="0">
                <a:solidFill>
                  <a:srgbClr val="122372"/>
                </a:solidFill>
                <a:latin typeface="Arial"/>
                <a:ea typeface="Arial"/>
              </a:defRPr>
            </a:lvl1pPr>
          </a:lstStyle>
          <a:p>
            <a:pPr lvl="0">
              <a:defRPr/>
            </a:pPr>
            <a:r>
              <a:rPr lang="fr-FR"/>
              <a:t>Cliquez pour modifier les styles du texte du masque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u contenu 2"/>
          <p:cNvSpPr>
            <a:spLocks noGrp="1"/>
          </p:cNvSpPr>
          <p:nvPr>
            <p:ph sz="half" idx="1"/>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 name="Espace réservé du contenu 3"/>
          <p:cNvSpPr>
            <a:spLocks noGrp="1"/>
          </p:cNvSpPr>
          <p:nvPr>
            <p:ph sz="half" idx="2"/>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e la date 4"/>
          <p:cNvSpPr>
            <a:spLocks noGrp="1"/>
          </p:cNvSpPr>
          <p:nvPr>
            <p:ph type="dt" sz="half" idx="10"/>
          </p:nvPr>
        </p:nvSpPr>
        <p:spPr bwMode="auto"/>
        <p:txBody>
          <a:bodyPr/>
          <a:lstStyle/>
          <a:p>
            <a:pPr>
              <a:defRPr/>
            </a:pPr>
            <a:fld id="{36197DF7-13A5-7745-B53C-4340CA7EB873}" type="datetime1">
              <a:rPr lang="fr-FR" smtClean="0"/>
              <a:t>04/10/2024</a:t>
            </a:fld>
            <a:endParaRPr lang="fr-FR"/>
          </a:p>
        </p:txBody>
      </p:sp>
      <p:sp>
        <p:nvSpPr>
          <p:cNvPr id="8" name="Espace réservé du pied de page 5"/>
          <p:cNvSpPr>
            <a:spLocks noGrp="1"/>
          </p:cNvSpPr>
          <p:nvPr>
            <p:ph type="ftr" sz="quarter" idx="11"/>
          </p:nvPr>
        </p:nvSpPr>
        <p:spPr bwMode="auto"/>
        <p:txBody>
          <a:bodyPr/>
          <a:lstStyle/>
          <a:p>
            <a:pPr>
              <a:defRPr/>
            </a:pPr>
            <a:r>
              <a:rPr lang="fr-FR"/>
              <a:t>ISAE-SUPAERO</a:t>
            </a:r>
            <a:endParaRPr/>
          </a:p>
        </p:txBody>
      </p:sp>
      <p:sp>
        <p:nvSpPr>
          <p:cNvPr id="9" name="Espace réservé du numéro de diapositive 6"/>
          <p:cNvSpPr>
            <a:spLocks noGrp="1"/>
          </p:cNvSpPr>
          <p:nvPr>
            <p:ph type="sldNum" sz="quarter" idx="12"/>
          </p:nvPr>
        </p:nvSpPr>
        <p:spPr bwMode="auto"/>
        <p:txBody>
          <a:bodyPr/>
          <a:lstStyle/>
          <a:p>
            <a:pPr>
              <a:defRPr/>
            </a:pPr>
            <a:fld id="{5E177536-18BF-1743-A360-A4663329E682}" type="slidenum">
              <a:t>‹N°›</a:t>
            </a:fld>
            <a:endParaRPr lang="fr-FR"/>
          </a:p>
        </p:txBody>
      </p:sp>
      <p:grpSp>
        <p:nvGrpSpPr>
          <p:cNvPr id="10" name="Grouper 7"/>
          <p:cNvGrpSpPr/>
          <p:nvPr userDrawn="1"/>
        </p:nvGrpSpPr>
        <p:grpSpPr bwMode="auto">
          <a:xfrm>
            <a:off x="0" y="-12825"/>
            <a:ext cx="12194324" cy="944400"/>
            <a:chOff x="0" y="-12825"/>
            <a:chExt cx="12194324" cy="944400"/>
          </a:xfrm>
        </p:grpSpPr>
        <p:grpSp>
          <p:nvGrpSpPr>
            <p:cNvPr id="11" name="Grouper 8"/>
            <p:cNvGrpSpPr/>
            <p:nvPr userDrawn="1"/>
          </p:nvGrpSpPr>
          <p:grpSpPr bwMode="auto">
            <a:xfrm>
              <a:off x="0" y="2358"/>
              <a:ext cx="1130139" cy="929217"/>
              <a:chOff x="0" y="2358"/>
              <a:chExt cx="1130139" cy="929217"/>
            </a:xfrm>
          </p:grpSpPr>
          <p:sp>
            <p:nvSpPr>
              <p:cNvPr id="12" name="Forme libre 10"/>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 name="Forme libre 11"/>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4" name="Forme libre 12"/>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5" name="Forme libre 9"/>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1658938" y="-41275"/>
            <a:ext cx="10515600" cy="970521"/>
          </a:xfrm>
        </p:spPr>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6" name="Espace réservé du contenu 3"/>
          <p:cNvSpPr>
            <a:spLocks noGrp="1"/>
          </p:cNvSpPr>
          <p:nvPr>
            <p:ph sz="half" idx="2"/>
          </p:nvPr>
        </p:nvSpPr>
        <p:spPr bwMode="auto">
          <a:xfrm>
            <a:off x="839788" y="2505074"/>
            <a:ext cx="5157787"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8" name="Espace réservé du contenu 5"/>
          <p:cNvSpPr>
            <a:spLocks noGrp="1"/>
          </p:cNvSpPr>
          <p:nvPr>
            <p:ph sz="quarter" idx="4"/>
          </p:nvPr>
        </p:nvSpPr>
        <p:spPr bwMode="auto">
          <a:xfrm>
            <a:off x="6172200" y="2505074"/>
            <a:ext cx="5183188"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 name="Espace réservé de la date 6"/>
          <p:cNvSpPr>
            <a:spLocks noGrp="1"/>
          </p:cNvSpPr>
          <p:nvPr>
            <p:ph type="dt" sz="half" idx="10"/>
          </p:nvPr>
        </p:nvSpPr>
        <p:spPr bwMode="auto"/>
        <p:txBody>
          <a:bodyPr/>
          <a:lstStyle/>
          <a:p>
            <a:pPr>
              <a:defRPr/>
            </a:pPr>
            <a:fld id="{F1717C3E-BFFB-AB4A-9821-85973A084ED3}" type="datetime1">
              <a:rPr lang="fr-FR" smtClean="0"/>
              <a:t>04/10/2024</a:t>
            </a:fld>
            <a:endParaRPr lang="fr-FR"/>
          </a:p>
        </p:txBody>
      </p:sp>
      <p:sp>
        <p:nvSpPr>
          <p:cNvPr id="10" name="Espace réservé du pied de page 7"/>
          <p:cNvSpPr>
            <a:spLocks noGrp="1"/>
          </p:cNvSpPr>
          <p:nvPr>
            <p:ph type="ftr" sz="quarter" idx="11"/>
          </p:nvPr>
        </p:nvSpPr>
        <p:spPr bwMode="auto"/>
        <p:txBody>
          <a:bodyPr/>
          <a:lstStyle/>
          <a:p>
            <a:pPr>
              <a:defRPr/>
            </a:pPr>
            <a:r>
              <a:rPr lang="fr-FR"/>
              <a:t>ISAE-SUPAERO</a:t>
            </a:r>
            <a:endParaRPr/>
          </a:p>
        </p:txBody>
      </p:sp>
      <p:sp>
        <p:nvSpPr>
          <p:cNvPr id="11" name="Espace réservé du numéro de diapositive 8"/>
          <p:cNvSpPr>
            <a:spLocks noGrp="1"/>
          </p:cNvSpPr>
          <p:nvPr>
            <p:ph type="sldNum" sz="quarter" idx="12"/>
          </p:nvPr>
        </p:nvSpPr>
        <p:spPr bwMode="auto"/>
        <p:txBody>
          <a:bodyPr/>
          <a:lstStyle/>
          <a:p>
            <a:pPr>
              <a:defRPr/>
            </a:pPr>
            <a:fld id="{5E177536-18BF-1743-A360-A4663329E682}" type="slidenum">
              <a:t>‹N°›</a:t>
            </a:fld>
            <a:endParaRPr lang="fr-FR"/>
          </a:p>
        </p:txBody>
      </p:sp>
      <p:grpSp>
        <p:nvGrpSpPr>
          <p:cNvPr id="12" name="Grouper 9"/>
          <p:cNvGrpSpPr/>
          <p:nvPr userDrawn="1"/>
        </p:nvGrpSpPr>
        <p:grpSpPr bwMode="auto">
          <a:xfrm>
            <a:off x="0" y="-12825"/>
            <a:ext cx="12194324" cy="944400"/>
            <a:chOff x="0" y="-12825"/>
            <a:chExt cx="12194324" cy="944400"/>
          </a:xfrm>
        </p:grpSpPr>
        <p:grpSp>
          <p:nvGrpSpPr>
            <p:cNvPr id="13" name="Grouper 10"/>
            <p:cNvGrpSpPr/>
            <p:nvPr userDrawn="1"/>
          </p:nvGrpSpPr>
          <p:grpSpPr bwMode="auto">
            <a:xfrm>
              <a:off x="0" y="2358"/>
              <a:ext cx="1130139" cy="929217"/>
              <a:chOff x="0" y="2358"/>
              <a:chExt cx="1130139" cy="929217"/>
            </a:xfrm>
          </p:grpSpPr>
          <p:sp>
            <p:nvSpPr>
              <p:cNvPr id="14" name="Forme libre 12"/>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5" name="Forme libre 13"/>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 name="Forme libre 14"/>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7" name="Forme libre 11"/>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e la date 2"/>
          <p:cNvSpPr>
            <a:spLocks noGrp="1"/>
          </p:cNvSpPr>
          <p:nvPr>
            <p:ph type="dt" sz="half" idx="10"/>
          </p:nvPr>
        </p:nvSpPr>
        <p:spPr bwMode="auto"/>
        <p:txBody>
          <a:bodyPr/>
          <a:lstStyle/>
          <a:p>
            <a:pPr>
              <a:defRPr/>
            </a:pPr>
            <a:fld id="{54E07C19-7494-AB40-88A2-03646C361831}" type="datetime1">
              <a:rPr lang="fr-FR" smtClean="0"/>
              <a:t>04/10/2024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944400"/>
            <a:chOff x="0" y="-12825"/>
            <a:chExt cx="12194324" cy="944400"/>
          </a:xfrm>
        </p:grpSpPr>
        <p:grpSp>
          <p:nvGrpSpPr>
            <p:cNvPr id="9" name="Grouper 6"/>
            <p:cNvGrpSpPr/>
            <p:nvPr userDrawn="1"/>
          </p:nvGrpSpPr>
          <p:grpSpPr bwMode="auto">
            <a:xfrm>
              <a:off x="0" y="2358"/>
              <a:ext cx="1130139" cy="929217"/>
              <a:chOff x="0" y="2358"/>
              <a:chExt cx="1130139" cy="929217"/>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1_Titre seul">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e la date 2"/>
          <p:cNvSpPr>
            <a:spLocks noGrp="1"/>
          </p:cNvSpPr>
          <p:nvPr>
            <p:ph type="dt" sz="half" idx="10"/>
          </p:nvPr>
        </p:nvSpPr>
        <p:spPr bwMode="auto"/>
        <p:txBody>
          <a:bodyPr/>
          <a:lstStyle/>
          <a:p>
            <a:pPr>
              <a:defRPr/>
            </a:pPr>
            <a:fld id="{66A50F50-C42D-9948-8325-3F49C89E1103}" type="datetime1">
              <a:rPr lang="fr-FR" smtClean="0"/>
              <a:t>04/10/2024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6460415"/>
            <a:chOff x="0" y="-12825"/>
            <a:chExt cx="12194324" cy="6460415"/>
          </a:xfrm>
        </p:grpSpPr>
        <p:grpSp>
          <p:nvGrpSpPr>
            <p:cNvPr id="9" name="Grouper 6"/>
            <p:cNvGrpSpPr/>
            <p:nvPr userDrawn="1"/>
          </p:nvGrpSpPr>
          <p:grpSpPr bwMode="auto">
            <a:xfrm>
              <a:off x="0" y="2358"/>
              <a:ext cx="6887395" cy="6445232"/>
              <a:chOff x="0" y="2358"/>
              <a:chExt cx="6887395" cy="6445232"/>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5" name="Forme libre 9">
                <a:extLst>
                  <a:ext uri="{FF2B5EF4-FFF2-40B4-BE49-F238E27FC236}">
                    <a16:creationId xmlns:a16="http://schemas.microsoft.com/office/drawing/2014/main" id="{778AB88D-C9F2-704E-9935-55F772E74010}"/>
                  </a:ext>
                </a:extLst>
              </p:cNvPr>
              <p:cNvSpPr/>
              <p:nvPr userDrawn="1"/>
            </p:nvSpPr>
            <p:spPr bwMode="auto">
              <a:xfrm>
                <a:off x="655760" y="326983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7" name="Forme libre 9">
                <a:extLst>
                  <a:ext uri="{FF2B5EF4-FFF2-40B4-BE49-F238E27FC236}">
                    <a16:creationId xmlns:a16="http://schemas.microsoft.com/office/drawing/2014/main" id="{BA997941-F629-3549-A025-62EB38728F1A}"/>
                  </a:ext>
                </a:extLst>
              </p:cNvPr>
              <p:cNvSpPr/>
              <p:nvPr userDrawn="1"/>
            </p:nvSpPr>
            <p:spPr bwMode="auto">
              <a:xfrm>
                <a:off x="664626" y="600462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8" name="Forme libre 9">
                <a:extLst>
                  <a:ext uri="{FF2B5EF4-FFF2-40B4-BE49-F238E27FC236}">
                    <a16:creationId xmlns:a16="http://schemas.microsoft.com/office/drawing/2014/main" id="{69A2FE9E-8197-D64D-B7E2-53321B002CAA}"/>
                  </a:ext>
                </a:extLst>
              </p:cNvPr>
              <p:cNvSpPr/>
              <p:nvPr userDrawn="1"/>
            </p:nvSpPr>
            <p:spPr bwMode="auto">
              <a:xfrm>
                <a:off x="6421882" y="6054121"/>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9" name="Forme libre 9">
                <a:extLst>
                  <a:ext uri="{FF2B5EF4-FFF2-40B4-BE49-F238E27FC236}">
                    <a16:creationId xmlns:a16="http://schemas.microsoft.com/office/drawing/2014/main" id="{27AE7A52-C412-B948-99F8-E7581EAE8BA0}"/>
                  </a:ext>
                </a:extLst>
              </p:cNvPr>
              <p:cNvSpPr/>
              <p:nvPr userDrawn="1"/>
            </p:nvSpPr>
            <p:spPr bwMode="auto">
              <a:xfrm>
                <a:off x="6410809" y="3240775"/>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30" name="CustomShape 11">
            <a:extLst>
              <a:ext uri="{FF2B5EF4-FFF2-40B4-BE49-F238E27FC236}">
                <a16:creationId xmlns:a16="http://schemas.microsoft.com/office/drawing/2014/main" id="{DB25D5F7-4A39-A844-A105-8DDBCE5F9D50}"/>
              </a:ext>
            </a:extLst>
          </p:cNvPr>
          <p:cNvSpPr/>
          <p:nvPr userDrawn="1"/>
        </p:nvSpPr>
        <p:spPr bwMode="auto">
          <a:xfrm rot="16199998">
            <a:off x="-917772" y="2124270"/>
            <a:ext cx="2412624"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algn="ctr">
              <a:lnSpc>
                <a:spcPct val="100000"/>
              </a:lnSpc>
              <a:defRPr/>
            </a:pPr>
            <a:r>
              <a:rPr lang="fr-FR" sz="2000" b="1" i="0" strike="noStrike" spc="-1">
                <a:solidFill>
                  <a:srgbClr val="9B9B9B"/>
                </a:solidFill>
                <a:latin typeface="Arial"/>
                <a:ea typeface="Arial"/>
              </a:rPr>
              <a:t>AXE INTERNE</a:t>
            </a:r>
            <a:endParaRPr lang="fr-FR" sz="2000" b="1" i="0" strike="noStrike" spc="-1">
              <a:latin typeface="Arial"/>
              <a:ea typeface="Arial"/>
            </a:endParaRPr>
          </a:p>
        </p:txBody>
      </p:sp>
      <p:sp>
        <p:nvSpPr>
          <p:cNvPr id="31" name="CustomShape 11">
            <a:extLst>
              <a:ext uri="{FF2B5EF4-FFF2-40B4-BE49-F238E27FC236}">
                <a16:creationId xmlns:a16="http://schemas.microsoft.com/office/drawing/2014/main" id="{366C03BC-64E4-B44A-A87D-EA3955A659F8}"/>
              </a:ext>
            </a:extLst>
          </p:cNvPr>
          <p:cNvSpPr/>
          <p:nvPr userDrawn="1"/>
        </p:nvSpPr>
        <p:spPr bwMode="auto">
          <a:xfrm rot="16199998">
            <a:off x="-932698" y="4827020"/>
            <a:ext cx="2422525"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lvl="0" algn="ctr">
              <a:lnSpc>
                <a:spcPct val="100000"/>
              </a:lnSpc>
              <a:defRPr/>
            </a:pPr>
            <a:r>
              <a:rPr lang="fr-FR" sz="2000" b="1" i="0" strike="noStrike" spc="-1">
                <a:solidFill>
                  <a:srgbClr val="9B9B9B"/>
                </a:solidFill>
                <a:latin typeface="Arial"/>
                <a:ea typeface="Arial"/>
              </a:rPr>
              <a:t>AXE EXTERNE</a:t>
            </a:r>
            <a:endParaRPr/>
          </a:p>
        </p:txBody>
      </p:sp>
      <p:sp>
        <p:nvSpPr>
          <p:cNvPr id="32" name="CustomShape 14">
            <a:extLst>
              <a:ext uri="{FF2B5EF4-FFF2-40B4-BE49-F238E27FC236}">
                <a16:creationId xmlns:a16="http://schemas.microsoft.com/office/drawing/2014/main" id="{CD3DB942-4E40-E842-A5D3-9D96CFE6F8E4}"/>
              </a:ext>
            </a:extLst>
          </p:cNvPr>
          <p:cNvSpPr/>
          <p:nvPr userDrawn="1"/>
        </p:nvSpPr>
        <p:spPr bwMode="auto">
          <a:xfrm rot="20845800">
            <a:off x="1173756" y="1782540"/>
            <a:ext cx="4489973" cy="1270438"/>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FORCES</a:t>
            </a:r>
            <a:endParaRPr lang="fr-FR" sz="6000" b="0" strike="noStrike" spc="-1" dirty="0">
              <a:solidFill>
                <a:schemeClr val="bg1">
                  <a:lumMod val="95000"/>
                </a:schemeClr>
              </a:solidFill>
              <a:latin typeface="Arial"/>
            </a:endParaRPr>
          </a:p>
        </p:txBody>
      </p:sp>
      <p:sp>
        <p:nvSpPr>
          <p:cNvPr id="33" name="CustomShape 15">
            <a:extLst>
              <a:ext uri="{FF2B5EF4-FFF2-40B4-BE49-F238E27FC236}">
                <a16:creationId xmlns:a16="http://schemas.microsoft.com/office/drawing/2014/main" id="{C074C221-EDF5-1A4E-9A68-41B1C4EE8217}"/>
              </a:ext>
            </a:extLst>
          </p:cNvPr>
          <p:cNvSpPr/>
          <p:nvPr userDrawn="1"/>
        </p:nvSpPr>
        <p:spPr bwMode="auto">
          <a:xfrm rot="20845800">
            <a:off x="7343923" y="4844555"/>
            <a:ext cx="3526200"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MENACES</a:t>
            </a:r>
            <a:endParaRPr dirty="0">
              <a:solidFill>
                <a:schemeClr val="bg1">
                  <a:lumMod val="95000"/>
                </a:schemeClr>
              </a:solidFill>
            </a:endParaRPr>
          </a:p>
        </p:txBody>
      </p:sp>
      <p:sp>
        <p:nvSpPr>
          <p:cNvPr id="34" name="CustomShape 16">
            <a:extLst>
              <a:ext uri="{FF2B5EF4-FFF2-40B4-BE49-F238E27FC236}">
                <a16:creationId xmlns:a16="http://schemas.microsoft.com/office/drawing/2014/main" id="{AFDDEA39-34B4-BD47-8F33-D47595E747D1}"/>
              </a:ext>
            </a:extLst>
          </p:cNvPr>
          <p:cNvSpPr/>
          <p:nvPr userDrawn="1"/>
        </p:nvSpPr>
        <p:spPr bwMode="auto">
          <a:xfrm rot="20845800">
            <a:off x="6999444" y="2005395"/>
            <a:ext cx="4862771"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FAIBLESSES</a:t>
            </a:r>
            <a:r>
              <a:rPr lang="fr-FR" sz="8000" b="1" strike="noStrike" spc="-1" dirty="0">
                <a:solidFill>
                  <a:schemeClr val="bg1">
                    <a:lumMod val="95000"/>
                  </a:schemeClr>
                </a:solidFill>
                <a:latin typeface="Avenir Black"/>
                <a:ea typeface="Avenir Black"/>
              </a:rPr>
              <a:t> </a:t>
            </a:r>
            <a:endParaRPr dirty="0">
              <a:solidFill>
                <a:schemeClr val="bg1">
                  <a:lumMod val="95000"/>
                </a:schemeClr>
              </a:solidFill>
            </a:endParaRPr>
          </a:p>
        </p:txBody>
      </p:sp>
      <p:sp>
        <p:nvSpPr>
          <p:cNvPr id="35" name="CustomShape 17">
            <a:extLst>
              <a:ext uri="{FF2B5EF4-FFF2-40B4-BE49-F238E27FC236}">
                <a16:creationId xmlns:a16="http://schemas.microsoft.com/office/drawing/2014/main" id="{4E373716-B0EE-8C4F-9E0F-247E843F1335}"/>
              </a:ext>
            </a:extLst>
          </p:cNvPr>
          <p:cNvSpPr/>
          <p:nvPr userDrawn="1"/>
        </p:nvSpPr>
        <p:spPr bwMode="auto">
          <a:xfrm rot="20845800">
            <a:off x="464232" y="4660024"/>
            <a:ext cx="6012665"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OPPORTUNITES</a:t>
            </a:r>
            <a:endParaRPr dirty="0">
              <a:solidFill>
                <a:schemeClr val="bg1">
                  <a:lumMod val="95000"/>
                </a:schemeClr>
              </a:solidFill>
            </a:endParaRPr>
          </a:p>
        </p:txBody>
      </p:sp>
      <p:sp>
        <p:nvSpPr>
          <p:cNvPr id="36" name="Espace réservé du contenu 14">
            <a:extLst>
              <a:ext uri="{FF2B5EF4-FFF2-40B4-BE49-F238E27FC236}">
                <a16:creationId xmlns:a16="http://schemas.microsoft.com/office/drawing/2014/main" id="{72686B77-6FFF-0243-ACD7-15ADA88FD7EB}"/>
              </a:ext>
            </a:extLst>
          </p:cNvPr>
          <p:cNvSpPr>
            <a:spLocks noGrp="1"/>
          </p:cNvSpPr>
          <p:nvPr>
            <p:ph sz="quarter" idx="13"/>
          </p:nvPr>
        </p:nvSpPr>
        <p:spPr bwMode="auto">
          <a:xfrm>
            <a:off x="690548" y="1201547"/>
            <a:ext cx="5524500" cy="2422525"/>
          </a:xfrm>
          <a:prstGeom prst="rect">
            <a:avLst/>
          </a:prstGeom>
          <a:noFill/>
          <a:ln>
            <a:noFill/>
          </a:ln>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37" name="Espace réservé du contenu 14">
            <a:extLst>
              <a:ext uri="{FF2B5EF4-FFF2-40B4-BE49-F238E27FC236}">
                <a16:creationId xmlns:a16="http://schemas.microsoft.com/office/drawing/2014/main" id="{CDFC7785-678B-F146-A079-D2A7B251D161}"/>
              </a:ext>
            </a:extLst>
          </p:cNvPr>
          <p:cNvSpPr>
            <a:spLocks noGrp="1"/>
          </p:cNvSpPr>
          <p:nvPr>
            <p:ph sz="quarter" idx="14"/>
          </p:nvPr>
        </p:nvSpPr>
        <p:spPr bwMode="auto">
          <a:xfrm>
            <a:off x="6429670" y="1174342"/>
            <a:ext cx="5524500" cy="2422525"/>
          </a:xfrm>
          <a:prstGeom prst="rect">
            <a:avLst/>
          </a:prstGeom>
          <a:noFill/>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38" name="Espace réservé du contenu 14">
            <a:extLst>
              <a:ext uri="{FF2B5EF4-FFF2-40B4-BE49-F238E27FC236}">
                <a16:creationId xmlns:a16="http://schemas.microsoft.com/office/drawing/2014/main" id="{8AD310FA-C184-924C-964C-8BBC14EBD932}"/>
              </a:ext>
            </a:extLst>
          </p:cNvPr>
          <p:cNvSpPr>
            <a:spLocks noGrp="1"/>
          </p:cNvSpPr>
          <p:nvPr>
            <p:ph sz="quarter" idx="15"/>
          </p:nvPr>
        </p:nvSpPr>
        <p:spPr bwMode="auto">
          <a:xfrm>
            <a:off x="6434010" y="3983032"/>
            <a:ext cx="5524500" cy="2422525"/>
          </a:xfrm>
          <a:prstGeom prst="rect">
            <a:avLst/>
          </a:prstGeom>
          <a:noFill/>
        </p:spPr>
        <p:txBody>
          <a:bodyPr anchor="ctr">
            <a:normAutofit/>
          </a:bodyPr>
          <a:lstStyle>
            <a:lvl1pPr algn="l">
              <a:defRPr sz="2000">
                <a:latin typeface="Arial Narrow"/>
                <a:ea typeface="Arial Narrow"/>
              </a:defRPr>
            </a:lvl1pPr>
          </a:lstStyle>
          <a:p>
            <a:pPr lvl="0">
              <a:defRPr/>
            </a:pPr>
            <a:r>
              <a:rPr lang="fr-FR"/>
              <a:t>Cliquez pour modifier les styles du texte du masque</a:t>
            </a:r>
            <a:endParaRPr/>
          </a:p>
        </p:txBody>
      </p:sp>
      <p:sp>
        <p:nvSpPr>
          <p:cNvPr id="39" name="Espace réservé du contenu 14">
            <a:extLst>
              <a:ext uri="{FF2B5EF4-FFF2-40B4-BE49-F238E27FC236}">
                <a16:creationId xmlns:a16="http://schemas.microsoft.com/office/drawing/2014/main" id="{128DEFA8-24AA-1B4B-A0C9-24BD5AC63A90}"/>
              </a:ext>
            </a:extLst>
          </p:cNvPr>
          <p:cNvSpPr>
            <a:spLocks noGrp="1"/>
          </p:cNvSpPr>
          <p:nvPr>
            <p:ph sz="quarter" idx="16"/>
          </p:nvPr>
        </p:nvSpPr>
        <p:spPr bwMode="auto">
          <a:xfrm>
            <a:off x="664626" y="3923014"/>
            <a:ext cx="5524500" cy="2422525"/>
          </a:xfrm>
          <a:prstGeom prst="rect">
            <a:avLst/>
          </a:prstGeom>
          <a:noFill/>
        </p:spPr>
        <p:txBody>
          <a:bodyPr anchor="ctr">
            <a:normAutofit/>
          </a:bodyPr>
          <a:lstStyle>
            <a:lvl1pPr algn="l">
              <a:defRPr sz="2000">
                <a:solidFill>
                  <a:schemeClr val="tx1"/>
                </a:solidFill>
                <a:latin typeface="Arial Narrow"/>
                <a:ea typeface="Arial Narrow"/>
              </a:defRPr>
            </a:lvl1pPr>
          </a:lstStyle>
          <a:p>
            <a:pPr lvl="0">
              <a:defRPr/>
            </a:pPr>
            <a:r>
              <a:rPr lang="fr-FR" dirty="0"/>
              <a:t>Cliquez pour modifier les styles du texte du masque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 name="Espace réservé du titre 1"/>
          <p:cNvSpPr>
            <a:spLocks noGrp="1"/>
          </p:cNvSpPr>
          <p:nvPr>
            <p:ph type="title"/>
          </p:nvPr>
        </p:nvSpPr>
        <p:spPr bwMode="auto">
          <a:xfrm>
            <a:off x="656493" y="0"/>
            <a:ext cx="11535507" cy="800100"/>
          </a:xfrm>
          <a:prstGeom prst="rect">
            <a:avLst/>
          </a:prstGeom>
        </p:spPr>
        <p:txBody>
          <a:bodyPr vert="horz" lIns="91440" tIns="45720" rIns="91440" bIns="45720" rtlCol="0" anchor="ctr">
            <a:normAutofit/>
          </a:bodyPr>
          <a:lstStyle/>
          <a:p>
            <a:pPr>
              <a:defRPr/>
            </a:pPr>
            <a:r>
              <a:rPr lang="fr-FR"/>
              <a:t>Cliquez et modifiez le titre</a:t>
            </a:r>
            <a:endParaRPr/>
          </a:p>
        </p:txBody>
      </p:sp>
      <p:sp>
        <p:nvSpPr>
          <p:cNvPr id="5" name="Espace réservé du texte 2"/>
          <p:cNvSpPr>
            <a:spLocks noGrp="1"/>
          </p:cNvSpPr>
          <p:nvPr>
            <p:ph type="body" idx="1"/>
          </p:nvPr>
        </p:nvSpPr>
        <p:spPr bwMode="auto">
          <a:xfrm>
            <a:off x="656493" y="1385888"/>
            <a:ext cx="11195538" cy="4791075"/>
          </a:xfrm>
          <a:prstGeom prst="rect">
            <a:avLst/>
          </a:prstGeom>
        </p:spPr>
        <p:txBody>
          <a:bodyPr vert="horz" lIns="91440" tIns="45720" rIns="91440" bIns="45720" rtlCol="0">
            <a:normAutofit/>
          </a:bodyPr>
          <a:lstStyle/>
          <a:p>
            <a:pPr lvl="0">
              <a:defRPr/>
            </a:pPr>
            <a:r>
              <a:rPr lang="fr-FR" dirty="0"/>
              <a:t>Cliquez pour modifier les styles du texte du masque</a:t>
            </a:r>
            <a:endParaRPr dirty="0"/>
          </a:p>
          <a:p>
            <a:pPr lvl="1">
              <a:defRPr/>
            </a:pPr>
            <a:r>
              <a:rPr lang="fr-FR" dirty="0"/>
              <a:t>Deuxième niveau</a:t>
            </a:r>
            <a:endParaRPr dirty="0"/>
          </a:p>
          <a:p>
            <a:pPr lvl="2">
              <a:defRPr/>
            </a:pPr>
            <a:r>
              <a:rPr lang="fr-FR" dirty="0"/>
              <a:t>Troisième niveau</a:t>
            </a:r>
            <a:endParaRPr dirty="0"/>
          </a:p>
          <a:p>
            <a:pPr lvl="3">
              <a:defRPr/>
            </a:pPr>
            <a:r>
              <a:rPr lang="fr-FR" dirty="0"/>
              <a:t>Quatrième niveau</a:t>
            </a:r>
            <a:endParaRPr dirty="0"/>
          </a:p>
          <a:p>
            <a:pPr lvl="4">
              <a:defRPr/>
            </a:pPr>
            <a:r>
              <a:rPr lang="fr-FR" dirty="0"/>
              <a:t>Cinquième niveau</a:t>
            </a:r>
            <a:endParaRPr dirty="0"/>
          </a:p>
        </p:txBody>
      </p:sp>
      <p:sp>
        <p:nvSpPr>
          <p:cNvPr id="6" name="Espace réservé de la date 3"/>
          <p:cNvSpPr>
            <a:spLocks noGrp="1"/>
          </p:cNvSpPr>
          <p:nvPr>
            <p:ph type="dt" sz="half" idx="2"/>
          </p:nvPr>
        </p:nvSpPr>
        <p:spPr bwMode="auto">
          <a:xfrm>
            <a:off x="0" y="6586538"/>
            <a:ext cx="2743200" cy="262181"/>
          </a:xfrm>
          <a:prstGeom prst="rect">
            <a:avLst/>
          </a:prstGeom>
        </p:spPr>
        <p:txBody>
          <a:bodyPr vert="horz" lIns="91440" tIns="45720" rIns="91440" bIns="45720" rtlCol="0" anchor="ctr"/>
          <a:lstStyle>
            <a:lvl1pPr algn="l">
              <a:defRPr sz="1200">
                <a:solidFill>
                  <a:schemeClr val="tx1">
                    <a:tint val="75000"/>
                  </a:schemeClr>
                </a:solidFill>
                <a:latin typeface="Arial"/>
                <a:ea typeface="Arial"/>
              </a:defRPr>
            </a:lvl1pPr>
          </a:lstStyle>
          <a:p>
            <a:pPr>
              <a:defRPr/>
            </a:pPr>
            <a:fld id="{0099A96A-D168-8043-BB72-9B38DB0745DD}" type="datetime1">
              <a:rPr lang="fr-FR" smtClean="0"/>
              <a:t>04/10/2024</a:t>
            </a:fld>
            <a:endParaRPr lang="fr-FR"/>
          </a:p>
        </p:txBody>
      </p:sp>
      <p:sp>
        <p:nvSpPr>
          <p:cNvPr id="7" name="Espace réservé du pied de page 4"/>
          <p:cNvSpPr>
            <a:spLocks noGrp="1"/>
          </p:cNvSpPr>
          <p:nvPr>
            <p:ph type="ftr" sz="quarter" idx="3"/>
          </p:nvPr>
        </p:nvSpPr>
        <p:spPr bwMode="auto">
          <a:xfrm>
            <a:off x="4038600" y="6586538"/>
            <a:ext cx="4114800" cy="262181"/>
          </a:xfrm>
          <a:prstGeom prst="rect">
            <a:avLst/>
          </a:prstGeom>
        </p:spPr>
        <p:txBody>
          <a:bodyPr vert="horz" lIns="91440" tIns="45720" rIns="91440" bIns="45720" rtlCol="0" anchor="ctr"/>
          <a:lstStyle>
            <a:lvl1pPr algn="ctr">
              <a:defRPr sz="1200">
                <a:solidFill>
                  <a:schemeClr val="tx1">
                    <a:tint val="75000"/>
                  </a:schemeClr>
                </a:solidFill>
                <a:latin typeface="Arial"/>
                <a:ea typeface="Arial"/>
              </a:defRPr>
            </a:lvl1pPr>
          </a:lstStyle>
          <a:p>
            <a:pPr>
              <a:defRPr/>
            </a:pPr>
            <a:r>
              <a:rPr lang="fr-FR"/>
              <a:t>ISAE-SUPAERO</a:t>
            </a:r>
            <a:endParaRPr/>
          </a:p>
        </p:txBody>
      </p:sp>
      <p:sp>
        <p:nvSpPr>
          <p:cNvPr id="8" name="Espace réservé du numéro de diapositive 5"/>
          <p:cNvSpPr>
            <a:spLocks noGrp="1"/>
          </p:cNvSpPr>
          <p:nvPr>
            <p:ph type="sldNum" sz="quarter" idx="4"/>
          </p:nvPr>
        </p:nvSpPr>
        <p:spPr bwMode="auto">
          <a:xfrm>
            <a:off x="9448799" y="6586538"/>
            <a:ext cx="2743200" cy="262181"/>
          </a:xfrm>
          <a:prstGeom prst="rect">
            <a:avLst/>
          </a:prstGeom>
        </p:spPr>
        <p:txBody>
          <a:bodyPr vert="horz" lIns="91440" tIns="45720" rIns="91440" bIns="45720" rtlCol="0" anchor="ctr"/>
          <a:lstStyle>
            <a:lvl1pPr algn="r">
              <a:defRPr sz="1200">
                <a:solidFill>
                  <a:schemeClr val="tx1">
                    <a:tint val="75000"/>
                  </a:schemeClr>
                </a:solidFill>
                <a:latin typeface="Arial"/>
                <a:ea typeface="Arial"/>
              </a:defRPr>
            </a:lvl1pPr>
          </a:lstStyle>
          <a:p>
            <a:pPr>
              <a:defRPr/>
            </a:pPr>
            <a:fld id="{5E177536-18BF-1743-A360-A4663329E682}" type="slidenum">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54" r:id="rId5"/>
    <p:sldLayoutId id="2147483665" r:id="rId6"/>
    <p:sldLayoutId id="2147483666" r:id="rId7"/>
    <p:sldLayoutId id="2147483652" r:id="rId8"/>
    <p:sldLayoutId id="2147483653" r:id="rId9"/>
    <p:sldLayoutId id="2147483655" r:id="rId10"/>
    <p:sldLayoutId id="2147483656" r:id="rId11"/>
    <p:sldLayoutId id="2147483657" r:id="rId12"/>
    <p:sldLayoutId id="2147483658" r:id="rId13"/>
    <p:sldLayoutId id="2147483659" r:id="rId14"/>
    <p:sldLayoutId id="2147483660" r:id="rId15"/>
    <p:sldLayoutId id="2147483661" r:id="rId16"/>
  </p:sldLayoutIdLst>
  <p:hf hdr="0" dt="0"/>
  <p:txStyles>
    <p:titleStyle>
      <a:lvl1pPr algn="r" defTabSz="914400">
        <a:lnSpc>
          <a:spcPct val="90000"/>
        </a:lnSpc>
        <a:spcBef>
          <a:spcPts val="0"/>
        </a:spcBef>
        <a:buNone/>
        <a:defRPr sz="4000" b="1">
          <a:solidFill>
            <a:schemeClr val="tx1"/>
          </a:solidFill>
          <a:latin typeface="Arial"/>
          <a:ea typeface="Arial"/>
        </a:defRPr>
      </a:lvl1pPr>
    </p:titleStyle>
    <p:bodyStyle>
      <a:lvl1pPr marL="228600" indent="-228600" algn="l" defTabSz="914400">
        <a:lnSpc>
          <a:spcPct val="90000"/>
        </a:lnSpc>
        <a:spcBef>
          <a:spcPts val="1000"/>
        </a:spcBef>
        <a:buFont typeface="Arial"/>
        <a:buChar char="•"/>
        <a:defRPr sz="2800">
          <a:solidFill>
            <a:schemeClr val="tx1"/>
          </a:solidFill>
          <a:latin typeface="Arial"/>
          <a:ea typeface="Arial"/>
        </a:defRPr>
      </a:lvl1pPr>
      <a:lvl2pPr marL="685800" indent="-228600" algn="l" defTabSz="914400">
        <a:lnSpc>
          <a:spcPct val="90000"/>
        </a:lnSpc>
        <a:spcBef>
          <a:spcPts val="500"/>
        </a:spcBef>
        <a:buFont typeface="Arial"/>
        <a:buChar char="•"/>
        <a:defRPr sz="2400">
          <a:solidFill>
            <a:schemeClr val="tx1"/>
          </a:solidFill>
          <a:latin typeface="Arial"/>
          <a:ea typeface="Arial"/>
        </a:defRPr>
      </a:lvl2pPr>
      <a:lvl3pPr marL="1143000" indent="-228600" algn="l" defTabSz="914400">
        <a:lnSpc>
          <a:spcPct val="90000"/>
        </a:lnSpc>
        <a:spcBef>
          <a:spcPts val="500"/>
        </a:spcBef>
        <a:buFont typeface="Arial"/>
        <a:buChar char="•"/>
        <a:defRPr sz="2000">
          <a:solidFill>
            <a:schemeClr val="tx1"/>
          </a:solidFill>
          <a:latin typeface="Arial"/>
          <a:ea typeface="Arial"/>
        </a:defRPr>
      </a:lvl3pPr>
      <a:lvl4pPr marL="1600200" indent="-228600" algn="l" defTabSz="914400">
        <a:lnSpc>
          <a:spcPct val="90000"/>
        </a:lnSpc>
        <a:spcBef>
          <a:spcPts val="500"/>
        </a:spcBef>
        <a:buFont typeface="Arial"/>
        <a:buChar char="•"/>
        <a:defRPr sz="1800">
          <a:solidFill>
            <a:schemeClr val="tx1"/>
          </a:solidFill>
          <a:latin typeface="Arial"/>
          <a:ea typeface="Arial"/>
        </a:defRPr>
      </a:lvl4pPr>
      <a:lvl5pPr marL="2057400" indent="-228600" algn="l" defTabSz="914400">
        <a:lnSpc>
          <a:spcPct val="90000"/>
        </a:lnSpc>
        <a:spcBef>
          <a:spcPts val="500"/>
        </a:spcBef>
        <a:buFont typeface="Arial"/>
        <a:buChar char="•"/>
        <a:defRPr sz="1800">
          <a:solidFill>
            <a:schemeClr val="tx1"/>
          </a:solidFill>
          <a:latin typeface="Arial"/>
          <a:ea typeface="Arial"/>
        </a:defRPr>
      </a:lvl5pPr>
      <a:lvl6pPr marL="2514600" indent="-228600" algn="l" defTabSz="914400">
        <a:lnSpc>
          <a:spcPct val="90000"/>
        </a:lnSpc>
        <a:spcBef>
          <a:spcPts val="500"/>
        </a:spcBef>
        <a:buFont typeface="Arial"/>
        <a:buChar char="•"/>
        <a:defRPr sz="1800">
          <a:solidFill>
            <a:schemeClr val="tx1"/>
          </a:solidFill>
          <a:latin typeface="+mn-lt"/>
          <a:ea typeface="+mn-ea"/>
        </a:defRPr>
      </a:lvl6pPr>
      <a:lvl7pPr marL="2971800" indent="-228600" algn="l" defTabSz="914400">
        <a:lnSpc>
          <a:spcPct val="90000"/>
        </a:lnSpc>
        <a:spcBef>
          <a:spcPts val="500"/>
        </a:spcBef>
        <a:buFont typeface="Arial"/>
        <a:buChar char="•"/>
        <a:defRPr sz="1800">
          <a:solidFill>
            <a:schemeClr val="tx1"/>
          </a:solidFill>
          <a:latin typeface="+mn-lt"/>
          <a:ea typeface="+mn-ea"/>
        </a:defRPr>
      </a:lvl7pPr>
      <a:lvl8pPr marL="3429000" indent="-228600" algn="l" defTabSz="914400">
        <a:lnSpc>
          <a:spcPct val="90000"/>
        </a:lnSpc>
        <a:spcBef>
          <a:spcPts val="500"/>
        </a:spcBef>
        <a:buFont typeface="Arial"/>
        <a:buChar char="•"/>
        <a:defRPr sz="1800">
          <a:solidFill>
            <a:schemeClr val="tx1"/>
          </a:solidFill>
          <a:latin typeface="+mn-lt"/>
          <a:ea typeface="+mn-ea"/>
        </a:defRPr>
      </a:lvl8pPr>
      <a:lvl9pPr marL="3886200" indent="-228600" algn="l" defTabSz="914400">
        <a:lnSpc>
          <a:spcPct val="90000"/>
        </a:lnSpc>
        <a:spcBef>
          <a:spcPts val="500"/>
        </a:spcBef>
        <a:buFont typeface="Arial"/>
        <a:buChar char="•"/>
        <a:defRPr sz="1800">
          <a:solidFill>
            <a:schemeClr val="tx1"/>
          </a:solidFill>
          <a:latin typeface="+mn-lt"/>
          <a:ea typeface="+mn-ea"/>
        </a:defRPr>
      </a:lvl9pPr>
    </p:bodyStyle>
    <p:otherStyle>
      <a:defPPr>
        <a:defRPr lang="fr-FR"/>
      </a:defPPr>
      <a:lvl1pPr marL="0" algn="l" defTabSz="914400">
        <a:defRPr sz="1800">
          <a:solidFill>
            <a:schemeClr val="tx1"/>
          </a:solidFill>
          <a:latin typeface="+mn-lt"/>
          <a:ea typeface="+mn-ea"/>
        </a:defRPr>
      </a:lvl1pPr>
      <a:lvl2pPr marL="457200" algn="l" defTabSz="914400">
        <a:defRPr sz="1800">
          <a:solidFill>
            <a:schemeClr val="tx1"/>
          </a:solidFill>
          <a:latin typeface="+mn-lt"/>
          <a:ea typeface="+mn-ea"/>
        </a:defRPr>
      </a:lvl2pPr>
      <a:lvl3pPr marL="914400" algn="l" defTabSz="914400">
        <a:defRPr sz="1800">
          <a:solidFill>
            <a:schemeClr val="tx1"/>
          </a:solidFill>
          <a:latin typeface="+mn-lt"/>
          <a:ea typeface="+mn-ea"/>
        </a:defRPr>
      </a:lvl3pPr>
      <a:lvl4pPr marL="1371600" algn="l" defTabSz="914400">
        <a:defRPr sz="1800">
          <a:solidFill>
            <a:schemeClr val="tx1"/>
          </a:solidFill>
          <a:latin typeface="+mn-lt"/>
          <a:ea typeface="+mn-ea"/>
        </a:defRPr>
      </a:lvl4pPr>
      <a:lvl5pPr marL="1828800" algn="l" defTabSz="914400">
        <a:defRPr sz="1800">
          <a:solidFill>
            <a:schemeClr val="tx1"/>
          </a:solidFill>
          <a:latin typeface="+mn-lt"/>
          <a:ea typeface="+mn-ea"/>
        </a:defRPr>
      </a:lvl5pPr>
      <a:lvl6pPr marL="2286000" algn="l" defTabSz="914400">
        <a:defRPr sz="1800">
          <a:solidFill>
            <a:schemeClr val="tx1"/>
          </a:solidFill>
          <a:latin typeface="+mn-lt"/>
          <a:ea typeface="+mn-ea"/>
        </a:defRPr>
      </a:lvl6pPr>
      <a:lvl7pPr marL="2743200" algn="l" defTabSz="914400">
        <a:defRPr sz="1800">
          <a:solidFill>
            <a:schemeClr val="tx1"/>
          </a:solidFill>
          <a:latin typeface="+mn-lt"/>
          <a:ea typeface="+mn-ea"/>
        </a:defRPr>
      </a:lvl7pPr>
      <a:lvl8pPr marL="3200400" algn="l" defTabSz="914400">
        <a:defRPr sz="1800">
          <a:solidFill>
            <a:schemeClr val="tx1"/>
          </a:solidFill>
          <a:latin typeface="+mn-lt"/>
          <a:ea typeface="+mn-ea"/>
        </a:defRPr>
      </a:lvl8pPr>
      <a:lvl9pPr marL="3657600" algn="l" defTabSz="914400">
        <a:defRPr sz="1800">
          <a:solidFill>
            <a:schemeClr val="tx1"/>
          </a:solidFill>
          <a:latin typeface="+mn-lt"/>
          <a:ea typeface="+mn-e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0.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1.pn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2.xml"/><Relationship Id="rId7" Type="http://schemas.openxmlformats.org/officeDocument/2006/relationships/image" Target="../media/image14.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1.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descr="Brain-Computer Interface – Turning Imagination into Reality - VCBay News  Opinion &amp; Blogs">
            <a:extLst>
              <a:ext uri="{FF2B5EF4-FFF2-40B4-BE49-F238E27FC236}">
                <a16:creationId xmlns:a16="http://schemas.microsoft.com/office/drawing/2014/main" id="{D1AD0D8E-ECD2-12C2-720E-9AD4A94D4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243408"/>
            <a:ext cx="10153128" cy="3528392"/>
          </a:xfrm>
          <a:prstGeom prst="rect">
            <a:avLst/>
          </a:prstGeom>
          <a:noFill/>
          <a:extLst>
            <a:ext uri="{909E8E84-426E-40DD-AFC4-6F175D3DCCD1}">
              <a14:hiddenFill xmlns:a14="http://schemas.microsoft.com/office/drawing/2010/main">
                <a:solidFill>
                  <a:srgbClr val="FFFFFF"/>
                </a:solidFill>
              </a14:hiddenFill>
            </a:ext>
          </a:extLst>
        </p:spPr>
      </p:pic>
      <p:sp>
        <p:nvSpPr>
          <p:cNvPr id="50" name="Espace réservé du texte 49">
            <a:extLst>
              <a:ext uri="{FF2B5EF4-FFF2-40B4-BE49-F238E27FC236}">
                <a16:creationId xmlns:a16="http://schemas.microsoft.com/office/drawing/2014/main" id="{9D576CB2-F139-7042-8244-EE0991DAAE94}"/>
              </a:ext>
            </a:extLst>
          </p:cNvPr>
          <p:cNvSpPr>
            <a:spLocks noGrp="1"/>
          </p:cNvSpPr>
          <p:nvPr>
            <p:ph type="body" sz="quarter" idx="12"/>
          </p:nvPr>
        </p:nvSpPr>
        <p:spPr>
          <a:xfrm>
            <a:off x="12494" y="-9525"/>
            <a:ext cx="12192000" cy="6858000"/>
          </a:xfrm>
        </p:spPr>
        <p:txBody>
          <a:bodyPr/>
          <a:lstStyle/>
          <a:p>
            <a:endParaRPr lang="en-US" dirty="0"/>
          </a:p>
        </p:txBody>
      </p:sp>
      <p:sp>
        <p:nvSpPr>
          <p:cNvPr id="6" name="Titre 5">
            <a:extLst>
              <a:ext uri="{FF2B5EF4-FFF2-40B4-BE49-F238E27FC236}">
                <a16:creationId xmlns:a16="http://schemas.microsoft.com/office/drawing/2014/main" id="{5A965CE5-6B75-164F-B0B9-551BDEB21EFF}"/>
              </a:ext>
            </a:extLst>
          </p:cNvPr>
          <p:cNvSpPr>
            <a:spLocks noGrp="1"/>
          </p:cNvSpPr>
          <p:nvPr>
            <p:ph type="title"/>
          </p:nvPr>
        </p:nvSpPr>
        <p:spPr>
          <a:xfrm>
            <a:off x="335360" y="1900081"/>
            <a:ext cx="7876460" cy="2015425"/>
          </a:xfrm>
        </p:spPr>
        <p:txBody>
          <a:bodyPr/>
          <a:lstStyle/>
          <a:p>
            <a:r>
              <a:rPr lang="en-US" sz="3600" b="0" i="0" u="sng" strike="noStrike" dirty="0">
                <a:solidFill>
                  <a:srgbClr val="2E5481"/>
                </a:solidFill>
                <a:effectLst/>
                <a:latin typeface="Arimo"/>
              </a:rPr>
              <a:t>Deep Riemannian Neural Architectures for Domain Adaptation in Burst </a:t>
            </a:r>
            <a:r>
              <a:rPr lang="en-US" sz="3600" b="0" i="0" u="sng" strike="noStrike" dirty="0" err="1">
                <a:solidFill>
                  <a:srgbClr val="2E5481"/>
                </a:solidFill>
                <a:effectLst/>
                <a:latin typeface="Arimo"/>
              </a:rPr>
              <a:t>cVEP</a:t>
            </a:r>
            <a:r>
              <a:rPr lang="en-US" sz="3600" b="0" i="0" u="sng" strike="noStrike" dirty="0">
                <a:solidFill>
                  <a:srgbClr val="2E5481"/>
                </a:solidFill>
                <a:effectLst/>
                <a:latin typeface="Arimo"/>
              </a:rPr>
              <a:t>-based Brain Computer Interface</a:t>
            </a:r>
            <a:endParaRPr lang="en-US" sz="3600" u="sng" dirty="0"/>
          </a:p>
        </p:txBody>
      </p:sp>
      <p:sp>
        <p:nvSpPr>
          <p:cNvPr id="8" name="Espace réservé du numéro de diapositive 7">
            <a:extLst>
              <a:ext uri="{FF2B5EF4-FFF2-40B4-BE49-F238E27FC236}">
                <a16:creationId xmlns:a16="http://schemas.microsoft.com/office/drawing/2014/main" id="{2E8D042E-B905-8147-8337-DFBAEC5F380D}"/>
              </a:ext>
            </a:extLst>
          </p:cNvPr>
          <p:cNvSpPr>
            <a:spLocks noGrp="1"/>
          </p:cNvSpPr>
          <p:nvPr>
            <p:ph type="sldNum" sz="quarter" idx="4294967295"/>
          </p:nvPr>
        </p:nvSpPr>
        <p:spPr>
          <a:xfrm>
            <a:off x="9448800" y="6586538"/>
            <a:ext cx="2743200" cy="261937"/>
          </a:xfrm>
        </p:spPr>
        <p:txBody>
          <a:bodyPr/>
          <a:lstStyle/>
          <a:p>
            <a:pPr>
              <a:defRPr/>
            </a:pPr>
            <a:fld id="{5E177536-18BF-1743-A360-A4663329E682}" type="slidenum">
              <a:rPr lang="en-US" smtClean="0"/>
              <a:t>1</a:t>
            </a:fld>
            <a:endParaRPr lang="en-US" dirty="0"/>
          </a:p>
        </p:txBody>
      </p:sp>
      <p:sp>
        <p:nvSpPr>
          <p:cNvPr id="11" name="Espace réservé du contenu 10">
            <a:extLst>
              <a:ext uri="{FF2B5EF4-FFF2-40B4-BE49-F238E27FC236}">
                <a16:creationId xmlns:a16="http://schemas.microsoft.com/office/drawing/2014/main" id="{EFEF48C4-2349-F4E4-D61E-32193AE237FF}"/>
              </a:ext>
            </a:extLst>
          </p:cNvPr>
          <p:cNvSpPr>
            <a:spLocks noGrp="1"/>
          </p:cNvSpPr>
          <p:nvPr>
            <p:ph sz="quarter" idx="13"/>
          </p:nvPr>
        </p:nvSpPr>
        <p:spPr>
          <a:xfrm>
            <a:off x="414190" y="3789040"/>
            <a:ext cx="5753818" cy="1066999"/>
          </a:xfrm>
        </p:spPr>
        <p:txBody>
          <a:bodyPr>
            <a:normAutofit/>
          </a:bodyPr>
          <a:lstStyle/>
          <a:p>
            <a:r>
              <a:rPr lang="en-US" sz="2000" dirty="0" err="1"/>
              <a:t>Velut</a:t>
            </a:r>
            <a:r>
              <a:rPr lang="en-US" sz="2000" dirty="0"/>
              <a:t> Sébastien</a:t>
            </a:r>
            <a:r>
              <a:rPr lang="en-US" sz="2000" baseline="30000" dirty="0"/>
              <a:t>1,2</a:t>
            </a:r>
            <a:r>
              <a:rPr lang="en-US" sz="2000" dirty="0"/>
              <a:t>, </a:t>
            </a:r>
            <a:r>
              <a:rPr lang="en-US" sz="2000" dirty="0" err="1"/>
              <a:t>Chevallier</a:t>
            </a:r>
            <a:r>
              <a:rPr lang="en-US" sz="2000" dirty="0"/>
              <a:t> Sylvain</a:t>
            </a:r>
            <a:r>
              <a:rPr lang="en-US" sz="2000" baseline="30000" dirty="0"/>
              <a:t>2</a:t>
            </a:r>
            <a:r>
              <a:rPr lang="en-US" sz="2000" dirty="0"/>
              <a:t>, </a:t>
            </a:r>
            <a:r>
              <a:rPr lang="en-US" sz="2000" dirty="0" err="1"/>
              <a:t>Corsi</a:t>
            </a:r>
            <a:r>
              <a:rPr lang="en-US" sz="2000" dirty="0"/>
              <a:t> Marie-Constance</a:t>
            </a:r>
            <a:r>
              <a:rPr lang="en-US" sz="2000" baseline="30000" dirty="0"/>
              <a:t>3</a:t>
            </a:r>
            <a:r>
              <a:rPr lang="en-US" sz="2000" dirty="0"/>
              <a:t>, </a:t>
            </a:r>
            <a:r>
              <a:rPr lang="en-US" sz="2000" dirty="0" err="1"/>
              <a:t>Dehais</a:t>
            </a:r>
            <a:r>
              <a:rPr lang="en-US" sz="2000" dirty="0"/>
              <a:t> Frédéric</a:t>
            </a:r>
            <a:r>
              <a:rPr lang="en-US" sz="2000" baseline="30000" dirty="0"/>
              <a:t>1</a:t>
            </a:r>
          </a:p>
        </p:txBody>
      </p:sp>
      <p:grpSp>
        <p:nvGrpSpPr>
          <p:cNvPr id="12" name="Groupe 11">
            <a:extLst>
              <a:ext uri="{FF2B5EF4-FFF2-40B4-BE49-F238E27FC236}">
                <a16:creationId xmlns:a16="http://schemas.microsoft.com/office/drawing/2014/main" id="{27D13351-6361-03DA-84C7-DA0114839B0B}"/>
              </a:ext>
            </a:extLst>
          </p:cNvPr>
          <p:cNvGrpSpPr/>
          <p:nvPr/>
        </p:nvGrpSpPr>
        <p:grpSpPr>
          <a:xfrm>
            <a:off x="6816080" y="5189596"/>
            <a:ext cx="4536504" cy="1192129"/>
            <a:chOff x="6816080" y="5189596"/>
            <a:chExt cx="4536504" cy="1192129"/>
          </a:xfrm>
        </p:grpSpPr>
        <p:pic>
          <p:nvPicPr>
            <p:cNvPr id="13" name="Picture 2" descr="Page d'accueil - LISN | Laboratoire Interdisciplinaire des Sciences du  Numérique">
              <a:extLst>
                <a:ext uri="{FF2B5EF4-FFF2-40B4-BE49-F238E27FC236}">
                  <a16:creationId xmlns:a16="http://schemas.microsoft.com/office/drawing/2014/main" id="{3D50E18F-331B-630E-5850-676F987A4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14F7792A-AC53-4BB6-5011-FAA9E902DC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Espace réservé du contenu 10">
            <a:extLst>
              <a:ext uri="{FF2B5EF4-FFF2-40B4-BE49-F238E27FC236}">
                <a16:creationId xmlns:a16="http://schemas.microsoft.com/office/drawing/2014/main" id="{C67DDA03-5BD0-B98C-899B-F4EACDDC6EB7}"/>
              </a:ext>
            </a:extLst>
          </p:cNvPr>
          <p:cNvSpPr txBox="1">
            <a:spLocks/>
          </p:cNvSpPr>
          <p:nvPr/>
        </p:nvSpPr>
        <p:spPr bwMode="auto">
          <a:xfrm>
            <a:off x="407368" y="4450233"/>
            <a:ext cx="5760640" cy="1066999"/>
          </a:xfrm>
          <a:prstGeom prst="rect">
            <a:avLst/>
          </a:prstGeom>
        </p:spPr>
        <p:txBody>
          <a:bodyPr vert="horz" lIns="91440" tIns="45720" rIns="91440" bIns="45720" rtlCol="0">
            <a:normAutofit fontScale="92500"/>
          </a:bodyPr>
          <a:lstStyle>
            <a:lvl1pPr marL="0" indent="0" algn="l" defTabSz="914400">
              <a:lnSpc>
                <a:spcPct val="90000"/>
              </a:lnSpc>
              <a:spcBef>
                <a:spcPts val="1000"/>
              </a:spcBef>
              <a:buFont typeface="Arial"/>
              <a:buNone/>
              <a:defRPr sz="2800">
                <a:solidFill>
                  <a:schemeClr val="bg1"/>
                </a:solidFill>
                <a:latin typeface="Arial"/>
                <a:ea typeface="Arial"/>
              </a:defRPr>
            </a:lvl1pPr>
            <a:lvl2pPr marL="685800" indent="-228600" algn="l" defTabSz="914400">
              <a:lnSpc>
                <a:spcPct val="90000"/>
              </a:lnSpc>
              <a:spcBef>
                <a:spcPts val="500"/>
              </a:spcBef>
              <a:buFont typeface="Arial"/>
              <a:buChar char="•"/>
              <a:defRPr sz="2400">
                <a:solidFill>
                  <a:schemeClr val="bg1"/>
                </a:solidFill>
                <a:latin typeface="Arial"/>
                <a:ea typeface="Arial"/>
              </a:defRPr>
            </a:lvl2pPr>
            <a:lvl3pPr marL="1143000" indent="-228600" algn="l" defTabSz="914400">
              <a:lnSpc>
                <a:spcPct val="90000"/>
              </a:lnSpc>
              <a:spcBef>
                <a:spcPts val="500"/>
              </a:spcBef>
              <a:buFont typeface="Arial"/>
              <a:buChar char="•"/>
              <a:defRPr sz="2000">
                <a:solidFill>
                  <a:schemeClr val="bg1"/>
                </a:solidFill>
                <a:latin typeface="Arial"/>
                <a:ea typeface="Arial"/>
              </a:defRPr>
            </a:lvl3pPr>
            <a:lvl4pPr marL="1600200" indent="-228600" algn="l" defTabSz="914400">
              <a:lnSpc>
                <a:spcPct val="90000"/>
              </a:lnSpc>
              <a:spcBef>
                <a:spcPts val="500"/>
              </a:spcBef>
              <a:buFont typeface="Arial"/>
              <a:buChar char="•"/>
              <a:defRPr sz="1800">
                <a:solidFill>
                  <a:schemeClr val="bg1"/>
                </a:solidFill>
                <a:latin typeface="Arial"/>
                <a:ea typeface="Arial"/>
              </a:defRPr>
            </a:lvl4pPr>
            <a:lvl5pPr marL="2057400" indent="-228600" algn="l" defTabSz="914400">
              <a:lnSpc>
                <a:spcPct val="90000"/>
              </a:lnSpc>
              <a:spcBef>
                <a:spcPts val="500"/>
              </a:spcBef>
              <a:buFont typeface="Arial"/>
              <a:buChar char="•"/>
              <a:defRPr sz="1800">
                <a:solidFill>
                  <a:schemeClr val="bg1"/>
                </a:solidFill>
                <a:latin typeface="Arial"/>
                <a:ea typeface="Arial"/>
              </a:defRPr>
            </a:lvl5pPr>
            <a:lvl6pPr marL="2514600" indent="-228600" algn="l" defTabSz="914400">
              <a:lnSpc>
                <a:spcPct val="90000"/>
              </a:lnSpc>
              <a:spcBef>
                <a:spcPts val="500"/>
              </a:spcBef>
              <a:buFont typeface="Arial"/>
              <a:buChar char="•"/>
              <a:defRPr sz="1800">
                <a:solidFill>
                  <a:schemeClr val="tx1"/>
                </a:solidFill>
                <a:latin typeface="+mn-lt"/>
                <a:ea typeface="+mn-ea"/>
              </a:defRPr>
            </a:lvl6pPr>
            <a:lvl7pPr marL="2971800" indent="-228600" algn="l" defTabSz="914400">
              <a:lnSpc>
                <a:spcPct val="90000"/>
              </a:lnSpc>
              <a:spcBef>
                <a:spcPts val="500"/>
              </a:spcBef>
              <a:buFont typeface="Arial"/>
              <a:buChar char="•"/>
              <a:defRPr sz="1800">
                <a:solidFill>
                  <a:schemeClr val="tx1"/>
                </a:solidFill>
                <a:latin typeface="+mn-lt"/>
                <a:ea typeface="+mn-ea"/>
              </a:defRPr>
            </a:lvl7pPr>
            <a:lvl8pPr marL="3429000" indent="-228600" algn="l" defTabSz="914400">
              <a:lnSpc>
                <a:spcPct val="90000"/>
              </a:lnSpc>
              <a:spcBef>
                <a:spcPts val="500"/>
              </a:spcBef>
              <a:buFont typeface="Arial"/>
              <a:buChar char="•"/>
              <a:defRPr sz="1800">
                <a:solidFill>
                  <a:schemeClr val="tx1"/>
                </a:solidFill>
                <a:latin typeface="+mn-lt"/>
                <a:ea typeface="+mn-ea"/>
              </a:defRPr>
            </a:lvl8pPr>
            <a:lvl9pPr marL="3886200" indent="-228600" algn="l" defTabSz="914400">
              <a:lnSpc>
                <a:spcPct val="90000"/>
              </a:lnSpc>
              <a:spcBef>
                <a:spcPts val="500"/>
              </a:spcBef>
              <a:buFont typeface="Arial"/>
              <a:buChar char="•"/>
              <a:defRPr sz="1800">
                <a:solidFill>
                  <a:schemeClr val="tx1"/>
                </a:solidFill>
                <a:latin typeface="+mn-lt"/>
                <a:ea typeface="+mn-ea"/>
              </a:defRPr>
            </a:lvl9pPr>
          </a:lstStyle>
          <a:p>
            <a:pPr>
              <a:spcBef>
                <a:spcPts val="600"/>
              </a:spcBef>
            </a:pPr>
            <a:r>
              <a:rPr lang="en-US" sz="1200" dirty="0">
                <a:solidFill>
                  <a:schemeClr val="bg1">
                    <a:lumMod val="95000"/>
                  </a:schemeClr>
                </a:solidFill>
              </a:rPr>
              <a:t>1- Fédération ENAC ISAE-SUPAERO ONERA, Université de Toulouse, 10 avenue Edouard Belin, 31400, Toulouse - France </a:t>
            </a:r>
          </a:p>
          <a:p>
            <a:pPr>
              <a:spcBef>
                <a:spcPts val="600"/>
              </a:spcBef>
            </a:pPr>
            <a:r>
              <a:rPr lang="en-US" sz="1200" dirty="0">
                <a:solidFill>
                  <a:schemeClr val="bg1">
                    <a:lumMod val="95000"/>
                  </a:schemeClr>
                </a:solidFill>
              </a:rPr>
              <a:t>2- A&amp;O - LISN - Université Paris-</a:t>
            </a:r>
            <a:r>
              <a:rPr lang="en-US" sz="1200" dirty="0" err="1">
                <a:solidFill>
                  <a:schemeClr val="bg1">
                    <a:lumMod val="95000"/>
                  </a:schemeClr>
                </a:solidFill>
              </a:rPr>
              <a:t>Saclay</a:t>
            </a:r>
            <a:r>
              <a:rPr lang="en-US" sz="1200" dirty="0">
                <a:solidFill>
                  <a:schemeClr val="bg1">
                    <a:lumMod val="95000"/>
                  </a:schemeClr>
                </a:solidFill>
              </a:rPr>
              <a:t> 1 rue René Thom, 91190 Gif-sur-Yvette - France </a:t>
            </a:r>
          </a:p>
          <a:p>
            <a:pPr>
              <a:spcBef>
                <a:spcPts val="600"/>
              </a:spcBef>
            </a:pPr>
            <a:r>
              <a:rPr lang="en-US" sz="1200" dirty="0">
                <a:solidFill>
                  <a:schemeClr val="bg1">
                    <a:lumMod val="95000"/>
                  </a:schemeClr>
                </a:solidFill>
              </a:rPr>
              <a:t>3- Sorbonne Université, </a:t>
            </a:r>
            <a:r>
              <a:rPr lang="en-US" sz="1200" dirty="0" err="1">
                <a:solidFill>
                  <a:schemeClr val="bg1">
                    <a:lumMod val="95000"/>
                  </a:schemeClr>
                </a:solidFill>
              </a:rPr>
              <a:t>Institut</a:t>
            </a:r>
            <a:r>
              <a:rPr lang="en-US" sz="1200" dirty="0">
                <a:solidFill>
                  <a:schemeClr val="bg1">
                    <a:lumMod val="95000"/>
                  </a:schemeClr>
                </a:solidFill>
              </a:rPr>
              <a:t> du </a:t>
            </a:r>
            <a:r>
              <a:rPr lang="en-US" sz="1200" dirty="0" err="1">
                <a:solidFill>
                  <a:schemeClr val="bg1">
                    <a:lumMod val="95000"/>
                  </a:schemeClr>
                </a:solidFill>
              </a:rPr>
              <a:t>Cerveau</a:t>
            </a:r>
            <a:r>
              <a:rPr lang="en-US" sz="1200" dirty="0">
                <a:solidFill>
                  <a:schemeClr val="bg1">
                    <a:lumMod val="95000"/>
                  </a:schemeClr>
                </a:solidFill>
              </a:rPr>
              <a:t> - Paris Brain Institute -ICM, CNRS, </a:t>
            </a:r>
            <a:r>
              <a:rPr lang="en-US" sz="1200" dirty="0" err="1">
                <a:solidFill>
                  <a:schemeClr val="bg1">
                    <a:lumMod val="95000"/>
                  </a:schemeClr>
                </a:solidFill>
              </a:rPr>
              <a:t>Inria</a:t>
            </a:r>
            <a:r>
              <a:rPr lang="en-US" sz="1200" dirty="0">
                <a:solidFill>
                  <a:schemeClr val="bg1">
                    <a:lumMod val="95000"/>
                  </a:schemeClr>
                </a:solidFill>
              </a:rPr>
              <a:t>, </a:t>
            </a:r>
            <a:r>
              <a:rPr lang="en-US" sz="1200" dirty="0" err="1">
                <a:solidFill>
                  <a:schemeClr val="bg1">
                    <a:lumMod val="95000"/>
                  </a:schemeClr>
                </a:solidFill>
              </a:rPr>
              <a:t>Inserm</a:t>
            </a:r>
            <a:r>
              <a:rPr lang="en-US" sz="1200" dirty="0">
                <a:solidFill>
                  <a:schemeClr val="bg1">
                    <a:lumMod val="95000"/>
                  </a:schemeClr>
                </a:solidFill>
              </a:rPr>
              <a:t>, AP-HP, </a:t>
            </a:r>
            <a:r>
              <a:rPr lang="en-US" sz="1200" dirty="0" err="1">
                <a:solidFill>
                  <a:schemeClr val="bg1">
                    <a:lumMod val="95000"/>
                  </a:schemeClr>
                </a:solidFill>
              </a:rPr>
              <a:t>Hôpital</a:t>
            </a:r>
            <a:r>
              <a:rPr lang="en-US" sz="1200" dirty="0">
                <a:solidFill>
                  <a:schemeClr val="bg1">
                    <a:lumMod val="95000"/>
                  </a:schemeClr>
                </a:solidFill>
              </a:rPr>
              <a:t> de la </a:t>
            </a:r>
            <a:r>
              <a:rPr lang="en-US" sz="1200" dirty="0" err="1">
                <a:solidFill>
                  <a:schemeClr val="bg1">
                    <a:lumMod val="95000"/>
                  </a:schemeClr>
                </a:solidFill>
              </a:rPr>
              <a:t>Pitié</a:t>
            </a:r>
            <a:r>
              <a:rPr lang="en-US" sz="1200" dirty="0">
                <a:solidFill>
                  <a:schemeClr val="bg1">
                    <a:lumMod val="95000"/>
                  </a:schemeClr>
                </a:solidFill>
              </a:rPr>
              <a:t> </a:t>
            </a:r>
            <a:r>
              <a:rPr lang="en-US" sz="1200" dirty="0" err="1">
                <a:solidFill>
                  <a:schemeClr val="bg1">
                    <a:lumMod val="95000"/>
                  </a:schemeClr>
                </a:solidFill>
              </a:rPr>
              <a:t>Salpetriere</a:t>
            </a:r>
            <a:r>
              <a:rPr lang="en-US" sz="1200" dirty="0">
                <a:solidFill>
                  <a:schemeClr val="bg1">
                    <a:lumMod val="95000"/>
                  </a:schemeClr>
                </a:solidFill>
              </a:rPr>
              <a:t>, F-75013, Paris, France</a:t>
            </a:r>
            <a:endParaRPr lang="en-US" sz="1800" baseline="30000" dirty="0">
              <a:solidFill>
                <a:schemeClr val="bg1">
                  <a:lumMod val="95000"/>
                </a:schemeClr>
              </a:solidFill>
            </a:endParaRPr>
          </a:p>
        </p:txBody>
      </p:sp>
    </p:spTree>
    <p:extLst>
      <p:ext uri="{BB962C8B-B14F-4D97-AF65-F5344CB8AC3E}">
        <p14:creationId xmlns:p14="http://schemas.microsoft.com/office/powerpoint/2010/main" val="243214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135BFD-F38E-466D-4497-E8E81A95B49C}"/>
              </a:ext>
            </a:extLst>
          </p:cNvPr>
          <p:cNvSpPr>
            <a:spLocks noGrp="1"/>
          </p:cNvSpPr>
          <p:nvPr>
            <p:ph type="title"/>
          </p:nvPr>
        </p:nvSpPr>
        <p:spPr/>
        <p:txBody>
          <a:bodyPr/>
          <a:lstStyle/>
          <a:p>
            <a:r>
              <a:rPr lang="en-US" dirty="0"/>
              <a:t>Introduction</a:t>
            </a:r>
          </a:p>
        </p:txBody>
      </p:sp>
      <p:sp>
        <p:nvSpPr>
          <p:cNvPr id="3" name="Espace réservé du contenu 2">
            <a:extLst>
              <a:ext uri="{FF2B5EF4-FFF2-40B4-BE49-F238E27FC236}">
                <a16:creationId xmlns:a16="http://schemas.microsoft.com/office/drawing/2014/main" id="{E1725321-188C-F642-F3E8-FF18B39E8E62}"/>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01860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EE8FD00D-4195-FBDA-25E8-261AFE064B75}"/>
              </a:ext>
            </a:extLst>
          </p:cNvPr>
          <p:cNvGrpSpPr>
            <a:grpSpLocks/>
          </p:cNvGrpSpPr>
          <p:nvPr/>
        </p:nvGrpSpPr>
        <p:grpSpPr>
          <a:xfrm>
            <a:off x="6816080" y="5189596"/>
            <a:ext cx="4536504" cy="1192129"/>
            <a:chOff x="6816080" y="5189596"/>
            <a:chExt cx="4536504" cy="1192129"/>
          </a:xfrm>
        </p:grpSpPr>
        <p:pic>
          <p:nvPicPr>
            <p:cNvPr id="23" name="Picture 2" descr="Page d'accueil - LISN | Laboratoire Interdisciplinaire des Sciences du  Numérique">
              <a:extLst>
                <a:ext uri="{FF2B5EF4-FFF2-40B4-BE49-F238E27FC236}">
                  <a16:creationId xmlns:a16="http://schemas.microsoft.com/office/drawing/2014/main" id="{3AB3CC09-E424-04CC-79DE-915C01D05EB1}"/>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0423CBDB-CFFA-B00F-96FB-348C4ADF9BE8}"/>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CBA04EA9-B499-8E66-2C7A-31B1558AC731}"/>
              </a:ext>
            </a:extLst>
          </p:cNvPr>
          <p:cNvSpPr>
            <a:spLocks noGrp="1"/>
          </p:cNvSpPr>
          <p:nvPr>
            <p:ph type="title"/>
          </p:nvPr>
        </p:nvSpPr>
        <p:spPr/>
        <p:txBody>
          <a:bodyPr/>
          <a:lstStyle/>
          <a:p>
            <a:r>
              <a:rPr lang="en-US" dirty="0"/>
              <a:t>What is a Brain computer Interface (BCI) ?</a:t>
            </a:r>
          </a:p>
        </p:txBody>
      </p:sp>
      <p:sp>
        <p:nvSpPr>
          <p:cNvPr id="4" name="Espace réservé du pied de page 3">
            <a:extLst>
              <a:ext uri="{FF2B5EF4-FFF2-40B4-BE49-F238E27FC236}">
                <a16:creationId xmlns:a16="http://schemas.microsoft.com/office/drawing/2014/main" id="{645017BF-9CF6-707C-2599-641B033EEC49}"/>
              </a:ext>
            </a:extLst>
          </p:cNvPr>
          <p:cNvSpPr>
            <a:spLocks noGrp="1"/>
          </p:cNvSpPr>
          <p:nvPr>
            <p:ph type="ftr" sz="quarter" idx="11"/>
          </p:nvPr>
        </p:nvSpPr>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
        <p:nvSpPr>
          <p:cNvPr id="5" name="Espace réservé du numéro de diapositive 4">
            <a:extLst>
              <a:ext uri="{FF2B5EF4-FFF2-40B4-BE49-F238E27FC236}">
                <a16:creationId xmlns:a16="http://schemas.microsoft.com/office/drawing/2014/main" id="{2BA709AC-AF51-F0E7-BE8F-0A73B7DA2CF7}"/>
              </a:ext>
            </a:extLst>
          </p:cNvPr>
          <p:cNvSpPr>
            <a:spLocks noGrp="1"/>
          </p:cNvSpPr>
          <p:nvPr>
            <p:ph type="sldNum" sz="quarter" idx="12"/>
          </p:nvPr>
        </p:nvSpPr>
        <p:spPr/>
        <p:txBody>
          <a:bodyPr/>
          <a:lstStyle/>
          <a:p>
            <a:pPr>
              <a:defRPr/>
            </a:pPr>
            <a:fld id="{5E177536-18BF-1743-A360-A4663329E682}" type="slidenum">
              <a:rPr lang="en-US" smtClean="0"/>
              <a:t>3</a:t>
            </a:fld>
            <a:endParaRPr lang="en-US" dirty="0"/>
          </a:p>
        </p:txBody>
      </p:sp>
      <p:grpSp>
        <p:nvGrpSpPr>
          <p:cNvPr id="6" name="Groupe 5">
            <a:extLst>
              <a:ext uri="{FF2B5EF4-FFF2-40B4-BE49-F238E27FC236}">
                <a16:creationId xmlns:a16="http://schemas.microsoft.com/office/drawing/2014/main" id="{0AEF9575-923C-9906-9775-0B477F782B1B}"/>
              </a:ext>
            </a:extLst>
          </p:cNvPr>
          <p:cNvGrpSpPr/>
          <p:nvPr/>
        </p:nvGrpSpPr>
        <p:grpSpPr>
          <a:xfrm>
            <a:off x="2391310" y="1614487"/>
            <a:ext cx="7303106" cy="4484472"/>
            <a:chOff x="2391310" y="1614487"/>
            <a:chExt cx="4166277" cy="2672063"/>
          </a:xfrm>
        </p:grpSpPr>
        <p:sp>
          <p:nvSpPr>
            <p:cNvPr id="7" name="Rectangle 6">
              <a:extLst>
                <a:ext uri="{FF2B5EF4-FFF2-40B4-BE49-F238E27FC236}">
                  <a16:creationId xmlns:a16="http://schemas.microsoft.com/office/drawing/2014/main" id="{EEACB86C-1C35-7681-27A6-F0C71128D90F}"/>
                </a:ext>
              </a:extLst>
            </p:cNvPr>
            <p:cNvSpPr/>
            <p:nvPr/>
          </p:nvSpPr>
          <p:spPr>
            <a:xfrm>
              <a:off x="2391310" y="1614487"/>
              <a:ext cx="4114800" cy="1371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9BEE4D8D-C98D-D078-B3A4-569458A2B622}"/>
                </a:ext>
              </a:extLst>
            </p:cNvPr>
            <p:cNvSpPr/>
            <p:nvPr/>
          </p:nvSpPr>
          <p:spPr>
            <a:xfrm>
              <a:off x="2647692" y="2450322"/>
              <a:ext cx="977979"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Signal Acquisition</a:t>
              </a:r>
            </a:p>
          </p:txBody>
        </p:sp>
        <p:sp>
          <p:nvSpPr>
            <p:cNvPr id="9" name="Rectangle 8">
              <a:extLst>
                <a:ext uri="{FF2B5EF4-FFF2-40B4-BE49-F238E27FC236}">
                  <a16:creationId xmlns:a16="http://schemas.microsoft.com/office/drawing/2014/main" id="{38710EC2-DEEE-3E00-45CC-231569532A4F}"/>
                </a:ext>
              </a:extLst>
            </p:cNvPr>
            <p:cNvSpPr/>
            <p:nvPr/>
          </p:nvSpPr>
          <p:spPr>
            <a:xfrm>
              <a:off x="2525851" y="1690688"/>
              <a:ext cx="3879850" cy="685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Signal Processing</a:t>
              </a:r>
            </a:p>
            <a:p>
              <a:pPr algn="ctr"/>
              <a:endParaRPr lang="en-US" sz="1400" dirty="0"/>
            </a:p>
            <a:p>
              <a:pPr algn="ctr"/>
              <a:endParaRPr lang="en-US" sz="1400" dirty="0"/>
            </a:p>
          </p:txBody>
        </p:sp>
        <p:sp>
          <p:nvSpPr>
            <p:cNvPr id="10" name="Rectangle 9">
              <a:extLst>
                <a:ext uri="{FF2B5EF4-FFF2-40B4-BE49-F238E27FC236}">
                  <a16:creationId xmlns:a16="http://schemas.microsoft.com/office/drawing/2014/main" id="{B09988C9-A26F-70E2-2DA1-73EB18F5B9C9}"/>
                </a:ext>
              </a:extLst>
            </p:cNvPr>
            <p:cNvSpPr/>
            <p:nvPr/>
          </p:nvSpPr>
          <p:spPr>
            <a:xfrm>
              <a:off x="2647393" y="1972737"/>
              <a:ext cx="977979" cy="3492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Preprocessing</a:t>
              </a:r>
            </a:p>
          </p:txBody>
        </p:sp>
        <p:sp>
          <p:nvSpPr>
            <p:cNvPr id="11" name="Rectangle 10">
              <a:extLst>
                <a:ext uri="{FF2B5EF4-FFF2-40B4-BE49-F238E27FC236}">
                  <a16:creationId xmlns:a16="http://schemas.microsoft.com/office/drawing/2014/main" id="{34A2E6C2-7EC3-0169-4C8E-C11DD4C59B02}"/>
                </a:ext>
              </a:extLst>
            </p:cNvPr>
            <p:cNvSpPr/>
            <p:nvPr/>
          </p:nvSpPr>
          <p:spPr>
            <a:xfrm>
              <a:off x="3976487" y="1966389"/>
              <a:ext cx="977979" cy="3492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Features extraction</a:t>
              </a:r>
            </a:p>
          </p:txBody>
        </p:sp>
        <p:sp>
          <p:nvSpPr>
            <p:cNvPr id="12" name="Rectangle 11">
              <a:extLst>
                <a:ext uri="{FF2B5EF4-FFF2-40B4-BE49-F238E27FC236}">
                  <a16:creationId xmlns:a16="http://schemas.microsoft.com/office/drawing/2014/main" id="{E0289896-C331-7C31-FB1D-31F41511761A}"/>
                </a:ext>
              </a:extLst>
            </p:cNvPr>
            <p:cNvSpPr/>
            <p:nvPr/>
          </p:nvSpPr>
          <p:spPr>
            <a:xfrm>
              <a:off x="5305581" y="1966389"/>
              <a:ext cx="977979" cy="3492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Classification</a:t>
              </a:r>
            </a:p>
          </p:txBody>
        </p:sp>
        <p:sp>
          <p:nvSpPr>
            <p:cNvPr id="13" name="Rectangle 12">
              <a:extLst>
                <a:ext uri="{FF2B5EF4-FFF2-40B4-BE49-F238E27FC236}">
                  <a16:creationId xmlns:a16="http://schemas.microsoft.com/office/drawing/2014/main" id="{E66B8E79-4590-BDAE-25DE-86B91FE43192}"/>
                </a:ext>
              </a:extLst>
            </p:cNvPr>
            <p:cNvSpPr/>
            <p:nvPr/>
          </p:nvSpPr>
          <p:spPr>
            <a:xfrm>
              <a:off x="5305879" y="2446339"/>
              <a:ext cx="977979" cy="4572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100" dirty="0"/>
                <a:t>Application interface</a:t>
              </a:r>
            </a:p>
          </p:txBody>
        </p:sp>
        <p:pic>
          <p:nvPicPr>
            <p:cNvPr id="14" name="Picture 2" descr="Le cerveau humain et la tête : image vectorielle de stock (libre de droits)  2043222287 | Shutterstock">
              <a:extLst>
                <a:ext uri="{FF2B5EF4-FFF2-40B4-BE49-F238E27FC236}">
                  <a16:creationId xmlns:a16="http://schemas.microsoft.com/office/drawing/2014/main" id="{7D6ADED7-98EA-303A-4709-982A0E8CFA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538" r="18434" b="12857"/>
            <a:stretch/>
          </p:blipFill>
          <p:spPr bwMode="auto">
            <a:xfrm>
              <a:off x="2595304" y="3162993"/>
              <a:ext cx="1142999" cy="112355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5FAC0819-9D20-FE6E-0EB8-ED4348F74C80}"/>
                </a:ext>
              </a:extLst>
            </p:cNvPr>
            <p:cNvSpPr/>
            <p:nvPr/>
          </p:nvSpPr>
          <p:spPr>
            <a:xfrm>
              <a:off x="5152816" y="3290887"/>
              <a:ext cx="1404771" cy="975792"/>
            </a:xfrm>
            <a:prstGeom prst="rect">
              <a:avLst/>
            </a:prstGeom>
            <a:solidFill>
              <a:schemeClr val="bg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dirty="0"/>
                <a:t>Applications :</a:t>
              </a:r>
            </a:p>
            <a:p>
              <a:pPr algn="ctr"/>
              <a:endParaRPr lang="en-US" sz="500" dirty="0"/>
            </a:p>
            <a:p>
              <a:pPr algn="ctr"/>
              <a:r>
                <a:rPr lang="en-US" sz="1100" dirty="0"/>
                <a:t>Spelling device</a:t>
              </a:r>
            </a:p>
            <a:p>
              <a:pPr algn="ctr"/>
              <a:r>
                <a:rPr lang="en-US" sz="1100" dirty="0"/>
                <a:t>Wheelchairs</a:t>
              </a:r>
            </a:p>
            <a:p>
              <a:pPr algn="ctr"/>
              <a:r>
                <a:rPr lang="en-US" sz="1100" dirty="0"/>
                <a:t>Video games</a:t>
              </a:r>
            </a:p>
            <a:p>
              <a:pPr algn="ctr"/>
              <a:r>
                <a:rPr lang="en-US" sz="1100" dirty="0"/>
                <a:t>Mental state monitor</a:t>
              </a:r>
            </a:p>
          </p:txBody>
        </p:sp>
        <p:sp>
          <p:nvSpPr>
            <p:cNvPr id="16" name="Flèche : droite 15">
              <a:extLst>
                <a:ext uri="{FF2B5EF4-FFF2-40B4-BE49-F238E27FC236}">
                  <a16:creationId xmlns:a16="http://schemas.microsoft.com/office/drawing/2014/main" id="{E00DD827-850C-30AC-2307-8A7F5C0EC46D}"/>
                </a:ext>
              </a:extLst>
            </p:cNvPr>
            <p:cNvSpPr/>
            <p:nvPr/>
          </p:nvSpPr>
          <p:spPr>
            <a:xfrm rot="16200000">
              <a:off x="3030920" y="3051517"/>
              <a:ext cx="271768" cy="206971"/>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7" name="Flèche : droite 16">
              <a:extLst>
                <a:ext uri="{FF2B5EF4-FFF2-40B4-BE49-F238E27FC236}">
                  <a16:creationId xmlns:a16="http://schemas.microsoft.com/office/drawing/2014/main" id="{5655600D-DFE2-CE6C-A2AC-8581435005DD}"/>
                </a:ext>
              </a:extLst>
            </p:cNvPr>
            <p:cNvSpPr/>
            <p:nvPr/>
          </p:nvSpPr>
          <p:spPr>
            <a:xfrm rot="5400000">
              <a:off x="5698134" y="3037764"/>
              <a:ext cx="271768" cy="20697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cxnSp>
          <p:nvCxnSpPr>
            <p:cNvPr id="18" name="Connecteur droit avec flèche 17">
              <a:extLst>
                <a:ext uri="{FF2B5EF4-FFF2-40B4-BE49-F238E27FC236}">
                  <a16:creationId xmlns:a16="http://schemas.microsoft.com/office/drawing/2014/main" id="{056F240C-F4E1-F128-7368-634FA43158B4}"/>
                </a:ext>
              </a:extLst>
            </p:cNvPr>
            <p:cNvCxnSpPr>
              <a:stCxn id="8" idx="0"/>
              <a:endCxn id="10" idx="2"/>
            </p:cNvCxnSpPr>
            <p:nvPr/>
          </p:nvCxnSpPr>
          <p:spPr>
            <a:xfrm flipH="1" flipV="1">
              <a:off x="3136383" y="2321986"/>
              <a:ext cx="299" cy="12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E44C21D6-48E4-FF07-7501-CC11AA7FF00A}"/>
                </a:ext>
              </a:extLst>
            </p:cNvPr>
            <p:cNvCxnSpPr>
              <a:stCxn id="10" idx="3"/>
              <a:endCxn id="11" idx="1"/>
            </p:cNvCxnSpPr>
            <p:nvPr/>
          </p:nvCxnSpPr>
          <p:spPr>
            <a:xfrm flipV="1">
              <a:off x="3625372" y="2141014"/>
              <a:ext cx="351115" cy="6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a:extLst>
                <a:ext uri="{FF2B5EF4-FFF2-40B4-BE49-F238E27FC236}">
                  <a16:creationId xmlns:a16="http://schemas.microsoft.com/office/drawing/2014/main" id="{9EFA0F76-8D70-D58B-6B00-952FACA6D6EF}"/>
                </a:ext>
              </a:extLst>
            </p:cNvPr>
            <p:cNvCxnSpPr/>
            <p:nvPr/>
          </p:nvCxnSpPr>
          <p:spPr>
            <a:xfrm flipV="1">
              <a:off x="4961472" y="2134665"/>
              <a:ext cx="351115" cy="6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4BEBDCC9-F57C-2F2F-00A9-87A23B579F10}"/>
                </a:ext>
              </a:extLst>
            </p:cNvPr>
            <p:cNvCxnSpPr>
              <a:cxnSpLocks/>
              <a:stCxn id="12" idx="2"/>
              <a:endCxn id="13" idx="0"/>
            </p:cNvCxnSpPr>
            <p:nvPr/>
          </p:nvCxnSpPr>
          <p:spPr>
            <a:xfrm>
              <a:off x="5794571" y="2315639"/>
              <a:ext cx="298" cy="130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3993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dèle de logo de cerveau et application des icônes de symboles 585566 Art  vectoriel chez Vecteezy">
            <a:extLst>
              <a:ext uri="{FF2B5EF4-FFF2-40B4-BE49-F238E27FC236}">
                <a16:creationId xmlns:a16="http://schemas.microsoft.com/office/drawing/2014/main" id="{D80FE45D-D90E-9585-4E68-BEF752974B2F}"/>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6428" t="20662" r="27923" b="19274"/>
          <a:stretch/>
        </p:blipFill>
        <p:spPr bwMode="auto">
          <a:xfrm>
            <a:off x="-149534" y="2299024"/>
            <a:ext cx="2889311" cy="3260328"/>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e 17">
            <a:extLst>
              <a:ext uri="{FF2B5EF4-FFF2-40B4-BE49-F238E27FC236}">
                <a16:creationId xmlns:a16="http://schemas.microsoft.com/office/drawing/2014/main" id="{C671A2DD-F7C5-A523-E683-1799A48412A4}"/>
              </a:ext>
            </a:extLst>
          </p:cNvPr>
          <p:cNvGrpSpPr>
            <a:grpSpLocks/>
          </p:cNvGrpSpPr>
          <p:nvPr/>
        </p:nvGrpSpPr>
        <p:grpSpPr>
          <a:xfrm>
            <a:off x="6816080" y="5189596"/>
            <a:ext cx="4536504" cy="1192129"/>
            <a:chOff x="6816080" y="5189596"/>
            <a:chExt cx="4536504" cy="1192129"/>
          </a:xfrm>
        </p:grpSpPr>
        <p:pic>
          <p:nvPicPr>
            <p:cNvPr id="19" name="Picture 2" descr="Page d'accueil - LISN | Laboratoire Interdisciplinaire des Sciences du  Numérique">
              <a:extLst>
                <a:ext uri="{FF2B5EF4-FFF2-40B4-BE49-F238E27FC236}">
                  <a16:creationId xmlns:a16="http://schemas.microsoft.com/office/drawing/2014/main" id="{5594ECEB-E812-1E62-CB44-E73E7010DAE7}"/>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a:extLst>
                <a:ext uri="{FF2B5EF4-FFF2-40B4-BE49-F238E27FC236}">
                  <a16:creationId xmlns:a16="http://schemas.microsoft.com/office/drawing/2014/main" id="{45AA25A6-F87C-A752-66B4-0A38BC1C99E4}"/>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D705BB1F-211B-2EB3-4D71-319A88F6E7D6}"/>
              </a:ext>
            </a:extLst>
          </p:cNvPr>
          <p:cNvSpPr>
            <a:spLocks noGrp="1"/>
          </p:cNvSpPr>
          <p:nvPr>
            <p:ph type="title"/>
          </p:nvPr>
        </p:nvSpPr>
        <p:spPr/>
        <p:txBody>
          <a:bodyPr/>
          <a:lstStyle/>
          <a:p>
            <a:r>
              <a:rPr lang="en-US" dirty="0"/>
              <a:t>Variabilities sources</a:t>
            </a:r>
          </a:p>
        </p:txBody>
      </p:sp>
      <p:sp>
        <p:nvSpPr>
          <p:cNvPr id="5" name="Espace réservé du numéro de diapositive 4">
            <a:extLst>
              <a:ext uri="{FF2B5EF4-FFF2-40B4-BE49-F238E27FC236}">
                <a16:creationId xmlns:a16="http://schemas.microsoft.com/office/drawing/2014/main" id="{7A08520E-B9F1-AB00-E5CA-2B81DC310EE2}"/>
              </a:ext>
            </a:extLst>
          </p:cNvPr>
          <p:cNvSpPr>
            <a:spLocks noGrp="1"/>
          </p:cNvSpPr>
          <p:nvPr>
            <p:ph type="sldNum" sz="quarter" idx="12"/>
          </p:nvPr>
        </p:nvSpPr>
        <p:spPr/>
        <p:txBody>
          <a:bodyPr/>
          <a:lstStyle/>
          <a:p>
            <a:pPr>
              <a:defRPr/>
            </a:pPr>
            <a:fld id="{5E177536-18BF-1743-A360-A4663329E682}" type="slidenum">
              <a:rPr lang="en-US" smtClean="0"/>
              <a:t>4</a:t>
            </a:fld>
            <a:endParaRPr lang="en-US" dirty="0"/>
          </a:p>
        </p:txBody>
      </p:sp>
      <p:grpSp>
        <p:nvGrpSpPr>
          <p:cNvPr id="6" name="Groupe 5">
            <a:extLst>
              <a:ext uri="{FF2B5EF4-FFF2-40B4-BE49-F238E27FC236}">
                <a16:creationId xmlns:a16="http://schemas.microsoft.com/office/drawing/2014/main" id="{35ECECD7-C821-8C6F-CADF-AF975C36496A}"/>
              </a:ext>
            </a:extLst>
          </p:cNvPr>
          <p:cNvGrpSpPr/>
          <p:nvPr/>
        </p:nvGrpSpPr>
        <p:grpSpPr>
          <a:xfrm>
            <a:off x="1398767" y="1025658"/>
            <a:ext cx="3689121" cy="1273366"/>
            <a:chOff x="701" y="812327"/>
            <a:chExt cx="2736407" cy="1641844"/>
          </a:xfrm>
          <a:solidFill>
            <a:schemeClr val="accent4">
              <a:lumMod val="75000"/>
            </a:schemeClr>
          </a:solidFill>
        </p:grpSpPr>
        <p:sp>
          <p:nvSpPr>
            <p:cNvPr id="7" name="Rectangle 8">
              <a:extLst>
                <a:ext uri="{FF2B5EF4-FFF2-40B4-BE49-F238E27FC236}">
                  <a16:creationId xmlns:a16="http://schemas.microsoft.com/office/drawing/2014/main" id="{0AE7D9CA-E4D6-80E3-022E-676F44ADF7BD}"/>
                </a:ext>
              </a:extLst>
            </p:cNvPr>
            <p:cNvSpPr/>
            <p:nvPr/>
          </p:nvSpPr>
          <p:spPr>
            <a:xfrm>
              <a:off x="701" y="812327"/>
              <a:ext cx="2736407" cy="1641844"/>
            </a:xfrm>
            <a:prstGeom prst="roundRect">
              <a:avLst/>
            </a:prstGeom>
            <a:grp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dirty="0"/>
            </a:p>
          </p:txBody>
        </p:sp>
        <p:sp>
          <p:nvSpPr>
            <p:cNvPr id="8" name="ZoneTexte 7">
              <a:extLst>
                <a:ext uri="{FF2B5EF4-FFF2-40B4-BE49-F238E27FC236}">
                  <a16:creationId xmlns:a16="http://schemas.microsoft.com/office/drawing/2014/main" id="{65152C5C-924C-5446-F606-AE405FF8B5E3}"/>
                </a:ext>
              </a:extLst>
            </p:cNvPr>
            <p:cNvSpPr txBox="1"/>
            <p:nvPr/>
          </p:nvSpPr>
          <p:spPr>
            <a:xfrm>
              <a:off x="701"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Anatomy:</a:t>
              </a:r>
            </a:p>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Grey matter quantity</a:t>
              </a:r>
            </a:p>
          </p:txBody>
        </p:sp>
      </p:grpSp>
      <p:grpSp>
        <p:nvGrpSpPr>
          <p:cNvPr id="9" name="Groupe 8">
            <a:extLst>
              <a:ext uri="{FF2B5EF4-FFF2-40B4-BE49-F238E27FC236}">
                <a16:creationId xmlns:a16="http://schemas.microsoft.com/office/drawing/2014/main" id="{297D6657-0452-1640-B578-D43FD474AD1F}"/>
              </a:ext>
            </a:extLst>
          </p:cNvPr>
          <p:cNvGrpSpPr/>
          <p:nvPr/>
        </p:nvGrpSpPr>
        <p:grpSpPr>
          <a:xfrm>
            <a:off x="1398766" y="2431607"/>
            <a:ext cx="3689121" cy="1273366"/>
            <a:chOff x="3010749" y="812327"/>
            <a:chExt cx="2736407" cy="1641844"/>
          </a:xfrm>
          <a:solidFill>
            <a:srgbClr val="0070C0"/>
          </a:solidFill>
        </p:grpSpPr>
        <p:sp>
          <p:nvSpPr>
            <p:cNvPr id="10" name="Rectangle 11">
              <a:extLst>
                <a:ext uri="{FF2B5EF4-FFF2-40B4-BE49-F238E27FC236}">
                  <a16:creationId xmlns:a16="http://schemas.microsoft.com/office/drawing/2014/main" id="{82D5D18F-5693-A9C1-C257-6928266E1628}"/>
                </a:ext>
              </a:extLst>
            </p:cNvPr>
            <p:cNvSpPr/>
            <p:nvPr/>
          </p:nvSpPr>
          <p:spPr>
            <a:xfrm>
              <a:off x="3010749" y="812327"/>
              <a:ext cx="2736407" cy="1641844"/>
            </a:xfrm>
            <a:prstGeom prst="roundRect">
              <a:avLst/>
            </a:prstGeom>
            <a:grpFill/>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dirty="0"/>
            </a:p>
          </p:txBody>
        </p:sp>
        <p:sp>
          <p:nvSpPr>
            <p:cNvPr id="11" name="ZoneTexte 10">
              <a:extLst>
                <a:ext uri="{FF2B5EF4-FFF2-40B4-BE49-F238E27FC236}">
                  <a16:creationId xmlns:a16="http://schemas.microsoft.com/office/drawing/2014/main" id="{EE86B5A6-1055-6278-A1F2-26F670ED9F94}"/>
                </a:ext>
              </a:extLst>
            </p:cNvPr>
            <p:cNvSpPr txBox="1"/>
            <p:nvPr/>
          </p:nvSpPr>
          <p:spPr>
            <a:xfrm>
              <a:off x="3010749"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Human: </a:t>
              </a:r>
              <a:br>
                <a:rPr lang="en-US" sz="1800" b="0" kern="1200" cap="none" spc="0" dirty="0">
                  <a:ln w="0"/>
                  <a:effectLst>
                    <a:outerShdw blurRad="38100" dist="19050" dir="2700000" algn="tl" rotWithShape="0">
                      <a:schemeClr val="dk1">
                        <a:alpha val="40000"/>
                      </a:schemeClr>
                    </a:outerShdw>
                  </a:effectLst>
                </a:rPr>
              </a:br>
              <a:r>
                <a:rPr lang="en-US" sz="1800" b="0" kern="1200" cap="none" spc="0" dirty="0">
                  <a:ln w="0"/>
                  <a:effectLst>
                    <a:outerShdw blurRad="38100" dist="19050" dir="2700000" algn="tl" rotWithShape="0">
                      <a:schemeClr val="dk1">
                        <a:alpha val="40000"/>
                      </a:schemeClr>
                    </a:outerShdw>
                  </a:effectLst>
                </a:rPr>
                <a:t>way of life, </a:t>
              </a:r>
              <a:r>
                <a:rPr lang="en-US" dirty="0">
                  <a:ln w="0"/>
                  <a:effectLst>
                    <a:outerShdw blurRad="38100" dist="19050" dir="2700000" algn="tl" rotWithShape="0">
                      <a:schemeClr val="dk1">
                        <a:alpha val="40000"/>
                      </a:schemeClr>
                    </a:outerShdw>
                  </a:effectLst>
                </a:rPr>
                <a:t>e</a:t>
              </a:r>
              <a:r>
                <a:rPr lang="en-US" sz="1800" b="0" kern="1200" cap="none" spc="0" dirty="0">
                  <a:ln w="0"/>
                  <a:effectLst>
                    <a:outerShdw blurRad="38100" dist="19050" dir="2700000" algn="tl" rotWithShape="0">
                      <a:schemeClr val="dk1">
                        <a:alpha val="40000"/>
                      </a:schemeClr>
                    </a:outerShdw>
                  </a:effectLst>
                </a:rPr>
                <a:t>ducation, users’ traits</a:t>
              </a:r>
            </a:p>
          </p:txBody>
        </p:sp>
      </p:grpSp>
      <p:grpSp>
        <p:nvGrpSpPr>
          <p:cNvPr id="12" name="Groupe 11">
            <a:extLst>
              <a:ext uri="{FF2B5EF4-FFF2-40B4-BE49-F238E27FC236}">
                <a16:creationId xmlns:a16="http://schemas.microsoft.com/office/drawing/2014/main" id="{81A99CF9-0FA5-14CD-5FF5-ADC8C0C1FA84}"/>
              </a:ext>
            </a:extLst>
          </p:cNvPr>
          <p:cNvGrpSpPr>
            <a:grpSpLocks/>
          </p:cNvGrpSpPr>
          <p:nvPr/>
        </p:nvGrpSpPr>
        <p:grpSpPr>
          <a:xfrm>
            <a:off x="1380622" y="3841080"/>
            <a:ext cx="3689121" cy="1273366"/>
            <a:chOff x="1505725" y="2727812"/>
            <a:chExt cx="2736407" cy="1641844"/>
          </a:xfrm>
          <a:solidFill>
            <a:schemeClr val="accent4">
              <a:lumMod val="60000"/>
              <a:lumOff val="40000"/>
            </a:schemeClr>
          </a:solidFill>
        </p:grpSpPr>
        <p:sp>
          <p:nvSpPr>
            <p:cNvPr id="13" name="Rectangle 14">
              <a:extLst>
                <a:ext uri="{FF2B5EF4-FFF2-40B4-BE49-F238E27FC236}">
                  <a16:creationId xmlns:a16="http://schemas.microsoft.com/office/drawing/2014/main" id="{FD39770A-B615-A415-B025-A2407E1E20F8}"/>
                </a:ext>
              </a:extLst>
            </p:cNvPr>
            <p:cNvSpPr>
              <a:spLocks/>
            </p:cNvSpPr>
            <p:nvPr/>
          </p:nvSpPr>
          <p:spPr>
            <a:xfrm>
              <a:off x="1505725" y="2727812"/>
              <a:ext cx="2736407" cy="1641844"/>
            </a:xfrm>
            <a:prstGeom prst="roundRect">
              <a:avLst/>
            </a:prstGeom>
            <a:grpFill/>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en-US" dirty="0"/>
            </a:p>
          </p:txBody>
        </p:sp>
        <p:sp>
          <p:nvSpPr>
            <p:cNvPr id="14" name="ZoneTexte 13">
              <a:extLst>
                <a:ext uri="{FF2B5EF4-FFF2-40B4-BE49-F238E27FC236}">
                  <a16:creationId xmlns:a16="http://schemas.microsoft.com/office/drawing/2014/main" id="{8BE7B441-4F48-F9F6-D30D-093DC03A7249}"/>
                </a:ext>
              </a:extLst>
            </p:cNvPr>
            <p:cNvSpPr txBox="1">
              <a:spLocks/>
            </p:cNvSpPr>
            <p:nvPr/>
          </p:nvSpPr>
          <p:spPr>
            <a:xfrm>
              <a:off x="1505725" y="2727812"/>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Physiological:</a:t>
              </a:r>
              <a:br>
                <a:rPr lang="en-US" sz="1800" b="0" kern="1200" cap="none" spc="0" dirty="0">
                  <a:ln w="0"/>
                  <a:effectLst>
                    <a:outerShdw blurRad="38100" dist="19050" dir="2700000" algn="tl" rotWithShape="0">
                      <a:schemeClr val="dk1">
                        <a:alpha val="40000"/>
                      </a:schemeClr>
                    </a:outerShdw>
                  </a:effectLst>
                </a:rPr>
              </a:br>
              <a:r>
                <a:rPr lang="en-US" sz="1800" b="0" kern="1200" cap="none" spc="0" dirty="0">
                  <a:ln w="0"/>
                  <a:effectLst>
                    <a:outerShdw blurRad="38100" dist="19050" dir="2700000" algn="tl" rotWithShape="0">
                      <a:schemeClr val="dk1">
                        <a:alpha val="40000"/>
                      </a:schemeClr>
                    </a:outerShdw>
                  </a:effectLst>
                </a:rPr>
                <a:t>fatigue, concentration, stress, circadian rhythm</a:t>
              </a:r>
            </a:p>
          </p:txBody>
        </p:sp>
      </p:grpSp>
      <p:grpSp>
        <p:nvGrpSpPr>
          <p:cNvPr id="15" name="Groupe 14">
            <a:extLst>
              <a:ext uri="{FF2B5EF4-FFF2-40B4-BE49-F238E27FC236}">
                <a16:creationId xmlns:a16="http://schemas.microsoft.com/office/drawing/2014/main" id="{26BF2156-E24A-4E3C-373D-BC941E95B0FC}"/>
              </a:ext>
            </a:extLst>
          </p:cNvPr>
          <p:cNvGrpSpPr/>
          <p:nvPr/>
        </p:nvGrpSpPr>
        <p:grpSpPr>
          <a:xfrm>
            <a:off x="1398765" y="5247029"/>
            <a:ext cx="3689121" cy="1273366"/>
            <a:chOff x="701" y="812327"/>
            <a:chExt cx="2736407" cy="1641844"/>
          </a:xfrm>
          <a:solidFill>
            <a:schemeClr val="accent4">
              <a:lumMod val="40000"/>
              <a:lumOff val="60000"/>
            </a:schemeClr>
          </a:solidFill>
        </p:grpSpPr>
        <p:sp>
          <p:nvSpPr>
            <p:cNvPr id="16" name="Rectangle 8">
              <a:extLst>
                <a:ext uri="{FF2B5EF4-FFF2-40B4-BE49-F238E27FC236}">
                  <a16:creationId xmlns:a16="http://schemas.microsoft.com/office/drawing/2014/main" id="{03080111-B5B0-11FB-C281-0911AD32104F}"/>
                </a:ext>
              </a:extLst>
            </p:cNvPr>
            <p:cNvSpPr/>
            <p:nvPr/>
          </p:nvSpPr>
          <p:spPr>
            <a:xfrm>
              <a:off x="701" y="812327"/>
              <a:ext cx="2736407" cy="1641844"/>
            </a:xfrm>
            <a:prstGeom prst="roundRect">
              <a:avLst/>
            </a:prstGeom>
            <a:grp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dirty="0"/>
            </a:p>
          </p:txBody>
        </p:sp>
        <p:sp>
          <p:nvSpPr>
            <p:cNvPr id="17" name="ZoneTexte 16">
              <a:extLst>
                <a:ext uri="{FF2B5EF4-FFF2-40B4-BE49-F238E27FC236}">
                  <a16:creationId xmlns:a16="http://schemas.microsoft.com/office/drawing/2014/main" id="{CBB06B9D-1EDA-806C-D8DD-A1267889613E}"/>
                </a:ext>
              </a:extLst>
            </p:cNvPr>
            <p:cNvSpPr txBox="1"/>
            <p:nvPr/>
          </p:nvSpPr>
          <p:spPr>
            <a:xfrm>
              <a:off x="701"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Environmental condition:</a:t>
              </a:r>
            </a:p>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Luminosity, displacement of </a:t>
              </a:r>
              <a:r>
                <a:rPr lang="en-US" dirty="0">
                  <a:ln w="0"/>
                  <a:effectLst>
                    <a:outerShdw blurRad="38100" dist="19050" dir="2700000" algn="tl" rotWithShape="0">
                      <a:schemeClr val="dk1">
                        <a:alpha val="40000"/>
                      </a:schemeClr>
                    </a:outerShdw>
                  </a:effectLst>
                </a:rPr>
                <a:t>e</a:t>
              </a:r>
              <a:r>
                <a:rPr lang="en-US" sz="1800" b="0" kern="1200" cap="none" spc="0" dirty="0">
                  <a:ln w="0"/>
                  <a:effectLst>
                    <a:outerShdw blurRad="38100" dist="19050" dir="2700000" algn="tl" rotWithShape="0">
                      <a:schemeClr val="dk1">
                        <a:alpha val="40000"/>
                      </a:schemeClr>
                    </a:outerShdw>
                  </a:effectLst>
                </a:rPr>
                <a:t>lectrodes, ambient noise</a:t>
              </a:r>
            </a:p>
          </p:txBody>
        </p:sp>
      </p:grpSp>
      <p:sp>
        <p:nvSpPr>
          <p:cNvPr id="21" name="ZoneTexte 20">
            <a:extLst>
              <a:ext uri="{FF2B5EF4-FFF2-40B4-BE49-F238E27FC236}">
                <a16:creationId xmlns:a16="http://schemas.microsoft.com/office/drawing/2014/main" id="{D51F4978-D21E-5CC7-78E6-9B0168341979}"/>
              </a:ext>
            </a:extLst>
          </p:cNvPr>
          <p:cNvSpPr txBox="1"/>
          <p:nvPr/>
        </p:nvSpPr>
        <p:spPr>
          <a:xfrm>
            <a:off x="-4350" y="6656502"/>
            <a:ext cx="5180959" cy="230832"/>
          </a:xfrm>
          <a:prstGeom prst="rect">
            <a:avLst/>
          </a:prstGeom>
          <a:noFill/>
        </p:spPr>
        <p:txBody>
          <a:bodyPr wrap="square">
            <a:spAutoFit/>
          </a:bodyPr>
          <a:lstStyle/>
          <a:p>
            <a:r>
              <a:rPr lang="fr-FR" sz="900" b="0" i="0" dirty="0">
                <a:effectLst/>
                <a:latin typeface="Arial" panose="020B0604020202020204" pitchFamily="34" charset="0"/>
              </a:rPr>
              <a:t>S. Saha et al. </a:t>
            </a:r>
            <a:r>
              <a:rPr lang="fr-FR" sz="900" b="0" i="0" dirty="0" err="1">
                <a:effectLst/>
                <a:latin typeface="Arial" panose="020B0604020202020204" pitchFamily="34" charset="0"/>
              </a:rPr>
              <a:t>Frontiers</a:t>
            </a:r>
            <a:r>
              <a:rPr lang="fr-FR" sz="900" b="0" i="0" dirty="0">
                <a:effectLst/>
                <a:latin typeface="Arial" panose="020B0604020202020204" pitchFamily="34" charset="0"/>
              </a:rPr>
              <a:t> in Human Neuroscience, page 8, 2020.</a:t>
            </a:r>
            <a:endParaRPr lang="en-US" sz="900" dirty="0"/>
          </a:p>
        </p:txBody>
      </p:sp>
      <p:sp>
        <p:nvSpPr>
          <p:cNvPr id="23" name="Flèche : droite 22">
            <a:extLst>
              <a:ext uri="{FF2B5EF4-FFF2-40B4-BE49-F238E27FC236}">
                <a16:creationId xmlns:a16="http://schemas.microsoft.com/office/drawing/2014/main" id="{7B863F66-B9E2-5659-8D9B-0FDCB7A8EB2B}"/>
              </a:ext>
            </a:extLst>
          </p:cNvPr>
          <p:cNvSpPr/>
          <p:nvPr/>
        </p:nvSpPr>
        <p:spPr>
          <a:xfrm>
            <a:off x="5411550" y="3265015"/>
            <a:ext cx="2088232" cy="935513"/>
          </a:xfrm>
          <a:prstGeom prst="rightArrow">
            <a:avLst/>
          </a:prstGeom>
          <a:solidFill>
            <a:srgbClr val="F5D9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 avec coins arrondis en diagonale 23">
            <a:extLst>
              <a:ext uri="{FF2B5EF4-FFF2-40B4-BE49-F238E27FC236}">
                <a16:creationId xmlns:a16="http://schemas.microsoft.com/office/drawing/2014/main" id="{DADFE7F3-3EC6-52FC-9452-003F983666A4}"/>
              </a:ext>
            </a:extLst>
          </p:cNvPr>
          <p:cNvSpPr/>
          <p:nvPr/>
        </p:nvSpPr>
        <p:spPr>
          <a:xfrm>
            <a:off x="7752184" y="2708920"/>
            <a:ext cx="3528392" cy="2088232"/>
          </a:xfrm>
          <a:prstGeom prst="round2DiagRect">
            <a:avLst/>
          </a:prstGeom>
          <a:solidFill>
            <a:schemeClr val="bg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solidFill>
                  <a:schemeClr val="tx1"/>
                </a:solidFill>
              </a:rPr>
              <a:t>Decrease in accuracy</a:t>
            </a:r>
          </a:p>
          <a:p>
            <a:pPr marL="285750" indent="-285750" algn="ctr">
              <a:buFont typeface="Arial" panose="020B0604020202020204" pitchFamily="34" charset="0"/>
              <a:buChar char="•"/>
            </a:pPr>
            <a:r>
              <a:rPr lang="en-US" dirty="0">
                <a:solidFill>
                  <a:schemeClr val="tx1"/>
                </a:solidFill>
              </a:rPr>
              <a:t>Calibration at every usage</a:t>
            </a:r>
          </a:p>
          <a:p>
            <a:pPr marL="285750" indent="-285750" algn="ctr">
              <a:buFont typeface="Arial" panose="020B0604020202020204" pitchFamily="34" charset="0"/>
              <a:buChar char="•"/>
            </a:pPr>
            <a:r>
              <a:rPr lang="en-US" dirty="0">
                <a:solidFill>
                  <a:schemeClr val="tx1"/>
                </a:solidFill>
              </a:rPr>
              <a:t>Discomfort in everyday usage</a:t>
            </a:r>
          </a:p>
        </p:txBody>
      </p:sp>
      <p:sp>
        <p:nvSpPr>
          <p:cNvPr id="25" name="Espace réservé du pied de page 3">
            <a:extLst>
              <a:ext uri="{FF2B5EF4-FFF2-40B4-BE49-F238E27FC236}">
                <a16:creationId xmlns:a16="http://schemas.microsoft.com/office/drawing/2014/main" id="{141E242B-51D3-87D4-7F20-EC78744CFE05}"/>
              </a:ext>
            </a:extLst>
          </p:cNvPr>
          <p:cNvSpPr txBox="1">
            <a:spLocks/>
          </p:cNvSpPr>
          <p:nvPr/>
        </p:nvSpPr>
        <p:spPr bwMode="auto">
          <a:xfrm>
            <a:off x="4143920" y="6522209"/>
            <a:ext cx="4114800" cy="365125"/>
          </a:xfrm>
          <a:prstGeom prst="rect">
            <a:avLst/>
          </a:prstGeom>
        </p:spPr>
        <p:txBody>
          <a:bodyPr vert="horz" lIns="91440" tIns="45720" rIns="91440" bIns="45720" rtlCol="0" anchor="ctr"/>
          <a:lstStyle>
            <a:defPPr>
              <a:defRPr lang="fr-FR"/>
            </a:defPPr>
            <a:lvl1pPr marL="0" algn="ctr" defTabSz="914400">
              <a:defRPr sz="1200">
                <a:solidFill>
                  <a:schemeClr val="tx1">
                    <a:tint val="75000"/>
                  </a:schemeClr>
                </a:solidFill>
                <a:latin typeface="Arial"/>
                <a:ea typeface="Arial"/>
              </a:defRPr>
            </a:lvl1pPr>
            <a:lvl2pPr marL="457200" algn="l" defTabSz="914400">
              <a:defRPr sz="1800">
                <a:solidFill>
                  <a:schemeClr val="tx1"/>
                </a:solidFill>
                <a:latin typeface="+mn-lt"/>
                <a:ea typeface="+mn-ea"/>
              </a:defRPr>
            </a:lvl2pPr>
            <a:lvl3pPr marL="914400" algn="l" defTabSz="914400">
              <a:defRPr sz="1800">
                <a:solidFill>
                  <a:schemeClr val="tx1"/>
                </a:solidFill>
                <a:latin typeface="+mn-lt"/>
                <a:ea typeface="+mn-ea"/>
              </a:defRPr>
            </a:lvl3pPr>
            <a:lvl4pPr marL="1371600" algn="l" defTabSz="914400">
              <a:defRPr sz="1800">
                <a:solidFill>
                  <a:schemeClr val="tx1"/>
                </a:solidFill>
                <a:latin typeface="+mn-lt"/>
                <a:ea typeface="+mn-ea"/>
              </a:defRPr>
            </a:lvl4pPr>
            <a:lvl5pPr marL="1828800" algn="l" defTabSz="914400">
              <a:defRPr sz="1800">
                <a:solidFill>
                  <a:schemeClr val="tx1"/>
                </a:solidFill>
                <a:latin typeface="+mn-lt"/>
                <a:ea typeface="+mn-ea"/>
              </a:defRPr>
            </a:lvl5pPr>
            <a:lvl6pPr marL="2286000" algn="l" defTabSz="914400">
              <a:defRPr sz="1800">
                <a:solidFill>
                  <a:schemeClr val="tx1"/>
                </a:solidFill>
                <a:latin typeface="+mn-lt"/>
                <a:ea typeface="+mn-ea"/>
              </a:defRPr>
            </a:lvl6pPr>
            <a:lvl7pPr marL="2743200" algn="l" defTabSz="914400">
              <a:defRPr sz="1800">
                <a:solidFill>
                  <a:schemeClr val="tx1"/>
                </a:solidFill>
                <a:latin typeface="+mn-lt"/>
                <a:ea typeface="+mn-ea"/>
              </a:defRPr>
            </a:lvl7pPr>
            <a:lvl8pPr marL="3200400" algn="l" defTabSz="914400">
              <a:defRPr sz="1800">
                <a:solidFill>
                  <a:schemeClr val="tx1"/>
                </a:solidFill>
                <a:latin typeface="+mn-lt"/>
                <a:ea typeface="+mn-ea"/>
              </a:defRPr>
            </a:lvl8pPr>
            <a:lvl9pPr marL="3657600" algn="l" defTabSz="914400">
              <a:defRPr sz="1800">
                <a:solidFill>
                  <a:schemeClr val="tx1"/>
                </a:solidFill>
                <a:latin typeface="+mn-lt"/>
                <a:ea typeface="+mn-ea"/>
              </a:defRPr>
            </a:lvl9pPr>
          </a:lstStyle>
          <a:p>
            <a:pPr>
              <a:defRPr/>
            </a:pPr>
            <a:r>
              <a:rPr lang="nb-NO">
                <a:solidFill>
                  <a:schemeClr val="bg1">
                    <a:lumMod val="65000"/>
                  </a:schemeClr>
                </a:solidFill>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4031980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65606B22-01B1-38D9-0DEF-EF96F5CD26CD}"/>
              </a:ext>
            </a:extLst>
          </p:cNvPr>
          <p:cNvGrpSpPr>
            <a:grpSpLocks/>
          </p:cNvGrpSpPr>
          <p:nvPr/>
        </p:nvGrpSpPr>
        <p:grpSpPr>
          <a:xfrm>
            <a:off x="6816080" y="5189596"/>
            <a:ext cx="4536504" cy="1192129"/>
            <a:chOff x="6816080" y="5189596"/>
            <a:chExt cx="4536504" cy="1192129"/>
          </a:xfrm>
        </p:grpSpPr>
        <p:pic>
          <p:nvPicPr>
            <p:cNvPr id="8" name="Picture 2" descr="Page d'accueil - LISN | Laboratoire Interdisciplinaire des Sciences du  Numérique">
              <a:extLst>
                <a:ext uri="{FF2B5EF4-FFF2-40B4-BE49-F238E27FC236}">
                  <a16:creationId xmlns:a16="http://schemas.microsoft.com/office/drawing/2014/main" id="{03FA9292-9A66-B7FD-28B0-F225F94CB41B}"/>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E65FB26F-CFE6-CEA4-0617-95D3CD205A65}"/>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CB90EDFB-E8B4-0B1C-8EDB-D9BEB5D1FAA1}"/>
              </a:ext>
            </a:extLst>
          </p:cNvPr>
          <p:cNvSpPr>
            <a:spLocks noGrp="1"/>
          </p:cNvSpPr>
          <p:nvPr>
            <p:ph type="title"/>
          </p:nvPr>
        </p:nvSpPr>
        <p:spPr/>
        <p:txBody>
          <a:bodyPr/>
          <a:lstStyle/>
          <a:p>
            <a:r>
              <a:rPr lang="fr-FR" dirty="0"/>
              <a:t>Transfer Learning</a:t>
            </a:r>
          </a:p>
        </p:txBody>
      </p:sp>
      <p:sp>
        <p:nvSpPr>
          <p:cNvPr id="5" name="Espace réservé du numéro de diapositive 4">
            <a:extLst>
              <a:ext uri="{FF2B5EF4-FFF2-40B4-BE49-F238E27FC236}">
                <a16:creationId xmlns:a16="http://schemas.microsoft.com/office/drawing/2014/main" id="{737C7221-B7D0-856E-0BA7-BA65830DBFBA}"/>
              </a:ext>
            </a:extLst>
          </p:cNvPr>
          <p:cNvSpPr>
            <a:spLocks noGrp="1"/>
          </p:cNvSpPr>
          <p:nvPr>
            <p:ph type="sldNum" sz="quarter" idx="12"/>
          </p:nvPr>
        </p:nvSpPr>
        <p:spPr/>
        <p:txBody>
          <a:bodyPr/>
          <a:lstStyle/>
          <a:p>
            <a:pPr>
              <a:defRPr/>
            </a:pPr>
            <a:fld id="{5E177536-18BF-1743-A360-A4663329E682}" type="slidenum">
              <a:rPr lang="fr-FR" smtClean="0"/>
              <a:t>5</a:t>
            </a:fld>
            <a:endParaRPr lang="fr-FR"/>
          </a:p>
        </p:txBody>
      </p:sp>
      <p:graphicFrame>
        <p:nvGraphicFramePr>
          <p:cNvPr id="6" name="Diagramme 5">
            <a:extLst>
              <a:ext uri="{FF2B5EF4-FFF2-40B4-BE49-F238E27FC236}">
                <a16:creationId xmlns:a16="http://schemas.microsoft.com/office/drawing/2014/main" id="{2A3F3316-7917-B617-8286-4F35DE982F30}"/>
              </a:ext>
            </a:extLst>
          </p:cNvPr>
          <p:cNvGraphicFramePr/>
          <p:nvPr>
            <p:extLst>
              <p:ext uri="{D42A27DB-BD31-4B8C-83A1-F6EECF244321}">
                <p14:modId xmlns:p14="http://schemas.microsoft.com/office/powerpoint/2010/main" val="189082773"/>
              </p:ext>
            </p:extLst>
          </p:nvPr>
        </p:nvGraphicFramePr>
        <p:xfrm>
          <a:off x="2518420" y="1268760"/>
          <a:ext cx="6926805" cy="52710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Espace réservé du pied de page 3">
            <a:extLst>
              <a:ext uri="{FF2B5EF4-FFF2-40B4-BE49-F238E27FC236}">
                <a16:creationId xmlns:a16="http://schemas.microsoft.com/office/drawing/2014/main" id="{656B8FAB-DD0D-EFAD-52A0-5C48DC899DAA}"/>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151321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518571-84E9-2BCF-EC62-D2EE6E66495D}"/>
              </a:ext>
            </a:extLst>
          </p:cNvPr>
          <p:cNvSpPr>
            <a:spLocks noGrp="1"/>
          </p:cNvSpPr>
          <p:nvPr>
            <p:ph type="title"/>
          </p:nvPr>
        </p:nvSpPr>
        <p:spPr/>
        <p:txBody>
          <a:bodyPr/>
          <a:lstStyle/>
          <a:p>
            <a:r>
              <a:rPr lang="fr-FR" dirty="0" err="1"/>
              <a:t>Paradigm</a:t>
            </a:r>
            <a:r>
              <a:rPr lang="fr-FR" dirty="0"/>
              <a:t>: </a:t>
            </a:r>
            <a:r>
              <a:rPr lang="fr-FR" dirty="0" err="1"/>
              <a:t>Burst</a:t>
            </a:r>
            <a:r>
              <a:rPr lang="fr-FR" dirty="0"/>
              <a:t>-CVEP</a:t>
            </a:r>
          </a:p>
        </p:txBody>
      </p:sp>
      <p:sp>
        <p:nvSpPr>
          <p:cNvPr id="5" name="Espace réservé du numéro de diapositive 4">
            <a:extLst>
              <a:ext uri="{FF2B5EF4-FFF2-40B4-BE49-F238E27FC236}">
                <a16:creationId xmlns:a16="http://schemas.microsoft.com/office/drawing/2014/main" id="{6A1814A3-45BC-19FA-DDA2-7ADAD2B3E180}"/>
              </a:ext>
            </a:extLst>
          </p:cNvPr>
          <p:cNvSpPr>
            <a:spLocks noGrp="1"/>
          </p:cNvSpPr>
          <p:nvPr>
            <p:ph type="sldNum" sz="quarter" idx="12"/>
          </p:nvPr>
        </p:nvSpPr>
        <p:spPr/>
        <p:txBody>
          <a:bodyPr/>
          <a:lstStyle/>
          <a:p>
            <a:pPr>
              <a:defRPr/>
            </a:pPr>
            <a:fld id="{5E177536-18BF-1743-A360-A4663329E682}" type="slidenum">
              <a:rPr lang="fr-FR" smtClean="0"/>
              <a:t>6</a:t>
            </a:fld>
            <a:endParaRPr lang="fr-FR"/>
          </a:p>
        </p:txBody>
      </p:sp>
      <p:graphicFrame>
        <p:nvGraphicFramePr>
          <p:cNvPr id="6" name="Espace réservé du contenu 2">
            <a:extLst>
              <a:ext uri="{FF2B5EF4-FFF2-40B4-BE49-F238E27FC236}">
                <a16:creationId xmlns:a16="http://schemas.microsoft.com/office/drawing/2014/main" id="{07EF1C12-380F-2124-E572-19D16CADCFFC}"/>
              </a:ext>
            </a:extLst>
          </p:cNvPr>
          <p:cNvGraphicFramePr>
            <a:graphicFrameLocks noGrp="1"/>
          </p:cNvGraphicFramePr>
          <p:nvPr>
            <p:ph idx="1"/>
            <p:extLst>
              <p:ext uri="{D42A27DB-BD31-4B8C-83A1-F6EECF244321}">
                <p14:modId xmlns:p14="http://schemas.microsoft.com/office/powerpoint/2010/main" val="2674896101"/>
              </p:ext>
            </p:extLst>
          </p:nvPr>
        </p:nvGraphicFramePr>
        <p:xfrm>
          <a:off x="838200" y="1825625"/>
          <a:ext cx="461268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 6" descr="Une image contenant capture d’écran, Caractère coloré, texte, diagramme&#10;&#10;Description générée automatiquement">
            <a:extLst>
              <a:ext uri="{FF2B5EF4-FFF2-40B4-BE49-F238E27FC236}">
                <a16:creationId xmlns:a16="http://schemas.microsoft.com/office/drawing/2014/main" id="{CF7AB107-13E9-A167-DDFB-435AD7C92223}"/>
              </a:ext>
            </a:extLst>
          </p:cNvPr>
          <p:cNvPicPr>
            <a:picLocks noChangeAspect="1"/>
          </p:cNvPicPr>
          <p:nvPr/>
        </p:nvPicPr>
        <p:blipFill rotWithShape="1">
          <a:blip r:embed="rId7">
            <a:extLst>
              <a:ext uri="{28A0092B-C50C-407E-A947-70E740481C1C}">
                <a14:useLocalDpi xmlns:a14="http://schemas.microsoft.com/office/drawing/2010/main" val="0"/>
              </a:ext>
            </a:extLst>
          </a:blip>
          <a:srcRect r="1053" b="26316"/>
          <a:stretch/>
        </p:blipFill>
        <p:spPr>
          <a:xfrm>
            <a:off x="5811913" y="2412841"/>
            <a:ext cx="6064136" cy="2611919"/>
          </a:xfrm>
          <a:prstGeom prst="rect">
            <a:avLst/>
          </a:prstGeom>
        </p:spPr>
      </p:pic>
      <p:grpSp>
        <p:nvGrpSpPr>
          <p:cNvPr id="8" name="Groupe 7">
            <a:extLst>
              <a:ext uri="{FF2B5EF4-FFF2-40B4-BE49-F238E27FC236}">
                <a16:creationId xmlns:a16="http://schemas.microsoft.com/office/drawing/2014/main" id="{274B54D4-CFA3-A0C8-CF46-87CF36E67DF4}"/>
              </a:ext>
            </a:extLst>
          </p:cNvPr>
          <p:cNvGrpSpPr>
            <a:grpSpLocks/>
          </p:cNvGrpSpPr>
          <p:nvPr/>
        </p:nvGrpSpPr>
        <p:grpSpPr>
          <a:xfrm>
            <a:off x="6816080" y="5229200"/>
            <a:ext cx="4536504" cy="1192129"/>
            <a:chOff x="6816080" y="5189596"/>
            <a:chExt cx="4536504" cy="1192129"/>
          </a:xfrm>
        </p:grpSpPr>
        <p:pic>
          <p:nvPicPr>
            <p:cNvPr id="9" name="Picture 2" descr="Page d'accueil - LISN | Laboratoire Interdisciplinaire des Sciences du  Numérique">
              <a:extLst>
                <a:ext uri="{FF2B5EF4-FFF2-40B4-BE49-F238E27FC236}">
                  <a16:creationId xmlns:a16="http://schemas.microsoft.com/office/drawing/2014/main" id="{816570BA-36C6-6139-31F7-AE9217B5550B}"/>
                </a:ext>
              </a:extLst>
            </p:cNvPr>
            <p:cNvPicPr>
              <a:picLocks noChangeAspect="1"/>
            </p:cNvPicPr>
            <p:nvPr/>
          </p:nvPicPr>
          <p:blipFill>
            <a:blip r:embed="rId8">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9C6CDB3E-88ED-276A-CAD8-6F7B4286F2FB}"/>
                </a:ext>
              </a:extLst>
            </p:cNvPr>
            <p:cNvPicPr>
              <a:picLocks noChangeAspect="1"/>
            </p:cNvPicPr>
            <p:nvPr/>
          </p:nvPicPr>
          <p:blipFill>
            <a:blip r:embed="rId9">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B14D39E7-6C44-7679-77DD-1D495DF438CA}"/>
              </a:ext>
            </a:extLst>
          </p:cNvPr>
          <p:cNvSpPr txBox="1"/>
          <p:nvPr/>
        </p:nvSpPr>
        <p:spPr>
          <a:xfrm>
            <a:off x="-28268" y="6506186"/>
            <a:ext cx="5542938" cy="369332"/>
          </a:xfrm>
          <a:prstGeom prst="rect">
            <a:avLst/>
          </a:prstGeom>
          <a:noFill/>
        </p:spPr>
        <p:txBody>
          <a:bodyPr wrap="square" rtlCol="0">
            <a:spAutoFit/>
          </a:bodyPr>
          <a:lstStyle/>
          <a:p>
            <a:r>
              <a:rPr lang="fr-FR" sz="900" b="0" i="0" dirty="0">
                <a:effectLst/>
                <a:latin typeface="Arial" panose="020B0604020202020204" pitchFamily="34" charset="0"/>
              </a:rPr>
              <a:t>Martinez-</a:t>
            </a:r>
            <a:r>
              <a:rPr lang="fr-FR" sz="900" b="0" i="0" dirty="0" err="1">
                <a:effectLst/>
                <a:latin typeface="Arial" panose="020B0604020202020204" pitchFamily="34" charset="0"/>
              </a:rPr>
              <a:t>Cagiga</a:t>
            </a:r>
            <a:r>
              <a:rPr lang="fr-FR" sz="900" dirty="0" err="1">
                <a:latin typeface="Arial" panose="020B0604020202020204" pitchFamily="34" charset="0"/>
              </a:rPr>
              <a:t>l</a:t>
            </a:r>
            <a:r>
              <a:rPr lang="fr-FR" sz="900" dirty="0">
                <a:latin typeface="Arial" panose="020B0604020202020204" pitchFamily="34" charset="0"/>
              </a:rPr>
              <a:t> et al</a:t>
            </a:r>
            <a:r>
              <a:rPr lang="fr-FR" sz="900" b="0" i="0" dirty="0">
                <a:effectLst/>
                <a:latin typeface="Arial" panose="020B0604020202020204" pitchFamily="34" charset="0"/>
              </a:rPr>
              <a:t>. Journal of Neural Engineering, 2021.</a:t>
            </a:r>
            <a:br>
              <a:rPr lang="fr-FR" sz="900" dirty="0"/>
            </a:br>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Castilloset</a:t>
            </a:r>
            <a:r>
              <a:rPr lang="fr-FR" sz="900" b="0" i="0" dirty="0">
                <a:effectLst/>
                <a:latin typeface="Arial" panose="020B0604020202020204" pitchFamily="34" charset="0"/>
              </a:rPr>
              <a:t> al. </a:t>
            </a:r>
            <a:r>
              <a:rPr lang="fr-FR" sz="900" b="0" i="0" dirty="0" err="1">
                <a:effectLst/>
                <a:latin typeface="Arial" panose="020B0604020202020204" pitchFamily="34" charset="0"/>
              </a:rPr>
              <a:t>NeuroImage</a:t>
            </a:r>
            <a:r>
              <a:rPr lang="fr-FR" sz="900" b="0" i="0" dirty="0">
                <a:effectLst/>
                <a:latin typeface="Arial" panose="020B0604020202020204" pitchFamily="34" charset="0"/>
              </a:rPr>
              <a:t> 2023.</a:t>
            </a:r>
            <a:endParaRPr lang="fr-FR" sz="900" dirty="0"/>
          </a:p>
        </p:txBody>
      </p:sp>
      <p:sp>
        <p:nvSpPr>
          <p:cNvPr id="12" name="Espace réservé du pied de page 3">
            <a:extLst>
              <a:ext uri="{FF2B5EF4-FFF2-40B4-BE49-F238E27FC236}">
                <a16:creationId xmlns:a16="http://schemas.microsoft.com/office/drawing/2014/main" id="{D48469A4-9287-58C5-0C86-FF8EBEFEFDE5}"/>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489148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E648BE-24D3-1A39-F913-6EA465757BD1}"/>
              </a:ext>
            </a:extLst>
          </p:cNvPr>
          <p:cNvSpPr>
            <a:spLocks noGrp="1"/>
          </p:cNvSpPr>
          <p:nvPr>
            <p:ph type="title"/>
          </p:nvPr>
        </p:nvSpPr>
        <p:spPr/>
        <p:txBody>
          <a:bodyPr/>
          <a:lstStyle/>
          <a:p>
            <a:r>
              <a:rPr lang="en-US" dirty="0"/>
              <a:t>Aim &amp; Hypothesis</a:t>
            </a:r>
          </a:p>
        </p:txBody>
      </p:sp>
      <p:sp>
        <p:nvSpPr>
          <p:cNvPr id="3" name="Espace réservé du contenu 2">
            <a:extLst>
              <a:ext uri="{FF2B5EF4-FFF2-40B4-BE49-F238E27FC236}">
                <a16:creationId xmlns:a16="http://schemas.microsoft.com/office/drawing/2014/main" id="{DEEC6CB0-AD36-04CB-5CAC-AEB7CA5F9018}"/>
              </a:ext>
            </a:extLst>
          </p:cNvPr>
          <p:cNvSpPr>
            <a:spLocks noGrp="1"/>
          </p:cNvSpPr>
          <p:nvPr>
            <p:ph idx="1"/>
          </p:nvPr>
        </p:nvSpPr>
        <p:spPr>
          <a:xfrm>
            <a:off x="349987" y="1500827"/>
            <a:ext cx="11492025" cy="704038"/>
          </a:xfrm>
          <a:ln w="19050">
            <a:solidFill>
              <a:schemeClr val="accent2">
                <a:lumMod val="75000"/>
              </a:schemeClr>
            </a:solidFill>
          </a:ln>
        </p:spPr>
        <p:txBody>
          <a:bodyPr>
            <a:normAutofit fontScale="55000" lnSpcReduction="20000"/>
          </a:bodyPr>
          <a:lstStyle/>
          <a:p>
            <a:pPr marL="0" indent="0" algn="ctr">
              <a:buNone/>
            </a:pPr>
            <a:r>
              <a:rPr lang="fr-FR" dirty="0"/>
              <a:t>Are </a:t>
            </a:r>
            <a:r>
              <a:rPr lang="fr-FR" dirty="0" err="1"/>
              <a:t>Riemannian</a:t>
            </a:r>
            <a:r>
              <a:rPr lang="fr-FR" dirty="0"/>
              <a:t> Deep Learning </a:t>
            </a:r>
            <a:r>
              <a:rPr lang="fr-FR" dirty="0" err="1"/>
              <a:t>Algorithms</a:t>
            </a:r>
            <a:r>
              <a:rPr lang="fr-FR" dirty="0"/>
              <a:t> </a:t>
            </a:r>
            <a:r>
              <a:rPr lang="fr-FR" dirty="0" err="1"/>
              <a:t>improving</a:t>
            </a:r>
            <a:r>
              <a:rPr lang="fr-FR" dirty="0"/>
              <a:t> </a:t>
            </a:r>
            <a:r>
              <a:rPr lang="fr-FR" dirty="0" err="1"/>
              <a:t>accuracy</a:t>
            </a:r>
            <a:r>
              <a:rPr lang="fr-FR" dirty="0"/>
              <a:t> in </a:t>
            </a:r>
            <a:r>
              <a:rPr lang="fr-FR" dirty="0" err="1"/>
              <a:t>Burst</a:t>
            </a:r>
            <a:r>
              <a:rPr lang="fr-FR" dirty="0"/>
              <a:t>-CVEP-</a:t>
            </a:r>
            <a:r>
              <a:rPr lang="fr-FR" dirty="0" err="1"/>
              <a:t>based</a:t>
            </a:r>
            <a:r>
              <a:rPr lang="fr-FR" dirty="0"/>
              <a:t> BCI ? </a:t>
            </a:r>
          </a:p>
          <a:p>
            <a:pPr marL="0" indent="0" algn="ctr">
              <a:buNone/>
            </a:pPr>
            <a:r>
              <a:rPr lang="fr-FR" dirty="0"/>
              <a:t>Is </a:t>
            </a:r>
            <a:r>
              <a:rPr lang="fr-FR" dirty="0" err="1"/>
              <a:t>it</a:t>
            </a:r>
            <a:r>
              <a:rPr lang="fr-FR" dirty="0"/>
              <a:t> performant in a </a:t>
            </a:r>
            <a:r>
              <a:rPr lang="fr-FR" dirty="0" err="1"/>
              <a:t>domain</a:t>
            </a:r>
            <a:r>
              <a:rPr lang="fr-FR" dirty="0"/>
              <a:t> adaptation or </a:t>
            </a:r>
            <a:r>
              <a:rPr lang="fr-FR" dirty="0" err="1"/>
              <a:t>domain</a:t>
            </a:r>
            <a:r>
              <a:rPr lang="fr-FR" dirty="0"/>
              <a:t> </a:t>
            </a:r>
            <a:r>
              <a:rPr lang="fr-FR" dirty="0" err="1"/>
              <a:t>generalization</a:t>
            </a:r>
            <a:r>
              <a:rPr lang="fr-FR" dirty="0"/>
              <a:t> </a:t>
            </a:r>
            <a:r>
              <a:rPr lang="fr-FR" dirty="0" err="1"/>
              <a:t>framework</a:t>
            </a:r>
            <a:r>
              <a:rPr lang="fr-FR" dirty="0"/>
              <a:t> ?</a:t>
            </a:r>
            <a:endParaRPr lang="en-US" dirty="0"/>
          </a:p>
        </p:txBody>
      </p:sp>
      <p:sp>
        <p:nvSpPr>
          <p:cNvPr id="4" name="Espace réservé du pied de page 3">
            <a:extLst>
              <a:ext uri="{FF2B5EF4-FFF2-40B4-BE49-F238E27FC236}">
                <a16:creationId xmlns:a16="http://schemas.microsoft.com/office/drawing/2014/main" id="{A12EF8A2-F993-356C-0D9D-5762E1EBBFB7}"/>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CD46D685-0278-CDA4-E6A8-B84F43576C73}"/>
              </a:ext>
            </a:extLst>
          </p:cNvPr>
          <p:cNvSpPr>
            <a:spLocks noGrp="1"/>
          </p:cNvSpPr>
          <p:nvPr>
            <p:ph type="sldNum" sz="quarter" idx="12"/>
          </p:nvPr>
        </p:nvSpPr>
        <p:spPr/>
        <p:txBody>
          <a:bodyPr/>
          <a:lstStyle/>
          <a:p>
            <a:pPr>
              <a:defRPr/>
            </a:pPr>
            <a:fld id="{5E177536-18BF-1743-A360-A4663329E682}" type="slidenum">
              <a:rPr lang="en-US" smtClean="0"/>
              <a:t>7</a:t>
            </a:fld>
            <a:endParaRPr lang="en-US"/>
          </a:p>
        </p:txBody>
      </p:sp>
      <p:sp>
        <p:nvSpPr>
          <p:cNvPr id="6" name="Espace réservé du contenu 2">
            <a:extLst>
              <a:ext uri="{FF2B5EF4-FFF2-40B4-BE49-F238E27FC236}">
                <a16:creationId xmlns:a16="http://schemas.microsoft.com/office/drawing/2014/main" id="{21EA3DA8-4C76-D51F-AF83-D799C2975E57}"/>
              </a:ext>
            </a:extLst>
          </p:cNvPr>
          <p:cNvSpPr txBox="1">
            <a:spLocks/>
          </p:cNvSpPr>
          <p:nvPr/>
        </p:nvSpPr>
        <p:spPr bwMode="auto">
          <a:xfrm>
            <a:off x="315128" y="2792844"/>
            <a:ext cx="11492025" cy="2292340"/>
          </a:xfrm>
          <a:prstGeom prst="roundRect">
            <a:avLst/>
          </a:prstGeom>
          <a:ln w="19050">
            <a:solidFill>
              <a:srgbClr val="00B050"/>
            </a:solidFill>
          </a:ln>
        </p:spPr>
        <p:txBody>
          <a:bodyPr vert="horz" lIns="91440" tIns="45720" rIns="91440" bIns="45720" rtlCol="0">
            <a:normAutofit/>
          </a:bodyPr>
          <a:lstStyle>
            <a:lvl1pPr marL="228600" indent="-228600" algn="l" defTabSz="914400">
              <a:lnSpc>
                <a:spcPct val="90000"/>
              </a:lnSpc>
              <a:spcBef>
                <a:spcPts val="1000"/>
              </a:spcBef>
              <a:buFont typeface="Arial"/>
              <a:buChar char="•"/>
              <a:defRPr sz="3600">
                <a:solidFill>
                  <a:schemeClr val="tx1"/>
                </a:solidFill>
                <a:latin typeface="Arial"/>
                <a:ea typeface="Arial"/>
              </a:defRPr>
            </a:lvl1pPr>
            <a:lvl2pPr marL="685800" indent="-228600" algn="l" defTabSz="914400">
              <a:lnSpc>
                <a:spcPct val="90000"/>
              </a:lnSpc>
              <a:spcBef>
                <a:spcPts val="500"/>
              </a:spcBef>
              <a:buFont typeface="Arial"/>
              <a:buChar char="•"/>
              <a:defRPr sz="3200">
                <a:solidFill>
                  <a:schemeClr val="tx1"/>
                </a:solidFill>
                <a:latin typeface="Arial"/>
                <a:ea typeface="Arial"/>
              </a:defRPr>
            </a:lvl2pPr>
            <a:lvl3pPr marL="1143000" indent="-228600" algn="l" defTabSz="914400">
              <a:lnSpc>
                <a:spcPct val="90000"/>
              </a:lnSpc>
              <a:spcBef>
                <a:spcPts val="500"/>
              </a:spcBef>
              <a:buFont typeface="Arial"/>
              <a:buChar char="•"/>
              <a:defRPr sz="2800">
                <a:solidFill>
                  <a:schemeClr val="tx1"/>
                </a:solidFill>
                <a:latin typeface="Arial"/>
                <a:ea typeface="Arial"/>
              </a:defRPr>
            </a:lvl3pPr>
            <a:lvl4pPr marL="1600200" indent="-228600" algn="l" defTabSz="914400">
              <a:lnSpc>
                <a:spcPct val="90000"/>
              </a:lnSpc>
              <a:spcBef>
                <a:spcPts val="500"/>
              </a:spcBef>
              <a:buFont typeface="Arial"/>
              <a:buChar char="•"/>
              <a:defRPr sz="2400">
                <a:solidFill>
                  <a:schemeClr val="tx1"/>
                </a:solidFill>
                <a:latin typeface="Arial"/>
                <a:ea typeface="Arial"/>
              </a:defRPr>
            </a:lvl4pPr>
            <a:lvl5pPr marL="2057400" indent="-228600" algn="l" defTabSz="914400">
              <a:lnSpc>
                <a:spcPct val="90000"/>
              </a:lnSpc>
              <a:spcBef>
                <a:spcPts val="500"/>
              </a:spcBef>
              <a:buFont typeface="Arial"/>
              <a:buChar char="•"/>
              <a:defRPr sz="2400">
                <a:solidFill>
                  <a:schemeClr val="tx1"/>
                </a:solidFill>
                <a:latin typeface="Arial"/>
                <a:ea typeface="Arial"/>
              </a:defRPr>
            </a:lvl5pPr>
            <a:lvl6pPr marL="2514600" indent="-228600" algn="l" defTabSz="914400">
              <a:lnSpc>
                <a:spcPct val="90000"/>
              </a:lnSpc>
              <a:spcBef>
                <a:spcPts val="500"/>
              </a:spcBef>
              <a:buFont typeface="Arial"/>
              <a:buChar char="•"/>
              <a:defRPr sz="1800">
                <a:solidFill>
                  <a:schemeClr val="tx1"/>
                </a:solidFill>
                <a:latin typeface="+mn-lt"/>
                <a:ea typeface="+mn-ea"/>
              </a:defRPr>
            </a:lvl6pPr>
            <a:lvl7pPr marL="2971800" indent="-228600" algn="l" defTabSz="914400">
              <a:lnSpc>
                <a:spcPct val="90000"/>
              </a:lnSpc>
              <a:spcBef>
                <a:spcPts val="500"/>
              </a:spcBef>
              <a:buFont typeface="Arial"/>
              <a:buChar char="•"/>
              <a:defRPr sz="1800">
                <a:solidFill>
                  <a:schemeClr val="tx1"/>
                </a:solidFill>
                <a:latin typeface="+mn-lt"/>
                <a:ea typeface="+mn-ea"/>
              </a:defRPr>
            </a:lvl7pPr>
            <a:lvl8pPr marL="3429000" indent="-228600" algn="l" defTabSz="914400">
              <a:lnSpc>
                <a:spcPct val="90000"/>
              </a:lnSpc>
              <a:spcBef>
                <a:spcPts val="500"/>
              </a:spcBef>
              <a:buFont typeface="Arial"/>
              <a:buChar char="•"/>
              <a:defRPr sz="1800">
                <a:solidFill>
                  <a:schemeClr val="tx1"/>
                </a:solidFill>
                <a:latin typeface="+mn-lt"/>
                <a:ea typeface="+mn-ea"/>
              </a:defRPr>
            </a:lvl8pPr>
            <a:lvl9pPr marL="3886200" indent="-228600" algn="l" defTabSz="914400">
              <a:lnSpc>
                <a:spcPct val="90000"/>
              </a:lnSpc>
              <a:spcBef>
                <a:spcPts val="500"/>
              </a:spcBef>
              <a:buFont typeface="Arial"/>
              <a:buChar char="•"/>
              <a:defRPr sz="1800">
                <a:solidFill>
                  <a:schemeClr val="tx1"/>
                </a:solidFill>
                <a:latin typeface="+mn-lt"/>
                <a:ea typeface="+mn-ea"/>
              </a:defRPr>
            </a:lvl9pPr>
          </a:lstStyle>
          <a:p>
            <a:pPr marL="0" indent="0">
              <a:buNone/>
            </a:pPr>
            <a:r>
              <a:rPr lang="fr-FR" sz="2400" dirty="0" err="1"/>
              <a:t>Hypothesis</a:t>
            </a:r>
            <a:endParaRPr lang="fr-FR" sz="2400" dirty="0"/>
          </a:p>
          <a:p>
            <a:r>
              <a:rPr lang="fr-FR" sz="2400" dirty="0" err="1"/>
              <a:t>Riemannian</a:t>
            </a:r>
            <a:r>
              <a:rPr lang="fr-FR" sz="2400" dirty="0"/>
              <a:t> Deep Learning </a:t>
            </a:r>
            <a:r>
              <a:rPr lang="fr-FR" sz="2400" dirty="0" err="1"/>
              <a:t>algorithms</a:t>
            </a:r>
            <a:r>
              <a:rPr lang="fr-FR" sz="2400" dirty="0"/>
              <a:t> </a:t>
            </a:r>
            <a:r>
              <a:rPr lang="fr-FR" sz="2400" dirty="0" err="1"/>
              <a:t>perform</a:t>
            </a:r>
            <a:r>
              <a:rPr lang="fr-FR" sz="2400" dirty="0"/>
              <a:t> as good as / </a:t>
            </a:r>
            <a:r>
              <a:rPr lang="fr-FR" sz="2400" dirty="0" err="1"/>
              <a:t>better</a:t>
            </a:r>
            <a:r>
              <a:rPr lang="fr-FR" sz="2400" dirty="0"/>
              <a:t> </a:t>
            </a:r>
            <a:r>
              <a:rPr lang="fr-FR" sz="2400" dirty="0" err="1"/>
              <a:t>than</a:t>
            </a:r>
            <a:r>
              <a:rPr lang="fr-FR" sz="2400" dirty="0"/>
              <a:t> « </a:t>
            </a:r>
            <a:r>
              <a:rPr lang="fr-FR" sz="2400" dirty="0" err="1"/>
              <a:t>classical</a:t>
            </a:r>
            <a:r>
              <a:rPr lang="fr-FR" sz="2400" dirty="0"/>
              <a:t> » </a:t>
            </a:r>
            <a:r>
              <a:rPr lang="fr-FR" sz="2400" dirty="0" err="1"/>
              <a:t>deep</a:t>
            </a:r>
            <a:r>
              <a:rPr lang="fr-FR" sz="2400" dirty="0"/>
              <a:t> </a:t>
            </a:r>
            <a:r>
              <a:rPr lang="fr-FR" sz="2400" dirty="0" err="1"/>
              <a:t>learning</a:t>
            </a:r>
            <a:r>
              <a:rPr lang="fr-FR" sz="2400" dirty="0"/>
              <a:t> </a:t>
            </a:r>
            <a:r>
              <a:rPr lang="fr-FR" sz="2400" dirty="0" err="1"/>
              <a:t>algorithm</a:t>
            </a:r>
            <a:endParaRPr lang="fr-FR" sz="2400" dirty="0"/>
          </a:p>
          <a:p>
            <a:r>
              <a:rPr lang="fr-FR" sz="2400" dirty="0" err="1"/>
              <a:t>Riemannian</a:t>
            </a:r>
            <a:r>
              <a:rPr lang="fr-FR" sz="2400" dirty="0"/>
              <a:t> Deep Learning </a:t>
            </a:r>
            <a:r>
              <a:rPr lang="fr-FR" sz="2400" dirty="0" err="1"/>
              <a:t>algorithms</a:t>
            </a:r>
            <a:r>
              <a:rPr lang="fr-FR" sz="2400" dirty="0"/>
              <a:t> and </a:t>
            </a:r>
            <a:r>
              <a:rPr lang="fr-FR" sz="2400" dirty="0" err="1"/>
              <a:t>domain</a:t>
            </a:r>
            <a:r>
              <a:rPr lang="fr-FR" sz="2400" dirty="0"/>
              <a:t> adaptation help to </a:t>
            </a:r>
            <a:r>
              <a:rPr lang="fr-FR" sz="2400" dirty="0" err="1"/>
              <a:t>counter</a:t>
            </a:r>
            <a:r>
              <a:rPr lang="fr-FR" sz="2400" dirty="0"/>
              <a:t> inter-</a:t>
            </a:r>
            <a:r>
              <a:rPr lang="fr-FR" sz="2400" dirty="0" err="1"/>
              <a:t>subject</a:t>
            </a:r>
            <a:r>
              <a:rPr lang="fr-FR" sz="2400" dirty="0"/>
              <a:t> </a:t>
            </a:r>
            <a:r>
              <a:rPr lang="fr-FR" sz="2400" dirty="0" err="1"/>
              <a:t>variabilities</a:t>
            </a:r>
            <a:r>
              <a:rPr lang="fr-FR" sz="2400" dirty="0"/>
              <a:t> </a:t>
            </a:r>
            <a:r>
              <a:rPr lang="fr-FR" sz="2400" dirty="0" err="1"/>
              <a:t>effects</a:t>
            </a:r>
            <a:endParaRPr lang="fr-FR" sz="2400" dirty="0"/>
          </a:p>
          <a:p>
            <a:endParaRPr lang="en-US" sz="2400" dirty="0"/>
          </a:p>
        </p:txBody>
      </p:sp>
    </p:spTree>
    <p:extLst>
      <p:ext uri="{BB962C8B-B14F-4D97-AF65-F5344CB8AC3E}">
        <p14:creationId xmlns:p14="http://schemas.microsoft.com/office/powerpoint/2010/main" val="575251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566D96-FD3C-397A-A5FC-74B05455DCD6}"/>
              </a:ext>
            </a:extLst>
          </p:cNvPr>
          <p:cNvSpPr>
            <a:spLocks noGrp="1"/>
          </p:cNvSpPr>
          <p:nvPr>
            <p:ph type="title"/>
          </p:nvPr>
        </p:nvSpPr>
        <p:spPr/>
        <p:txBody>
          <a:bodyPr/>
          <a:lstStyle/>
          <a:p>
            <a:r>
              <a:rPr lang="fr-FR" dirty="0" err="1"/>
              <a:t>Experiments</a:t>
            </a:r>
            <a:endParaRPr lang="en-US" dirty="0"/>
          </a:p>
        </p:txBody>
      </p:sp>
      <p:sp>
        <p:nvSpPr>
          <p:cNvPr id="3" name="Espace réservé du contenu 2">
            <a:extLst>
              <a:ext uri="{FF2B5EF4-FFF2-40B4-BE49-F238E27FC236}">
                <a16:creationId xmlns:a16="http://schemas.microsoft.com/office/drawing/2014/main" id="{86380E8C-8960-7A42-86D6-BB0D95399C05}"/>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287132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307F5B-3FEB-CCCF-21A3-09DEA8D8B99E}"/>
              </a:ext>
            </a:extLst>
          </p:cNvPr>
          <p:cNvSpPr>
            <a:spLocks noGrp="1"/>
          </p:cNvSpPr>
          <p:nvPr>
            <p:ph type="title"/>
          </p:nvPr>
        </p:nvSpPr>
        <p:spPr/>
        <p:txBody>
          <a:bodyPr/>
          <a:lstStyle/>
          <a:p>
            <a:r>
              <a:rPr lang="fr-FR" dirty="0" err="1"/>
              <a:t>Datasets</a:t>
            </a:r>
            <a:endParaRPr lang="fr-FR" dirty="0"/>
          </a:p>
        </p:txBody>
      </p:sp>
      <p:sp>
        <p:nvSpPr>
          <p:cNvPr id="5" name="Espace réservé du numéro de diapositive 4">
            <a:extLst>
              <a:ext uri="{FF2B5EF4-FFF2-40B4-BE49-F238E27FC236}">
                <a16:creationId xmlns:a16="http://schemas.microsoft.com/office/drawing/2014/main" id="{F9A7329D-88D3-75C1-D22A-6E5B10498BB1}"/>
              </a:ext>
            </a:extLst>
          </p:cNvPr>
          <p:cNvSpPr>
            <a:spLocks noGrp="1"/>
          </p:cNvSpPr>
          <p:nvPr>
            <p:ph type="sldNum" sz="quarter" idx="12"/>
          </p:nvPr>
        </p:nvSpPr>
        <p:spPr/>
        <p:txBody>
          <a:bodyPr/>
          <a:lstStyle/>
          <a:p>
            <a:pPr>
              <a:defRPr/>
            </a:pPr>
            <a:fld id="{5E177536-18BF-1743-A360-A4663329E682}" type="slidenum">
              <a:rPr lang="fr-FR" smtClean="0"/>
              <a:t>9</a:t>
            </a:fld>
            <a:endParaRPr lang="fr-FR"/>
          </a:p>
        </p:txBody>
      </p:sp>
      <p:pic>
        <p:nvPicPr>
          <p:cNvPr id="6" name="Image 5">
            <a:extLst>
              <a:ext uri="{FF2B5EF4-FFF2-40B4-BE49-F238E27FC236}">
                <a16:creationId xmlns:a16="http://schemas.microsoft.com/office/drawing/2014/main" id="{371CC9F1-741D-F381-2936-511743FB9884}"/>
              </a:ext>
            </a:extLst>
          </p:cNvPr>
          <p:cNvPicPr>
            <a:picLocks noChangeAspect="1"/>
          </p:cNvPicPr>
          <p:nvPr/>
        </p:nvPicPr>
        <p:blipFill rotWithShape="1">
          <a:blip r:embed="rId2"/>
          <a:srcRect l="4142" t="3859" r="51172" b="26957"/>
          <a:stretch/>
        </p:blipFill>
        <p:spPr>
          <a:xfrm>
            <a:off x="6820696" y="2228855"/>
            <a:ext cx="4027832" cy="2909973"/>
          </a:xfrm>
          <a:prstGeom prst="rect">
            <a:avLst/>
          </a:prstGeom>
        </p:spPr>
      </p:pic>
      <p:sp>
        <p:nvSpPr>
          <p:cNvPr id="7" name="ZoneTexte 6">
            <a:extLst>
              <a:ext uri="{FF2B5EF4-FFF2-40B4-BE49-F238E27FC236}">
                <a16:creationId xmlns:a16="http://schemas.microsoft.com/office/drawing/2014/main" id="{0549967F-DDD0-1A9F-9832-65CE56ECFC5F}"/>
              </a:ext>
            </a:extLst>
          </p:cNvPr>
          <p:cNvSpPr txBox="1"/>
          <p:nvPr/>
        </p:nvSpPr>
        <p:spPr>
          <a:xfrm>
            <a:off x="8688288" y="2411596"/>
            <a:ext cx="393207" cy="369332"/>
          </a:xfrm>
          <a:prstGeom prst="rect">
            <a:avLst/>
          </a:prstGeom>
          <a:noFill/>
        </p:spPr>
        <p:txBody>
          <a:bodyPr wrap="square" rtlCol="0">
            <a:spAutoFit/>
          </a:bodyPr>
          <a:lstStyle/>
          <a:p>
            <a:r>
              <a:rPr lang="fr-FR" dirty="0"/>
              <a:t>1</a:t>
            </a:r>
          </a:p>
        </p:txBody>
      </p:sp>
      <p:sp>
        <p:nvSpPr>
          <p:cNvPr id="8" name="ZoneTexte 7">
            <a:extLst>
              <a:ext uri="{FF2B5EF4-FFF2-40B4-BE49-F238E27FC236}">
                <a16:creationId xmlns:a16="http://schemas.microsoft.com/office/drawing/2014/main" id="{DE89F275-FDDF-EB79-18BF-1402BADF06B6}"/>
              </a:ext>
            </a:extLst>
          </p:cNvPr>
          <p:cNvSpPr txBox="1"/>
          <p:nvPr/>
        </p:nvSpPr>
        <p:spPr>
          <a:xfrm>
            <a:off x="7536160" y="3429000"/>
            <a:ext cx="393207" cy="369332"/>
          </a:xfrm>
          <a:prstGeom prst="rect">
            <a:avLst/>
          </a:prstGeom>
          <a:noFill/>
        </p:spPr>
        <p:txBody>
          <a:bodyPr wrap="square" rtlCol="0">
            <a:spAutoFit/>
          </a:bodyPr>
          <a:lstStyle/>
          <a:p>
            <a:r>
              <a:rPr lang="fr-FR" dirty="0"/>
              <a:t>2</a:t>
            </a:r>
          </a:p>
        </p:txBody>
      </p:sp>
      <p:sp>
        <p:nvSpPr>
          <p:cNvPr id="9" name="ZoneTexte 8">
            <a:extLst>
              <a:ext uri="{FF2B5EF4-FFF2-40B4-BE49-F238E27FC236}">
                <a16:creationId xmlns:a16="http://schemas.microsoft.com/office/drawing/2014/main" id="{C694ADEE-D458-651F-4DD5-6F57920E6C6C}"/>
              </a:ext>
            </a:extLst>
          </p:cNvPr>
          <p:cNvSpPr txBox="1"/>
          <p:nvPr/>
        </p:nvSpPr>
        <p:spPr>
          <a:xfrm>
            <a:off x="9839229" y="3429000"/>
            <a:ext cx="393207" cy="369332"/>
          </a:xfrm>
          <a:prstGeom prst="rect">
            <a:avLst/>
          </a:prstGeom>
          <a:noFill/>
        </p:spPr>
        <p:txBody>
          <a:bodyPr wrap="square" rtlCol="0">
            <a:spAutoFit/>
          </a:bodyPr>
          <a:lstStyle/>
          <a:p>
            <a:r>
              <a:rPr lang="fr-FR" dirty="0"/>
              <a:t>4</a:t>
            </a:r>
          </a:p>
        </p:txBody>
      </p:sp>
      <p:sp>
        <p:nvSpPr>
          <p:cNvPr id="10" name="ZoneTexte 9">
            <a:extLst>
              <a:ext uri="{FF2B5EF4-FFF2-40B4-BE49-F238E27FC236}">
                <a16:creationId xmlns:a16="http://schemas.microsoft.com/office/drawing/2014/main" id="{FD309EE6-188D-D30F-2C11-23A1FD05AE0E}"/>
              </a:ext>
            </a:extLst>
          </p:cNvPr>
          <p:cNvSpPr txBox="1"/>
          <p:nvPr/>
        </p:nvSpPr>
        <p:spPr>
          <a:xfrm>
            <a:off x="8688287" y="4437112"/>
            <a:ext cx="393207" cy="369332"/>
          </a:xfrm>
          <a:prstGeom prst="rect">
            <a:avLst/>
          </a:prstGeom>
          <a:noFill/>
        </p:spPr>
        <p:txBody>
          <a:bodyPr wrap="square" rtlCol="0">
            <a:spAutoFit/>
          </a:bodyPr>
          <a:lstStyle/>
          <a:p>
            <a:r>
              <a:rPr lang="fr-FR" dirty="0"/>
              <a:t>3</a:t>
            </a:r>
          </a:p>
        </p:txBody>
      </p:sp>
      <p:sp>
        <p:nvSpPr>
          <p:cNvPr id="11" name="Rectangle 10">
            <a:extLst>
              <a:ext uri="{FF2B5EF4-FFF2-40B4-BE49-F238E27FC236}">
                <a16:creationId xmlns:a16="http://schemas.microsoft.com/office/drawing/2014/main" id="{6B8B91B4-05E8-D8CA-C861-5CCEDE943A38}"/>
              </a:ext>
            </a:extLst>
          </p:cNvPr>
          <p:cNvSpPr/>
          <p:nvPr/>
        </p:nvSpPr>
        <p:spPr>
          <a:xfrm>
            <a:off x="8336899" y="3273142"/>
            <a:ext cx="995425" cy="79047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nvGrpSpPr>
          <p:cNvPr id="12" name="Groupe 11">
            <a:extLst>
              <a:ext uri="{FF2B5EF4-FFF2-40B4-BE49-F238E27FC236}">
                <a16:creationId xmlns:a16="http://schemas.microsoft.com/office/drawing/2014/main" id="{24407C31-A276-C8B7-AB29-635BCD121206}"/>
              </a:ext>
            </a:extLst>
          </p:cNvPr>
          <p:cNvGrpSpPr>
            <a:grpSpLocks/>
          </p:cNvGrpSpPr>
          <p:nvPr/>
        </p:nvGrpSpPr>
        <p:grpSpPr>
          <a:xfrm>
            <a:off x="6816080" y="5189596"/>
            <a:ext cx="4536504" cy="1192129"/>
            <a:chOff x="6816080" y="5189596"/>
            <a:chExt cx="4536504" cy="1192129"/>
          </a:xfrm>
        </p:grpSpPr>
        <p:pic>
          <p:nvPicPr>
            <p:cNvPr id="13" name="Picture 2" descr="Page d'accueil - LISN | Laboratoire Interdisciplinaire des Sciences du  Numérique">
              <a:extLst>
                <a:ext uri="{FF2B5EF4-FFF2-40B4-BE49-F238E27FC236}">
                  <a16:creationId xmlns:a16="http://schemas.microsoft.com/office/drawing/2014/main" id="{04D2C9C4-7506-198C-84B9-BF14BB8CC86B}"/>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DD928616-3397-8FE5-92D2-8248651CB0C6}"/>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Espace réservé du contenu 2">
            <a:extLst>
              <a:ext uri="{FF2B5EF4-FFF2-40B4-BE49-F238E27FC236}">
                <a16:creationId xmlns:a16="http://schemas.microsoft.com/office/drawing/2014/main" id="{0E0F2987-E1E3-D991-FD95-B8994812EBEC}"/>
              </a:ext>
            </a:extLst>
          </p:cNvPr>
          <p:cNvSpPr>
            <a:spLocks noGrp="1"/>
          </p:cNvSpPr>
          <p:nvPr>
            <p:ph idx="1"/>
          </p:nvPr>
        </p:nvSpPr>
        <p:spPr>
          <a:xfrm>
            <a:off x="997454" y="2652944"/>
            <a:ext cx="4099054" cy="2030877"/>
          </a:xfrm>
        </p:spPr>
        <p:txBody>
          <a:bodyPr>
            <a:normAutofit fontScale="92500" lnSpcReduction="10000"/>
          </a:bodyPr>
          <a:lstStyle/>
          <a:p>
            <a:pPr marL="0" indent="0">
              <a:buNone/>
            </a:pPr>
            <a:r>
              <a:rPr lang="fr-FR" sz="1800" u="sng" dirty="0" err="1"/>
              <a:t>Dataset</a:t>
            </a:r>
            <a:r>
              <a:rPr lang="fr-FR" sz="1800" u="sng" dirty="0"/>
              <a:t>:</a:t>
            </a:r>
          </a:p>
          <a:p>
            <a:r>
              <a:rPr lang="fr-FR" sz="1800" dirty="0" err="1"/>
              <a:t>Burst</a:t>
            </a:r>
            <a:r>
              <a:rPr lang="fr-FR" sz="1800" dirty="0"/>
              <a:t>-CVEP  and CVEP </a:t>
            </a:r>
            <a:r>
              <a:rPr lang="fr-FR" sz="1800" dirty="0" err="1"/>
              <a:t>based</a:t>
            </a:r>
            <a:r>
              <a:rPr lang="fr-FR" sz="1800" dirty="0"/>
              <a:t> EEG</a:t>
            </a:r>
          </a:p>
          <a:p>
            <a:r>
              <a:rPr lang="fr-FR" sz="1800" dirty="0"/>
              <a:t>12 participants</a:t>
            </a:r>
          </a:p>
          <a:p>
            <a:r>
              <a:rPr lang="fr-FR" sz="1800" dirty="0"/>
              <a:t>1 session </a:t>
            </a:r>
            <a:r>
              <a:rPr lang="fr-FR" sz="1800" dirty="0" err="1"/>
              <a:t>each</a:t>
            </a:r>
            <a:endParaRPr lang="fr-FR" sz="1800" dirty="0"/>
          </a:p>
          <a:p>
            <a:r>
              <a:rPr lang="fr-FR" sz="1800" dirty="0"/>
              <a:t>2 modes : CVEP et </a:t>
            </a:r>
            <a:r>
              <a:rPr lang="fr-FR" sz="1800" b="1" dirty="0" err="1">
                <a:solidFill>
                  <a:srgbClr val="FF0000"/>
                </a:solidFill>
              </a:rPr>
              <a:t>Burst</a:t>
            </a:r>
            <a:r>
              <a:rPr lang="fr-FR" sz="1800" b="1" dirty="0">
                <a:solidFill>
                  <a:srgbClr val="FF0000"/>
                </a:solidFill>
              </a:rPr>
              <a:t>-CVEP</a:t>
            </a:r>
          </a:p>
          <a:p>
            <a:r>
              <a:rPr lang="fr-FR" sz="1800" dirty="0"/>
              <a:t>15 runs of 4 </a:t>
            </a:r>
            <a:r>
              <a:rPr lang="fr-FR" sz="1800" dirty="0" err="1"/>
              <a:t>different</a:t>
            </a:r>
            <a:r>
              <a:rPr lang="fr-FR" sz="1800" dirty="0"/>
              <a:t> 2,2s stimuli </a:t>
            </a:r>
            <a:r>
              <a:rPr lang="fr-FR" sz="1800" dirty="0" err="1"/>
              <a:t>each</a:t>
            </a:r>
            <a:endParaRPr lang="fr-FR" sz="1800" dirty="0"/>
          </a:p>
          <a:p>
            <a:pPr marL="0" indent="0">
              <a:buNone/>
            </a:pPr>
            <a:endParaRPr lang="fr-FR" sz="1800" dirty="0"/>
          </a:p>
          <a:p>
            <a:endParaRPr lang="fr-FR" sz="1800" dirty="0"/>
          </a:p>
        </p:txBody>
      </p:sp>
      <p:sp>
        <p:nvSpPr>
          <p:cNvPr id="15" name="ZoneTexte 14">
            <a:extLst>
              <a:ext uri="{FF2B5EF4-FFF2-40B4-BE49-F238E27FC236}">
                <a16:creationId xmlns:a16="http://schemas.microsoft.com/office/drawing/2014/main" id="{0726FD1D-15D2-1BDF-B140-F1170E1BAF04}"/>
              </a:ext>
            </a:extLst>
          </p:cNvPr>
          <p:cNvSpPr txBox="1"/>
          <p:nvPr/>
        </p:nvSpPr>
        <p:spPr>
          <a:xfrm>
            <a:off x="0" y="6606164"/>
            <a:ext cx="5458912" cy="230832"/>
          </a:xfrm>
          <a:prstGeom prst="rect">
            <a:avLst/>
          </a:prstGeom>
          <a:noFill/>
        </p:spPr>
        <p:txBody>
          <a:bodyPr wrap="square" rtlCol="0">
            <a:spAutoFit/>
          </a:bodyPr>
          <a:lstStyle/>
          <a:p>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a:t>
            </a:r>
            <a:r>
              <a:rPr lang="fr-FR" sz="900" b="0" i="0" dirty="0">
                <a:effectLst/>
                <a:latin typeface="Arial" panose="020B0604020202020204" pitchFamily="34" charset="0"/>
              </a:rPr>
              <a:t>, et al. </a:t>
            </a:r>
            <a:r>
              <a:rPr lang="fr-FR" sz="900" b="0" i="0" dirty="0" err="1">
                <a:effectLst/>
                <a:latin typeface="Arial" panose="020B0604020202020204" pitchFamily="34" charset="0"/>
              </a:rPr>
              <a:t>NeuroImage</a:t>
            </a:r>
            <a:r>
              <a:rPr lang="fr-FR" sz="900" b="0" i="0" dirty="0">
                <a:effectLst/>
                <a:latin typeface="Arial" panose="020B0604020202020204" pitchFamily="34" charset="0"/>
              </a:rPr>
              <a:t>, page 11, 2023.</a:t>
            </a:r>
          </a:p>
        </p:txBody>
      </p:sp>
      <p:sp>
        <p:nvSpPr>
          <p:cNvPr id="16" name="Espace réservé du pied de page 3">
            <a:extLst>
              <a:ext uri="{FF2B5EF4-FFF2-40B4-BE49-F238E27FC236}">
                <a16:creationId xmlns:a16="http://schemas.microsoft.com/office/drawing/2014/main" id="{3EF6AA35-8B61-7431-3882-02D68E35E119}"/>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667431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e 39">
            <a:extLst>
              <a:ext uri="{FF2B5EF4-FFF2-40B4-BE49-F238E27FC236}">
                <a16:creationId xmlns:a16="http://schemas.microsoft.com/office/drawing/2014/main" id="{E3136DAC-BB86-0BA0-72D5-3A72D527FFA2}"/>
              </a:ext>
            </a:extLst>
          </p:cNvPr>
          <p:cNvGrpSpPr>
            <a:grpSpLocks/>
          </p:cNvGrpSpPr>
          <p:nvPr/>
        </p:nvGrpSpPr>
        <p:grpSpPr>
          <a:xfrm>
            <a:off x="6816080" y="5189596"/>
            <a:ext cx="4536504" cy="1192129"/>
            <a:chOff x="6816080" y="5189596"/>
            <a:chExt cx="4536504" cy="1192129"/>
          </a:xfrm>
        </p:grpSpPr>
        <p:pic>
          <p:nvPicPr>
            <p:cNvPr id="41" name="Picture 2" descr="Page d'accueil - LISN | Laboratoire Interdisciplinaire des Sciences du  Numérique">
              <a:extLst>
                <a:ext uri="{FF2B5EF4-FFF2-40B4-BE49-F238E27FC236}">
                  <a16:creationId xmlns:a16="http://schemas.microsoft.com/office/drawing/2014/main" id="{DEEA536C-3343-06E0-CE93-99B2DC18F434}"/>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D7B5ACCB-9C50-161F-54BD-9780CA332004}"/>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FACE1967-4F4D-ACB0-BF9E-21C9C5842413}"/>
              </a:ext>
            </a:extLst>
          </p:cNvPr>
          <p:cNvSpPr>
            <a:spLocks noGrp="1"/>
          </p:cNvSpPr>
          <p:nvPr>
            <p:ph type="title"/>
          </p:nvPr>
        </p:nvSpPr>
        <p:spPr/>
        <p:txBody>
          <a:bodyPr/>
          <a:lstStyle/>
          <a:p>
            <a:r>
              <a:rPr lang="fr-FR" dirty="0"/>
              <a:t>Methods</a:t>
            </a:r>
          </a:p>
        </p:txBody>
      </p:sp>
      <p:sp>
        <p:nvSpPr>
          <p:cNvPr id="5" name="Espace réservé du numéro de diapositive 4">
            <a:extLst>
              <a:ext uri="{FF2B5EF4-FFF2-40B4-BE49-F238E27FC236}">
                <a16:creationId xmlns:a16="http://schemas.microsoft.com/office/drawing/2014/main" id="{F056692D-79D5-0072-D595-C16B11E128B5}"/>
              </a:ext>
            </a:extLst>
          </p:cNvPr>
          <p:cNvSpPr>
            <a:spLocks noGrp="1"/>
          </p:cNvSpPr>
          <p:nvPr>
            <p:ph type="sldNum" sz="quarter" idx="12"/>
          </p:nvPr>
        </p:nvSpPr>
        <p:spPr/>
        <p:txBody>
          <a:bodyPr/>
          <a:lstStyle/>
          <a:p>
            <a:pPr>
              <a:defRPr/>
            </a:pPr>
            <a:fld id="{5E177536-18BF-1743-A360-A4663329E682}" type="slidenum">
              <a:rPr lang="fr-FR" smtClean="0"/>
              <a:t>10</a:t>
            </a:fld>
            <a:endParaRPr lang="fr-FR"/>
          </a:p>
        </p:txBody>
      </p:sp>
      <p:sp>
        <p:nvSpPr>
          <p:cNvPr id="6" name="ZoneTexte 5">
            <a:extLst>
              <a:ext uri="{FF2B5EF4-FFF2-40B4-BE49-F238E27FC236}">
                <a16:creationId xmlns:a16="http://schemas.microsoft.com/office/drawing/2014/main" id="{6A8FF8A2-897A-2250-8DA8-9FE452B01CB4}"/>
              </a:ext>
            </a:extLst>
          </p:cNvPr>
          <p:cNvSpPr txBox="1"/>
          <p:nvPr/>
        </p:nvSpPr>
        <p:spPr>
          <a:xfrm>
            <a:off x="5270261" y="2069912"/>
            <a:ext cx="2077375" cy="584775"/>
          </a:xfrm>
          <a:prstGeom prst="rect">
            <a:avLst/>
          </a:prstGeom>
          <a:noFill/>
        </p:spPr>
        <p:txBody>
          <a:bodyPr wrap="square" rtlCol="0">
            <a:spAutoFit/>
          </a:bodyPr>
          <a:lstStyle/>
          <a:p>
            <a:r>
              <a:rPr lang="fr-FR" sz="1600" dirty="0"/>
              <a:t>Domain </a:t>
            </a:r>
            <a:r>
              <a:rPr lang="fr-FR" sz="1600" dirty="0" err="1"/>
              <a:t>Generalization</a:t>
            </a:r>
            <a:r>
              <a:rPr lang="fr-FR" sz="1600" dirty="0"/>
              <a:t> (DG)</a:t>
            </a:r>
          </a:p>
        </p:txBody>
      </p:sp>
      <p:sp>
        <p:nvSpPr>
          <p:cNvPr id="7" name="ZoneTexte 6">
            <a:extLst>
              <a:ext uri="{FF2B5EF4-FFF2-40B4-BE49-F238E27FC236}">
                <a16:creationId xmlns:a16="http://schemas.microsoft.com/office/drawing/2014/main" id="{BF75E162-3034-0CB9-2821-80B8FC207576}"/>
              </a:ext>
            </a:extLst>
          </p:cNvPr>
          <p:cNvSpPr txBox="1"/>
          <p:nvPr/>
        </p:nvSpPr>
        <p:spPr>
          <a:xfrm>
            <a:off x="5270261" y="3383330"/>
            <a:ext cx="2077375" cy="584775"/>
          </a:xfrm>
          <a:prstGeom prst="rect">
            <a:avLst/>
          </a:prstGeom>
          <a:noFill/>
        </p:spPr>
        <p:txBody>
          <a:bodyPr wrap="square" rtlCol="0">
            <a:spAutoFit/>
          </a:bodyPr>
          <a:lstStyle/>
          <a:p>
            <a:r>
              <a:rPr lang="fr-FR" sz="1600" dirty="0"/>
              <a:t>Domain Adaptation (DA)</a:t>
            </a:r>
          </a:p>
        </p:txBody>
      </p:sp>
      <p:sp>
        <p:nvSpPr>
          <p:cNvPr id="8" name="ZoneTexte 7">
            <a:extLst>
              <a:ext uri="{FF2B5EF4-FFF2-40B4-BE49-F238E27FC236}">
                <a16:creationId xmlns:a16="http://schemas.microsoft.com/office/drawing/2014/main" id="{1E7227B8-6E71-EA3A-97FC-6A5268B878AB}"/>
              </a:ext>
            </a:extLst>
          </p:cNvPr>
          <p:cNvSpPr txBox="1"/>
          <p:nvPr/>
        </p:nvSpPr>
        <p:spPr>
          <a:xfrm>
            <a:off x="5270261" y="4739432"/>
            <a:ext cx="2077375" cy="338554"/>
          </a:xfrm>
          <a:prstGeom prst="rect">
            <a:avLst/>
          </a:prstGeom>
          <a:noFill/>
        </p:spPr>
        <p:txBody>
          <a:bodyPr wrap="square" rtlCol="0">
            <a:spAutoFit/>
          </a:bodyPr>
          <a:lstStyle/>
          <a:p>
            <a:r>
              <a:rPr lang="fr-FR" sz="1600" dirty="0"/>
              <a:t>Single </a:t>
            </a:r>
            <a:r>
              <a:rPr lang="fr-FR" sz="1600" dirty="0" err="1"/>
              <a:t>Subject</a:t>
            </a:r>
            <a:r>
              <a:rPr lang="fr-FR" sz="1600" dirty="0"/>
              <a:t> (SS)</a:t>
            </a:r>
          </a:p>
        </p:txBody>
      </p:sp>
      <p:pic>
        <p:nvPicPr>
          <p:cNvPr id="9" name="Graphique 8" descr="Utilisateur avec un remplissage uni">
            <a:extLst>
              <a:ext uri="{FF2B5EF4-FFF2-40B4-BE49-F238E27FC236}">
                <a16:creationId xmlns:a16="http://schemas.microsoft.com/office/drawing/2014/main" id="{6BA176D0-1A78-A234-BF8A-E6A4007E32D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47995" y="1556270"/>
            <a:ext cx="513643" cy="513643"/>
          </a:xfrm>
          <a:prstGeom prst="rect">
            <a:avLst/>
          </a:prstGeom>
        </p:spPr>
      </p:pic>
      <p:pic>
        <p:nvPicPr>
          <p:cNvPr id="10" name="Graphique 9" descr="Utilisateur avec un remplissage uni">
            <a:extLst>
              <a:ext uri="{FF2B5EF4-FFF2-40B4-BE49-F238E27FC236}">
                <a16:creationId xmlns:a16="http://schemas.microsoft.com/office/drawing/2014/main" id="{8B07289F-F074-3A62-8EC0-666A2828F3B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67986" y="1556269"/>
            <a:ext cx="513643" cy="513643"/>
          </a:xfrm>
          <a:prstGeom prst="rect">
            <a:avLst/>
          </a:prstGeom>
        </p:spPr>
      </p:pic>
      <p:pic>
        <p:nvPicPr>
          <p:cNvPr id="11" name="Graphique 10" descr="Utilisateur avec un remplissage uni">
            <a:extLst>
              <a:ext uri="{FF2B5EF4-FFF2-40B4-BE49-F238E27FC236}">
                <a16:creationId xmlns:a16="http://schemas.microsoft.com/office/drawing/2014/main" id="{9291A2B2-4841-FF47-020E-6FD18058330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01622" y="1556269"/>
            <a:ext cx="513643" cy="513643"/>
          </a:xfrm>
          <a:prstGeom prst="rect">
            <a:avLst/>
          </a:prstGeom>
        </p:spPr>
      </p:pic>
      <p:pic>
        <p:nvPicPr>
          <p:cNvPr id="12" name="Graphique 11" descr="Utilisateur avec un remplissage uni">
            <a:extLst>
              <a:ext uri="{FF2B5EF4-FFF2-40B4-BE49-F238E27FC236}">
                <a16:creationId xmlns:a16="http://schemas.microsoft.com/office/drawing/2014/main" id="{6C9506BD-1479-C53A-1455-4D1440E8F4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30026" y="1556269"/>
            <a:ext cx="513643" cy="513643"/>
          </a:xfrm>
          <a:prstGeom prst="rect">
            <a:avLst/>
          </a:prstGeom>
        </p:spPr>
      </p:pic>
      <p:sp>
        <p:nvSpPr>
          <p:cNvPr id="13" name="Ellipse 12">
            <a:extLst>
              <a:ext uri="{FF2B5EF4-FFF2-40B4-BE49-F238E27FC236}">
                <a16:creationId xmlns:a16="http://schemas.microsoft.com/office/drawing/2014/main" id="{FE0C163F-5508-761D-E65D-29C31A1A45BF}"/>
              </a:ext>
            </a:extLst>
          </p:cNvPr>
          <p:cNvSpPr/>
          <p:nvPr/>
        </p:nvSpPr>
        <p:spPr>
          <a:xfrm>
            <a:off x="8536180" y="184059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1B75BB2B-19AE-45B0-AAEC-3DBB30A89F38}"/>
              </a:ext>
            </a:extLst>
          </p:cNvPr>
          <p:cNvSpPr/>
          <p:nvPr/>
        </p:nvSpPr>
        <p:spPr>
          <a:xfrm>
            <a:off x="8401082" y="183748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C0273468-1592-CC51-464A-CE8DFBF56666}"/>
              </a:ext>
            </a:extLst>
          </p:cNvPr>
          <p:cNvSpPr/>
          <p:nvPr/>
        </p:nvSpPr>
        <p:spPr>
          <a:xfrm>
            <a:off x="8666524" y="183748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Accolade ouvrante 15">
            <a:extLst>
              <a:ext uri="{FF2B5EF4-FFF2-40B4-BE49-F238E27FC236}">
                <a16:creationId xmlns:a16="http://schemas.microsoft.com/office/drawing/2014/main" id="{97266192-E846-D749-5C93-1C4955EB31D9}"/>
              </a:ext>
            </a:extLst>
          </p:cNvPr>
          <p:cNvSpPr/>
          <p:nvPr/>
        </p:nvSpPr>
        <p:spPr>
          <a:xfrm rot="16200000">
            <a:off x="8343192" y="1253223"/>
            <a:ext cx="106684" cy="18374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7" name="Accolade ouvrante 16">
            <a:extLst>
              <a:ext uri="{FF2B5EF4-FFF2-40B4-BE49-F238E27FC236}">
                <a16:creationId xmlns:a16="http://schemas.microsoft.com/office/drawing/2014/main" id="{52D71CC4-9CE6-D2EC-F094-BC642FCB206F}"/>
              </a:ext>
            </a:extLst>
          </p:cNvPr>
          <p:cNvSpPr/>
          <p:nvPr/>
        </p:nvSpPr>
        <p:spPr>
          <a:xfrm rot="16200000">
            <a:off x="10729804" y="1945308"/>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8" name="ZoneTexte 17">
            <a:extLst>
              <a:ext uri="{FF2B5EF4-FFF2-40B4-BE49-F238E27FC236}">
                <a16:creationId xmlns:a16="http://schemas.microsoft.com/office/drawing/2014/main" id="{4783B5A6-7A46-DE76-7E61-9FDC80B9004E}"/>
              </a:ext>
            </a:extLst>
          </p:cNvPr>
          <p:cNvSpPr txBox="1"/>
          <p:nvPr/>
        </p:nvSpPr>
        <p:spPr>
          <a:xfrm>
            <a:off x="7481571" y="2347642"/>
            <a:ext cx="1837462" cy="523220"/>
          </a:xfrm>
          <a:prstGeom prst="rect">
            <a:avLst/>
          </a:prstGeom>
          <a:noFill/>
        </p:spPr>
        <p:txBody>
          <a:bodyPr wrap="square" rtlCol="0">
            <a:spAutoFit/>
          </a:bodyPr>
          <a:lstStyle/>
          <a:p>
            <a:pPr algn="ctr"/>
            <a:r>
              <a:rPr lang="fr-FR" sz="1400" dirty="0"/>
              <a:t>Training/val data:</a:t>
            </a:r>
          </a:p>
          <a:p>
            <a:pPr algn="ctr"/>
            <a:r>
              <a:rPr lang="fr-FR" sz="1400" dirty="0"/>
              <a:t>11 </a:t>
            </a:r>
            <a:r>
              <a:rPr lang="fr-FR" sz="1400" dirty="0" err="1"/>
              <a:t>subjects</a:t>
            </a:r>
            <a:endParaRPr lang="fr-FR" sz="1400" dirty="0"/>
          </a:p>
        </p:txBody>
      </p:sp>
      <p:sp>
        <p:nvSpPr>
          <p:cNvPr id="19" name="ZoneTexte 18">
            <a:extLst>
              <a:ext uri="{FF2B5EF4-FFF2-40B4-BE49-F238E27FC236}">
                <a16:creationId xmlns:a16="http://schemas.microsoft.com/office/drawing/2014/main" id="{D3891E4C-862E-728E-03F5-4B6C1E7E62CD}"/>
              </a:ext>
            </a:extLst>
          </p:cNvPr>
          <p:cNvSpPr txBox="1"/>
          <p:nvPr/>
        </p:nvSpPr>
        <p:spPr>
          <a:xfrm>
            <a:off x="9868116" y="2347642"/>
            <a:ext cx="1837462" cy="523220"/>
          </a:xfrm>
          <a:prstGeom prst="rect">
            <a:avLst/>
          </a:prstGeom>
          <a:noFill/>
        </p:spPr>
        <p:txBody>
          <a:bodyPr wrap="square" rtlCol="0">
            <a:spAutoFit/>
          </a:bodyPr>
          <a:lstStyle/>
          <a:p>
            <a:pPr algn="ctr"/>
            <a:r>
              <a:rPr lang="fr-FR" sz="1400" dirty="0" err="1"/>
              <a:t>Testing</a:t>
            </a:r>
            <a:r>
              <a:rPr lang="fr-FR" sz="1400" dirty="0"/>
              <a:t> data:</a:t>
            </a:r>
          </a:p>
          <a:p>
            <a:pPr algn="ctr"/>
            <a:r>
              <a:rPr lang="fr-FR" sz="1400" dirty="0"/>
              <a:t>12th </a:t>
            </a:r>
            <a:r>
              <a:rPr lang="fr-FR" sz="1400" dirty="0" err="1"/>
              <a:t>subject</a:t>
            </a:r>
            <a:endParaRPr lang="fr-FR" sz="1400" dirty="0"/>
          </a:p>
        </p:txBody>
      </p:sp>
      <p:pic>
        <p:nvPicPr>
          <p:cNvPr id="20" name="Graphique 19" descr="Utilisateur avec un remplissage uni">
            <a:extLst>
              <a:ext uri="{FF2B5EF4-FFF2-40B4-BE49-F238E27FC236}">
                <a16:creationId xmlns:a16="http://schemas.microsoft.com/office/drawing/2014/main" id="{C4314648-B79D-DEBA-450B-D3FB4A9725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7803" y="2997668"/>
            <a:ext cx="513643" cy="513643"/>
          </a:xfrm>
          <a:prstGeom prst="rect">
            <a:avLst/>
          </a:prstGeom>
        </p:spPr>
      </p:pic>
      <p:pic>
        <p:nvPicPr>
          <p:cNvPr id="21" name="Graphique 20" descr="Utilisateur avec un remplissage uni">
            <a:extLst>
              <a:ext uri="{FF2B5EF4-FFF2-40B4-BE49-F238E27FC236}">
                <a16:creationId xmlns:a16="http://schemas.microsoft.com/office/drawing/2014/main" id="{AB727B79-D746-863E-7408-C788F0F088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7794" y="2997667"/>
            <a:ext cx="513643" cy="513643"/>
          </a:xfrm>
          <a:prstGeom prst="rect">
            <a:avLst/>
          </a:prstGeom>
        </p:spPr>
      </p:pic>
      <p:pic>
        <p:nvPicPr>
          <p:cNvPr id="22" name="Graphique 21" descr="Utilisateur avec un remplissage uni">
            <a:extLst>
              <a:ext uri="{FF2B5EF4-FFF2-40B4-BE49-F238E27FC236}">
                <a16:creationId xmlns:a16="http://schemas.microsoft.com/office/drawing/2014/main" id="{9B753D7F-3843-8DB9-53C3-6C7E6E528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31430" y="2997667"/>
            <a:ext cx="513643" cy="513643"/>
          </a:xfrm>
          <a:prstGeom prst="rect">
            <a:avLst/>
          </a:prstGeom>
        </p:spPr>
      </p:pic>
      <p:pic>
        <p:nvPicPr>
          <p:cNvPr id="23" name="Graphique 22" descr="Utilisateur avec un remplissage uni">
            <a:extLst>
              <a:ext uri="{FF2B5EF4-FFF2-40B4-BE49-F238E27FC236}">
                <a16:creationId xmlns:a16="http://schemas.microsoft.com/office/drawing/2014/main" id="{1C4B8018-B1A3-9143-B3FD-838C2CD6ED14}"/>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33684" t="4567"/>
          <a:stretch/>
        </p:blipFill>
        <p:spPr>
          <a:xfrm>
            <a:off x="10732850" y="3021129"/>
            <a:ext cx="340627" cy="490181"/>
          </a:xfrm>
          <a:prstGeom prst="rect">
            <a:avLst/>
          </a:prstGeom>
        </p:spPr>
      </p:pic>
      <p:sp>
        <p:nvSpPr>
          <p:cNvPr id="24" name="Ellipse 23">
            <a:extLst>
              <a:ext uri="{FF2B5EF4-FFF2-40B4-BE49-F238E27FC236}">
                <a16:creationId xmlns:a16="http://schemas.microsoft.com/office/drawing/2014/main" id="{10B2A3B2-6098-BE9A-338E-D9AC9970F577}"/>
              </a:ext>
            </a:extLst>
          </p:cNvPr>
          <p:cNvSpPr/>
          <p:nvPr/>
        </p:nvSpPr>
        <p:spPr>
          <a:xfrm>
            <a:off x="8565988" y="328199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CBB5C443-DC95-4BB8-D458-7DF25E0827E6}"/>
              </a:ext>
            </a:extLst>
          </p:cNvPr>
          <p:cNvSpPr/>
          <p:nvPr/>
        </p:nvSpPr>
        <p:spPr>
          <a:xfrm>
            <a:off x="8430890" y="32788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6FDA8B10-4D44-C17F-7B32-79D8C0D05489}"/>
              </a:ext>
            </a:extLst>
          </p:cNvPr>
          <p:cNvSpPr/>
          <p:nvPr/>
        </p:nvSpPr>
        <p:spPr>
          <a:xfrm>
            <a:off x="8696332" y="32788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Accolade ouvrante 26">
            <a:extLst>
              <a:ext uri="{FF2B5EF4-FFF2-40B4-BE49-F238E27FC236}">
                <a16:creationId xmlns:a16="http://schemas.microsoft.com/office/drawing/2014/main" id="{73F4E364-2A23-5DB8-4F8D-B3EA710013E6}"/>
              </a:ext>
            </a:extLst>
          </p:cNvPr>
          <p:cNvSpPr/>
          <p:nvPr/>
        </p:nvSpPr>
        <p:spPr>
          <a:xfrm rot="16200000">
            <a:off x="8579296" y="2488325"/>
            <a:ext cx="114087" cy="22574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8" name="Accolade ouvrante 27">
            <a:extLst>
              <a:ext uri="{FF2B5EF4-FFF2-40B4-BE49-F238E27FC236}">
                <a16:creationId xmlns:a16="http://schemas.microsoft.com/office/drawing/2014/main" id="{8DBEAB85-AE2E-95C7-B259-7060D993DFAD}"/>
              </a:ext>
            </a:extLst>
          </p:cNvPr>
          <p:cNvSpPr/>
          <p:nvPr/>
        </p:nvSpPr>
        <p:spPr>
          <a:xfrm rot="16200000">
            <a:off x="10759612" y="3386706"/>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9" name="ZoneTexte 28">
            <a:extLst>
              <a:ext uri="{FF2B5EF4-FFF2-40B4-BE49-F238E27FC236}">
                <a16:creationId xmlns:a16="http://schemas.microsoft.com/office/drawing/2014/main" id="{9C44A972-1345-CA19-6AF7-CA88EF3E9A1F}"/>
              </a:ext>
            </a:extLst>
          </p:cNvPr>
          <p:cNvSpPr txBox="1"/>
          <p:nvPr/>
        </p:nvSpPr>
        <p:spPr>
          <a:xfrm>
            <a:off x="7511378" y="3789040"/>
            <a:ext cx="2253689" cy="738664"/>
          </a:xfrm>
          <a:prstGeom prst="rect">
            <a:avLst/>
          </a:prstGeom>
          <a:noFill/>
        </p:spPr>
        <p:txBody>
          <a:bodyPr wrap="square" rtlCol="0">
            <a:spAutoFit/>
          </a:bodyPr>
          <a:lstStyle/>
          <a:p>
            <a:pPr algn="ctr"/>
            <a:r>
              <a:rPr lang="fr-FR" sz="1400" dirty="0"/>
              <a:t>Training/val data:</a:t>
            </a:r>
          </a:p>
          <a:p>
            <a:pPr algn="ctr"/>
            <a:r>
              <a:rPr lang="fr-FR" sz="1400" dirty="0"/>
              <a:t>11 </a:t>
            </a:r>
            <a:r>
              <a:rPr lang="fr-FR" sz="1400" dirty="0" err="1"/>
              <a:t>subjects</a:t>
            </a:r>
            <a:r>
              <a:rPr lang="fr-FR" sz="1400" dirty="0"/>
              <a:t> et a part of 12th </a:t>
            </a:r>
            <a:r>
              <a:rPr lang="fr-FR" sz="1400" dirty="0" err="1"/>
              <a:t>subject</a:t>
            </a:r>
            <a:endParaRPr lang="fr-FR" sz="1400" dirty="0"/>
          </a:p>
        </p:txBody>
      </p:sp>
      <p:pic>
        <p:nvPicPr>
          <p:cNvPr id="30" name="Graphique 29" descr="Utilisateur avec un remplissage uni">
            <a:extLst>
              <a:ext uri="{FF2B5EF4-FFF2-40B4-BE49-F238E27FC236}">
                <a16:creationId xmlns:a16="http://schemas.microsoft.com/office/drawing/2014/main" id="{C0912E53-B5DE-DABC-59B5-7085DB077573}"/>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4567" r="64366"/>
          <a:stretch/>
        </p:blipFill>
        <p:spPr>
          <a:xfrm>
            <a:off x="9251423" y="3021129"/>
            <a:ext cx="183029" cy="490181"/>
          </a:xfrm>
          <a:prstGeom prst="rect">
            <a:avLst/>
          </a:prstGeom>
        </p:spPr>
      </p:pic>
      <p:sp>
        <p:nvSpPr>
          <p:cNvPr id="31" name="ZoneTexte 30">
            <a:extLst>
              <a:ext uri="{FF2B5EF4-FFF2-40B4-BE49-F238E27FC236}">
                <a16:creationId xmlns:a16="http://schemas.microsoft.com/office/drawing/2014/main" id="{D65D952B-500F-C9D5-C3BD-28DDE7A7C0CA}"/>
              </a:ext>
            </a:extLst>
          </p:cNvPr>
          <p:cNvSpPr txBox="1"/>
          <p:nvPr/>
        </p:nvSpPr>
        <p:spPr>
          <a:xfrm>
            <a:off x="9984432" y="3789040"/>
            <a:ext cx="1837462" cy="738664"/>
          </a:xfrm>
          <a:prstGeom prst="rect">
            <a:avLst/>
          </a:prstGeom>
          <a:noFill/>
        </p:spPr>
        <p:txBody>
          <a:bodyPr wrap="square" rtlCol="0">
            <a:spAutoFit/>
          </a:bodyPr>
          <a:lstStyle/>
          <a:p>
            <a:pPr algn="ctr"/>
            <a:r>
              <a:rPr lang="fr-FR" sz="1400" dirty="0" err="1"/>
              <a:t>Testing</a:t>
            </a:r>
            <a:r>
              <a:rPr lang="fr-FR" sz="1400" dirty="0"/>
              <a:t> data:</a:t>
            </a:r>
          </a:p>
          <a:p>
            <a:pPr algn="ctr"/>
            <a:r>
              <a:rPr lang="fr-FR" sz="1400" dirty="0" err="1"/>
              <a:t>Rest</a:t>
            </a:r>
            <a:r>
              <a:rPr lang="fr-FR" sz="1400" dirty="0"/>
              <a:t> of data </a:t>
            </a:r>
            <a:r>
              <a:rPr lang="fr-FR" sz="1400" dirty="0" err="1"/>
              <a:t>from</a:t>
            </a:r>
            <a:r>
              <a:rPr lang="fr-FR" sz="1400" dirty="0"/>
              <a:t> 12th </a:t>
            </a:r>
            <a:r>
              <a:rPr lang="fr-FR" sz="1400" dirty="0" err="1"/>
              <a:t>subject</a:t>
            </a:r>
            <a:endParaRPr lang="fr-FR" sz="1400" dirty="0"/>
          </a:p>
        </p:txBody>
      </p:sp>
      <p:pic>
        <p:nvPicPr>
          <p:cNvPr id="32" name="Graphique 31" descr="Utilisateur avec un remplissage uni">
            <a:extLst>
              <a:ext uri="{FF2B5EF4-FFF2-40B4-BE49-F238E27FC236}">
                <a16:creationId xmlns:a16="http://schemas.microsoft.com/office/drawing/2014/main" id="{4590B85E-BB12-F64A-4AAA-44409BB638D3}"/>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3684" t="4567"/>
          <a:stretch/>
        </p:blipFill>
        <p:spPr>
          <a:xfrm>
            <a:off x="9614543" y="4682399"/>
            <a:ext cx="340627" cy="490181"/>
          </a:xfrm>
          <a:prstGeom prst="rect">
            <a:avLst/>
          </a:prstGeom>
        </p:spPr>
      </p:pic>
      <p:pic>
        <p:nvPicPr>
          <p:cNvPr id="33" name="Graphique 32" descr="Utilisateur avec un remplissage uni">
            <a:extLst>
              <a:ext uri="{FF2B5EF4-FFF2-40B4-BE49-F238E27FC236}">
                <a16:creationId xmlns:a16="http://schemas.microsoft.com/office/drawing/2014/main" id="{E9824BE8-4022-BD94-5E83-ECACD0677AA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t="4567" r="64366"/>
          <a:stretch/>
        </p:blipFill>
        <p:spPr>
          <a:xfrm>
            <a:off x="7662814" y="4631690"/>
            <a:ext cx="183029" cy="490181"/>
          </a:xfrm>
          <a:prstGeom prst="rect">
            <a:avLst/>
          </a:prstGeom>
        </p:spPr>
      </p:pic>
      <p:sp>
        <p:nvSpPr>
          <p:cNvPr id="34" name="Accolade ouvrante 33">
            <a:extLst>
              <a:ext uri="{FF2B5EF4-FFF2-40B4-BE49-F238E27FC236}">
                <a16:creationId xmlns:a16="http://schemas.microsoft.com/office/drawing/2014/main" id="{12BEF3F7-EEE7-9073-C5B6-D20CE6BB92B4}"/>
              </a:ext>
            </a:extLst>
          </p:cNvPr>
          <p:cNvSpPr/>
          <p:nvPr/>
        </p:nvSpPr>
        <p:spPr>
          <a:xfrm rot="16200000">
            <a:off x="7738054" y="4912229"/>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5" name="ZoneTexte 34">
            <a:extLst>
              <a:ext uri="{FF2B5EF4-FFF2-40B4-BE49-F238E27FC236}">
                <a16:creationId xmlns:a16="http://schemas.microsoft.com/office/drawing/2014/main" id="{9367E6F2-D062-AF21-F78F-9081FE2599AA}"/>
              </a:ext>
            </a:extLst>
          </p:cNvPr>
          <p:cNvSpPr txBox="1"/>
          <p:nvPr/>
        </p:nvSpPr>
        <p:spPr>
          <a:xfrm>
            <a:off x="6902947" y="5244904"/>
            <a:ext cx="1837462" cy="738664"/>
          </a:xfrm>
          <a:prstGeom prst="rect">
            <a:avLst/>
          </a:prstGeom>
          <a:solidFill>
            <a:schemeClr val="bg1"/>
          </a:solidFill>
        </p:spPr>
        <p:txBody>
          <a:bodyPr wrap="square" rtlCol="0">
            <a:spAutoFit/>
          </a:bodyPr>
          <a:lstStyle/>
          <a:p>
            <a:pPr algn="ctr"/>
            <a:r>
              <a:rPr lang="fr-FR" sz="1400" dirty="0"/>
              <a:t>Training/val data:</a:t>
            </a:r>
          </a:p>
          <a:p>
            <a:pPr algn="ctr"/>
            <a:r>
              <a:rPr lang="fr-FR" sz="1400" dirty="0"/>
              <a:t>A part of data </a:t>
            </a:r>
            <a:r>
              <a:rPr lang="fr-FR" sz="1400" dirty="0" err="1"/>
              <a:t>from</a:t>
            </a:r>
            <a:r>
              <a:rPr lang="fr-FR" sz="1400" dirty="0"/>
              <a:t> </a:t>
            </a:r>
            <a:r>
              <a:rPr lang="fr-FR" sz="1400" dirty="0" err="1"/>
              <a:t>subject</a:t>
            </a:r>
            <a:r>
              <a:rPr lang="fr-FR" sz="1400" dirty="0"/>
              <a:t> i </a:t>
            </a:r>
          </a:p>
        </p:txBody>
      </p:sp>
      <p:sp>
        <p:nvSpPr>
          <p:cNvPr id="36" name="Accolade ouvrante 35">
            <a:extLst>
              <a:ext uri="{FF2B5EF4-FFF2-40B4-BE49-F238E27FC236}">
                <a16:creationId xmlns:a16="http://schemas.microsoft.com/office/drawing/2014/main" id="{7B1BECE4-13C8-E7A1-9DF7-E2BB7CACF4EF}"/>
              </a:ext>
            </a:extLst>
          </p:cNvPr>
          <p:cNvSpPr/>
          <p:nvPr/>
        </p:nvSpPr>
        <p:spPr>
          <a:xfrm rot="16200000">
            <a:off x="9690187" y="4963534"/>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7" name="ZoneTexte 36">
            <a:extLst>
              <a:ext uri="{FF2B5EF4-FFF2-40B4-BE49-F238E27FC236}">
                <a16:creationId xmlns:a16="http://schemas.microsoft.com/office/drawing/2014/main" id="{21109DB7-4821-4B11-F247-3FAC6DAA19E9}"/>
              </a:ext>
            </a:extLst>
          </p:cNvPr>
          <p:cNvSpPr txBox="1"/>
          <p:nvPr/>
        </p:nvSpPr>
        <p:spPr>
          <a:xfrm>
            <a:off x="8823195" y="5244904"/>
            <a:ext cx="1837462" cy="738664"/>
          </a:xfrm>
          <a:prstGeom prst="rect">
            <a:avLst/>
          </a:prstGeom>
          <a:solidFill>
            <a:schemeClr val="bg1"/>
          </a:solidFill>
        </p:spPr>
        <p:txBody>
          <a:bodyPr wrap="square" rtlCol="0">
            <a:spAutoFit/>
          </a:bodyPr>
          <a:lstStyle/>
          <a:p>
            <a:pPr algn="ctr"/>
            <a:r>
              <a:rPr lang="fr-FR" sz="1400" dirty="0" err="1"/>
              <a:t>Testing</a:t>
            </a:r>
            <a:r>
              <a:rPr lang="fr-FR" sz="1400" dirty="0"/>
              <a:t> data:</a:t>
            </a:r>
          </a:p>
          <a:p>
            <a:pPr algn="ctr"/>
            <a:r>
              <a:rPr lang="fr-FR" sz="1400" dirty="0" err="1"/>
              <a:t>Rest</a:t>
            </a:r>
            <a:r>
              <a:rPr lang="fr-FR" sz="1400" dirty="0"/>
              <a:t> of data </a:t>
            </a:r>
            <a:r>
              <a:rPr lang="fr-FR" sz="1400" dirty="0" err="1"/>
              <a:t>from</a:t>
            </a:r>
            <a:r>
              <a:rPr lang="fr-FR" sz="1400" dirty="0"/>
              <a:t> </a:t>
            </a:r>
            <a:r>
              <a:rPr lang="fr-FR" sz="1400" dirty="0" err="1"/>
              <a:t>subject</a:t>
            </a:r>
            <a:r>
              <a:rPr lang="fr-FR" sz="1400" dirty="0"/>
              <a:t> i</a:t>
            </a:r>
          </a:p>
        </p:txBody>
      </p:sp>
      <p:sp>
        <p:nvSpPr>
          <p:cNvPr id="39" name="Rectangle : coins arrondis 38">
            <a:extLst>
              <a:ext uri="{FF2B5EF4-FFF2-40B4-BE49-F238E27FC236}">
                <a16:creationId xmlns:a16="http://schemas.microsoft.com/office/drawing/2014/main" id="{B8BBD56E-907A-786B-E0C8-A69AF71D391F}"/>
              </a:ext>
            </a:extLst>
          </p:cNvPr>
          <p:cNvSpPr/>
          <p:nvPr/>
        </p:nvSpPr>
        <p:spPr>
          <a:xfrm>
            <a:off x="313622" y="1908767"/>
            <a:ext cx="4318045" cy="3629890"/>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fr-FR" dirty="0" err="1"/>
              <a:t>Comparison</a:t>
            </a:r>
            <a:r>
              <a:rPr lang="fr-FR" dirty="0"/>
              <a:t> </a:t>
            </a:r>
            <a:r>
              <a:rPr lang="fr-FR" dirty="0" err="1"/>
              <a:t>between</a:t>
            </a:r>
            <a:r>
              <a:rPr lang="fr-FR" dirty="0"/>
              <a:t> CNN and </a:t>
            </a:r>
            <a:r>
              <a:rPr lang="fr-FR" dirty="0" err="1"/>
              <a:t>two</a:t>
            </a:r>
            <a:r>
              <a:rPr lang="fr-FR" dirty="0"/>
              <a:t> types of SPDNet </a:t>
            </a:r>
          </a:p>
          <a:p>
            <a:pPr marL="285750" indent="-285750">
              <a:buFont typeface="Arial" panose="020B0604020202020204" pitchFamily="34" charset="0"/>
              <a:buChar char="•"/>
            </a:pPr>
            <a:r>
              <a:rPr lang="fr-FR" dirty="0" err="1"/>
              <a:t>Comparison</a:t>
            </a:r>
            <a:r>
              <a:rPr lang="fr-FR" dirty="0"/>
              <a:t> </a:t>
            </a:r>
            <a:r>
              <a:rPr lang="fr-FR" dirty="0" err="1"/>
              <a:t>between</a:t>
            </a:r>
            <a:r>
              <a:rPr lang="fr-FR" dirty="0"/>
              <a:t> Domain </a:t>
            </a:r>
            <a:r>
              <a:rPr lang="fr-FR" dirty="0" err="1"/>
              <a:t>Generalization</a:t>
            </a:r>
            <a:r>
              <a:rPr lang="fr-FR" dirty="0"/>
              <a:t>, Domain Adaptation and Single </a:t>
            </a:r>
            <a:r>
              <a:rPr lang="fr-FR" dirty="0" err="1"/>
              <a:t>Subject</a:t>
            </a:r>
            <a:endParaRPr lang="fr-FR" dirty="0"/>
          </a:p>
          <a:p>
            <a:pPr marL="285750" indent="-285750">
              <a:buFont typeface="Arial" panose="020B0604020202020204" pitchFamily="34" charset="0"/>
              <a:buChar char="•"/>
            </a:pPr>
            <a:r>
              <a:rPr lang="fr-FR" dirty="0" err="1"/>
              <a:t>Normalization</a:t>
            </a:r>
            <a:r>
              <a:rPr lang="fr-FR" dirty="0"/>
              <a:t>, </a:t>
            </a:r>
            <a:r>
              <a:rPr lang="fr-FR" dirty="0" err="1"/>
              <a:t>filtering</a:t>
            </a:r>
            <a:r>
              <a:rPr lang="fr-FR" dirty="0"/>
              <a:t> (spatial &amp; temporal), </a:t>
            </a:r>
            <a:r>
              <a:rPr lang="fr-FR" dirty="0" err="1"/>
              <a:t>recentering</a:t>
            </a:r>
            <a:r>
              <a:rPr lang="fr-FR" dirty="0"/>
              <a:t> (spatial)</a:t>
            </a:r>
          </a:p>
        </p:txBody>
      </p:sp>
      <p:sp>
        <p:nvSpPr>
          <p:cNvPr id="38" name="Espace réservé du pied de page 3">
            <a:extLst>
              <a:ext uri="{FF2B5EF4-FFF2-40B4-BE49-F238E27FC236}">
                <a16:creationId xmlns:a16="http://schemas.microsoft.com/office/drawing/2014/main" id="{9E4D0354-58FE-AFDA-E717-AABDE67D589C}"/>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3323837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7AFBC-E876-08C0-D316-CB071FC7E6B2}"/>
              </a:ext>
            </a:extLst>
          </p:cNvPr>
          <p:cNvSpPr>
            <a:spLocks noGrp="1"/>
          </p:cNvSpPr>
          <p:nvPr>
            <p:ph type="title"/>
          </p:nvPr>
        </p:nvSpPr>
        <p:spPr/>
        <p:txBody>
          <a:bodyPr/>
          <a:lstStyle/>
          <a:p>
            <a:r>
              <a:rPr lang="fr-FR" dirty="0"/>
              <a:t>CNN</a:t>
            </a:r>
          </a:p>
        </p:txBody>
      </p:sp>
      <p:sp>
        <p:nvSpPr>
          <p:cNvPr id="5" name="Espace réservé du numéro de diapositive 4">
            <a:extLst>
              <a:ext uri="{FF2B5EF4-FFF2-40B4-BE49-F238E27FC236}">
                <a16:creationId xmlns:a16="http://schemas.microsoft.com/office/drawing/2014/main" id="{83ED3223-CD68-7379-F1DC-3C2F39DEB946}"/>
              </a:ext>
            </a:extLst>
          </p:cNvPr>
          <p:cNvSpPr>
            <a:spLocks noGrp="1"/>
          </p:cNvSpPr>
          <p:nvPr>
            <p:ph type="sldNum" sz="quarter" idx="12"/>
          </p:nvPr>
        </p:nvSpPr>
        <p:spPr/>
        <p:txBody>
          <a:bodyPr/>
          <a:lstStyle/>
          <a:p>
            <a:pPr>
              <a:defRPr/>
            </a:pPr>
            <a:fld id="{5E177536-18BF-1743-A360-A4663329E682}" type="slidenum">
              <a:rPr lang="fr-FR" smtClean="0"/>
              <a:t>11</a:t>
            </a:fld>
            <a:endParaRPr lang="fr-FR"/>
          </a:p>
        </p:txBody>
      </p:sp>
      <p:pic>
        <p:nvPicPr>
          <p:cNvPr id="6" name="Image 5">
            <a:extLst>
              <a:ext uri="{FF2B5EF4-FFF2-40B4-BE49-F238E27FC236}">
                <a16:creationId xmlns:a16="http://schemas.microsoft.com/office/drawing/2014/main" id="{D005593C-23D8-9DB8-BC8B-389752A3E4B2}"/>
              </a:ext>
            </a:extLst>
          </p:cNvPr>
          <p:cNvPicPr>
            <a:picLocks noChangeAspect="1"/>
          </p:cNvPicPr>
          <p:nvPr/>
        </p:nvPicPr>
        <p:blipFill>
          <a:blip r:embed="rId2"/>
          <a:stretch>
            <a:fillRect/>
          </a:stretch>
        </p:blipFill>
        <p:spPr>
          <a:xfrm>
            <a:off x="237455" y="2780928"/>
            <a:ext cx="2647147" cy="1395480"/>
          </a:xfrm>
          <a:prstGeom prst="rect">
            <a:avLst/>
          </a:prstGeom>
        </p:spPr>
      </p:pic>
      <p:pic>
        <p:nvPicPr>
          <p:cNvPr id="7" name="Image 6">
            <a:extLst>
              <a:ext uri="{FF2B5EF4-FFF2-40B4-BE49-F238E27FC236}">
                <a16:creationId xmlns:a16="http://schemas.microsoft.com/office/drawing/2014/main" id="{2B017C70-F734-74A9-2175-FEA591A7C53E}"/>
              </a:ext>
            </a:extLst>
          </p:cNvPr>
          <p:cNvPicPr>
            <a:picLocks noChangeAspect="1"/>
          </p:cNvPicPr>
          <p:nvPr/>
        </p:nvPicPr>
        <p:blipFill>
          <a:blip r:embed="rId3"/>
          <a:stretch>
            <a:fillRect/>
          </a:stretch>
        </p:blipFill>
        <p:spPr>
          <a:xfrm>
            <a:off x="3530208" y="2246435"/>
            <a:ext cx="8182162" cy="3491537"/>
          </a:xfrm>
          <a:prstGeom prst="rect">
            <a:avLst/>
          </a:prstGeom>
        </p:spPr>
      </p:pic>
      <p:sp>
        <p:nvSpPr>
          <p:cNvPr id="8" name="Rectangle 7">
            <a:extLst>
              <a:ext uri="{FF2B5EF4-FFF2-40B4-BE49-F238E27FC236}">
                <a16:creationId xmlns:a16="http://schemas.microsoft.com/office/drawing/2014/main" id="{9F00954E-F923-FD78-1682-0A10A151D71C}"/>
              </a:ext>
            </a:extLst>
          </p:cNvPr>
          <p:cNvSpPr/>
          <p:nvPr/>
        </p:nvSpPr>
        <p:spPr>
          <a:xfrm>
            <a:off x="5879976" y="2050803"/>
            <a:ext cx="4145140" cy="369332"/>
          </a:xfrm>
          <a:prstGeom prst="rect">
            <a:avLst/>
          </a:prstGeom>
        </p:spPr>
        <p:txBody>
          <a:bodyPr wrap="square">
            <a:spAutoFit/>
          </a:bodyPr>
          <a:lstStyle/>
          <a:p>
            <a:r>
              <a:rPr lang="fr-FR" dirty="0" err="1">
                <a:latin typeface="Arial" charset="0"/>
                <a:ea typeface="Arial" charset="0"/>
                <a:cs typeface="Arial" charset="0"/>
              </a:rPr>
              <a:t>Convolutional</a:t>
            </a:r>
            <a:r>
              <a:rPr lang="fr-FR" dirty="0">
                <a:latin typeface="Arial" charset="0"/>
                <a:ea typeface="Arial" charset="0"/>
                <a:cs typeface="Arial" charset="0"/>
              </a:rPr>
              <a:t> Neural Network (CNN) </a:t>
            </a:r>
          </a:p>
        </p:txBody>
      </p:sp>
      <p:pic>
        <p:nvPicPr>
          <p:cNvPr id="9" name="Image 8">
            <a:extLst>
              <a:ext uri="{FF2B5EF4-FFF2-40B4-BE49-F238E27FC236}">
                <a16:creationId xmlns:a16="http://schemas.microsoft.com/office/drawing/2014/main" id="{B108F25C-583A-C1E3-33EC-D2BBF6441D3D}"/>
              </a:ext>
            </a:extLst>
          </p:cNvPr>
          <p:cNvPicPr>
            <a:picLocks noChangeAspect="1"/>
          </p:cNvPicPr>
          <p:nvPr/>
        </p:nvPicPr>
        <p:blipFill rotWithShape="1">
          <a:blip r:embed="rId4"/>
          <a:srcRect l="9645" b="4271"/>
          <a:stretch/>
        </p:blipFill>
        <p:spPr>
          <a:xfrm>
            <a:off x="2971176" y="3348403"/>
            <a:ext cx="559032" cy="260531"/>
          </a:xfrm>
          <a:prstGeom prst="rect">
            <a:avLst/>
          </a:prstGeom>
        </p:spPr>
      </p:pic>
      <p:grpSp>
        <p:nvGrpSpPr>
          <p:cNvPr id="10" name="Groupe 9">
            <a:extLst>
              <a:ext uri="{FF2B5EF4-FFF2-40B4-BE49-F238E27FC236}">
                <a16:creationId xmlns:a16="http://schemas.microsoft.com/office/drawing/2014/main" id="{F9A42F8A-99A9-C034-B43A-F57C5AFA527B}"/>
              </a:ext>
            </a:extLst>
          </p:cNvPr>
          <p:cNvGrpSpPr>
            <a:grpSpLocks/>
          </p:cNvGrpSpPr>
          <p:nvPr/>
        </p:nvGrpSpPr>
        <p:grpSpPr>
          <a:xfrm>
            <a:off x="6816080" y="5189596"/>
            <a:ext cx="4536504" cy="1192129"/>
            <a:chOff x="6816080" y="5189596"/>
            <a:chExt cx="4536504" cy="1192129"/>
          </a:xfrm>
        </p:grpSpPr>
        <p:pic>
          <p:nvPicPr>
            <p:cNvPr id="11" name="Picture 2" descr="Page d'accueil - LISN | Laboratoire Interdisciplinaire des Sciences du  Numérique">
              <a:extLst>
                <a:ext uri="{FF2B5EF4-FFF2-40B4-BE49-F238E27FC236}">
                  <a16:creationId xmlns:a16="http://schemas.microsoft.com/office/drawing/2014/main" id="{EDBB90B6-634C-8213-4E85-BBB2B55F5FF2}"/>
                </a:ext>
              </a:extLst>
            </p:cNvPr>
            <p:cNvPicPr>
              <a:picLocks noChangeAspect="1"/>
            </p:cNvPicPr>
            <p:nvPr/>
          </p:nvPicPr>
          <p:blipFill>
            <a:blip r:embed="rId5">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48FFB616-1697-CE64-D9B3-EEBACBFBF514}"/>
                </a:ext>
              </a:extLst>
            </p:cNvPr>
            <p:cNvPicPr>
              <a:picLocks noChangeAspect="1"/>
            </p:cNvPicPr>
            <p:nvPr/>
          </p:nvPicPr>
          <p:blipFill>
            <a:blip r:embed="rId6">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0E4AC52D-C740-BA9F-867A-97226B726B3C}"/>
              </a:ext>
            </a:extLst>
          </p:cNvPr>
          <p:cNvSpPr txBox="1"/>
          <p:nvPr/>
        </p:nvSpPr>
        <p:spPr>
          <a:xfrm>
            <a:off x="-24680" y="6654552"/>
            <a:ext cx="5458912" cy="230832"/>
          </a:xfrm>
          <a:prstGeom prst="rect">
            <a:avLst/>
          </a:prstGeom>
          <a:noFill/>
        </p:spPr>
        <p:txBody>
          <a:bodyPr wrap="square" rtlCol="0">
            <a:spAutoFit/>
          </a:bodyPr>
          <a:lstStyle/>
          <a:p>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a:t>
            </a:r>
            <a:r>
              <a:rPr lang="fr-FR" sz="900" b="0" i="0" dirty="0">
                <a:effectLst/>
                <a:latin typeface="Arial" panose="020B0604020202020204" pitchFamily="34" charset="0"/>
              </a:rPr>
              <a:t>, et al. </a:t>
            </a:r>
            <a:r>
              <a:rPr lang="fr-FR" sz="900" b="0" i="0" dirty="0" err="1">
                <a:effectLst/>
                <a:latin typeface="Arial" panose="020B0604020202020204" pitchFamily="34" charset="0"/>
              </a:rPr>
              <a:t>NeuroImage</a:t>
            </a:r>
            <a:r>
              <a:rPr lang="fr-FR" sz="900" b="0" i="0" dirty="0">
                <a:effectLst/>
                <a:latin typeface="Arial" panose="020B0604020202020204" pitchFamily="34" charset="0"/>
              </a:rPr>
              <a:t>, page 11, 2023.</a:t>
            </a:r>
          </a:p>
        </p:txBody>
      </p:sp>
      <p:sp>
        <p:nvSpPr>
          <p:cNvPr id="14" name="Espace réservé du pied de page 3">
            <a:extLst>
              <a:ext uri="{FF2B5EF4-FFF2-40B4-BE49-F238E27FC236}">
                <a16:creationId xmlns:a16="http://schemas.microsoft.com/office/drawing/2014/main" id="{4C651A7D-BA79-41E8-632E-3873BA4522AC}"/>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610484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FAC3E7-F604-F145-7A41-72B856644175}"/>
              </a:ext>
            </a:extLst>
          </p:cNvPr>
          <p:cNvSpPr>
            <a:spLocks noGrp="1"/>
          </p:cNvSpPr>
          <p:nvPr>
            <p:ph type="title"/>
          </p:nvPr>
        </p:nvSpPr>
        <p:spPr/>
        <p:txBody>
          <a:bodyPr/>
          <a:lstStyle/>
          <a:p>
            <a:r>
              <a:rPr lang="fr-FR" dirty="0"/>
              <a:t>SPDNet</a:t>
            </a:r>
          </a:p>
        </p:txBody>
      </p:sp>
      <p:sp>
        <p:nvSpPr>
          <p:cNvPr id="5" name="Espace réservé du numéro de diapositive 4">
            <a:extLst>
              <a:ext uri="{FF2B5EF4-FFF2-40B4-BE49-F238E27FC236}">
                <a16:creationId xmlns:a16="http://schemas.microsoft.com/office/drawing/2014/main" id="{6821F381-F8CE-8D21-0188-4F25B22AA0D7}"/>
              </a:ext>
            </a:extLst>
          </p:cNvPr>
          <p:cNvSpPr>
            <a:spLocks noGrp="1"/>
          </p:cNvSpPr>
          <p:nvPr>
            <p:ph type="sldNum" sz="quarter" idx="12"/>
          </p:nvPr>
        </p:nvSpPr>
        <p:spPr/>
        <p:txBody>
          <a:bodyPr/>
          <a:lstStyle/>
          <a:p>
            <a:pPr>
              <a:defRPr/>
            </a:pPr>
            <a:fld id="{5E177536-18BF-1743-A360-A4663329E682}" type="slidenum">
              <a:rPr lang="fr-FR" smtClean="0"/>
              <a:t>12</a:t>
            </a:fld>
            <a:endParaRPr lang="fr-FR"/>
          </a:p>
        </p:txBody>
      </p:sp>
      <p:pic>
        <p:nvPicPr>
          <p:cNvPr id="6" name="Image 5">
            <a:extLst>
              <a:ext uri="{FF2B5EF4-FFF2-40B4-BE49-F238E27FC236}">
                <a16:creationId xmlns:a16="http://schemas.microsoft.com/office/drawing/2014/main" id="{27AA9363-AA68-CEE3-1377-BC13CCD66BD8}"/>
              </a:ext>
            </a:extLst>
          </p:cNvPr>
          <p:cNvPicPr>
            <a:picLocks noChangeAspect="1"/>
          </p:cNvPicPr>
          <p:nvPr/>
        </p:nvPicPr>
        <p:blipFill>
          <a:blip r:embed="rId2"/>
          <a:stretch>
            <a:fillRect/>
          </a:stretch>
        </p:blipFill>
        <p:spPr>
          <a:xfrm>
            <a:off x="4247218" y="2744968"/>
            <a:ext cx="7791808" cy="2166397"/>
          </a:xfrm>
          <a:prstGeom prst="rect">
            <a:avLst/>
          </a:prstGeom>
        </p:spPr>
      </p:pic>
      <p:pic>
        <p:nvPicPr>
          <p:cNvPr id="7" name="Image 6">
            <a:extLst>
              <a:ext uri="{FF2B5EF4-FFF2-40B4-BE49-F238E27FC236}">
                <a16:creationId xmlns:a16="http://schemas.microsoft.com/office/drawing/2014/main" id="{0FC29D66-96B3-9630-B51D-FF064AE87A6B}"/>
              </a:ext>
            </a:extLst>
          </p:cNvPr>
          <p:cNvPicPr>
            <a:picLocks noChangeAspect="1"/>
          </p:cNvPicPr>
          <p:nvPr/>
        </p:nvPicPr>
        <p:blipFill>
          <a:blip r:embed="rId3"/>
          <a:stretch>
            <a:fillRect/>
          </a:stretch>
        </p:blipFill>
        <p:spPr>
          <a:xfrm>
            <a:off x="152974" y="3039616"/>
            <a:ext cx="2128313" cy="1291581"/>
          </a:xfrm>
          <a:prstGeom prst="rect">
            <a:avLst/>
          </a:prstGeom>
        </p:spPr>
      </p:pic>
      <p:pic>
        <p:nvPicPr>
          <p:cNvPr id="8" name="Image 7">
            <a:extLst>
              <a:ext uri="{FF2B5EF4-FFF2-40B4-BE49-F238E27FC236}">
                <a16:creationId xmlns:a16="http://schemas.microsoft.com/office/drawing/2014/main" id="{7C6E00AB-8786-E0DB-81A1-4DB4C2720810}"/>
              </a:ext>
            </a:extLst>
          </p:cNvPr>
          <p:cNvPicPr>
            <a:picLocks noChangeAspect="1"/>
          </p:cNvPicPr>
          <p:nvPr/>
        </p:nvPicPr>
        <p:blipFill rotWithShape="1">
          <a:blip r:embed="rId4"/>
          <a:srcRect l="9645" b="4271"/>
          <a:stretch/>
        </p:blipFill>
        <p:spPr>
          <a:xfrm>
            <a:off x="2281287" y="3546736"/>
            <a:ext cx="453938" cy="211553"/>
          </a:xfrm>
          <a:prstGeom prst="rect">
            <a:avLst/>
          </a:prstGeom>
        </p:spPr>
      </p:pic>
      <p:pic>
        <p:nvPicPr>
          <p:cNvPr id="9" name="Image 8">
            <a:extLst>
              <a:ext uri="{FF2B5EF4-FFF2-40B4-BE49-F238E27FC236}">
                <a16:creationId xmlns:a16="http://schemas.microsoft.com/office/drawing/2014/main" id="{EB541872-D087-6114-89C0-061DEE5C3E50}"/>
              </a:ext>
            </a:extLst>
          </p:cNvPr>
          <p:cNvPicPr>
            <a:picLocks noChangeAspect="1"/>
          </p:cNvPicPr>
          <p:nvPr/>
        </p:nvPicPr>
        <p:blipFill rotWithShape="1">
          <a:blip r:embed="rId4"/>
          <a:srcRect l="9645" b="4271"/>
          <a:stretch/>
        </p:blipFill>
        <p:spPr>
          <a:xfrm>
            <a:off x="4119370" y="3559463"/>
            <a:ext cx="453938" cy="211553"/>
          </a:xfrm>
          <a:prstGeom prst="rect">
            <a:avLst/>
          </a:prstGeom>
        </p:spPr>
      </p:pic>
      <p:sp>
        <p:nvSpPr>
          <p:cNvPr id="10" name="Rectangle 9">
            <a:extLst>
              <a:ext uri="{FF2B5EF4-FFF2-40B4-BE49-F238E27FC236}">
                <a16:creationId xmlns:a16="http://schemas.microsoft.com/office/drawing/2014/main" id="{570D70C8-315B-8572-685C-227F8C81851E}"/>
              </a:ext>
            </a:extLst>
          </p:cNvPr>
          <p:cNvSpPr/>
          <p:nvPr/>
        </p:nvSpPr>
        <p:spPr>
          <a:xfrm>
            <a:off x="2773429" y="3240489"/>
            <a:ext cx="1307737" cy="82404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Covariance</a:t>
            </a:r>
          </a:p>
          <a:p>
            <a:pPr algn="ctr"/>
            <a:r>
              <a:rPr lang="fr-FR" sz="1400" dirty="0"/>
              <a:t>transformation </a:t>
            </a:r>
          </a:p>
        </p:txBody>
      </p:sp>
      <p:grpSp>
        <p:nvGrpSpPr>
          <p:cNvPr id="11" name="Groupe 10">
            <a:extLst>
              <a:ext uri="{FF2B5EF4-FFF2-40B4-BE49-F238E27FC236}">
                <a16:creationId xmlns:a16="http://schemas.microsoft.com/office/drawing/2014/main" id="{6E809B3F-8629-1B42-B309-815E46C356FA}"/>
              </a:ext>
            </a:extLst>
          </p:cNvPr>
          <p:cNvGrpSpPr>
            <a:grpSpLocks/>
          </p:cNvGrpSpPr>
          <p:nvPr/>
        </p:nvGrpSpPr>
        <p:grpSpPr>
          <a:xfrm>
            <a:off x="6816080" y="5189596"/>
            <a:ext cx="4536504" cy="1192129"/>
            <a:chOff x="6816080" y="5189596"/>
            <a:chExt cx="4536504" cy="1192129"/>
          </a:xfrm>
        </p:grpSpPr>
        <p:pic>
          <p:nvPicPr>
            <p:cNvPr id="12" name="Picture 2" descr="Page d'accueil - LISN | Laboratoire Interdisciplinaire des Sciences du  Numérique">
              <a:extLst>
                <a:ext uri="{FF2B5EF4-FFF2-40B4-BE49-F238E27FC236}">
                  <a16:creationId xmlns:a16="http://schemas.microsoft.com/office/drawing/2014/main" id="{8E552ACB-9824-E401-D76E-FBF6D1368A26}"/>
                </a:ext>
              </a:extLst>
            </p:cNvPr>
            <p:cNvPicPr>
              <a:picLocks noChangeAspect="1"/>
            </p:cNvPicPr>
            <p:nvPr/>
          </p:nvPicPr>
          <p:blipFill>
            <a:blip r:embed="rId5">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816C2AE6-5A6A-B591-E00D-743E725BFE9F}"/>
                </a:ext>
              </a:extLst>
            </p:cNvPr>
            <p:cNvPicPr>
              <a:picLocks noChangeAspect="1"/>
            </p:cNvPicPr>
            <p:nvPr/>
          </p:nvPicPr>
          <p:blipFill>
            <a:blip r:embed="rId6">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D3532CF8-C696-B1C3-9C9A-1E86DD2AC2B8}"/>
              </a:ext>
            </a:extLst>
          </p:cNvPr>
          <p:cNvSpPr txBox="1"/>
          <p:nvPr/>
        </p:nvSpPr>
        <p:spPr>
          <a:xfrm>
            <a:off x="-13604" y="6467664"/>
            <a:ext cx="5136470" cy="369332"/>
          </a:xfrm>
          <a:prstGeom prst="rect">
            <a:avLst/>
          </a:prstGeom>
          <a:noFill/>
        </p:spPr>
        <p:txBody>
          <a:bodyPr wrap="square">
            <a:spAutoFit/>
          </a:bodyPr>
          <a:lstStyle/>
          <a:p>
            <a:r>
              <a:rPr lang="fr-FR" sz="900" b="0" i="0" dirty="0">
                <a:effectLst/>
                <a:latin typeface="Arial" panose="020B0604020202020204" pitchFamily="34" charset="0"/>
              </a:rPr>
              <a:t>Z. Huang et al. In AAAI, page 9, 2017</a:t>
            </a:r>
          </a:p>
          <a:p>
            <a:r>
              <a:rPr lang="fr-FR" sz="900" b="0" i="0" dirty="0">
                <a:effectLst/>
                <a:latin typeface="Arial" panose="020B0604020202020204" pitchFamily="34" charset="0"/>
              </a:rPr>
              <a:t>R. </a:t>
            </a:r>
            <a:r>
              <a:rPr lang="fr-FR" sz="900" b="0" i="0" dirty="0" err="1">
                <a:effectLst/>
                <a:latin typeface="Arial" panose="020B0604020202020204" pitchFamily="34" charset="0"/>
              </a:rPr>
              <a:t>Kobler</a:t>
            </a:r>
            <a:r>
              <a:rPr lang="fr-FR" sz="900" b="0" i="0" dirty="0">
                <a:effectLst/>
                <a:latin typeface="Arial" panose="020B0604020202020204" pitchFamily="34" charset="0"/>
              </a:rPr>
              <a:t> et al. In </a:t>
            </a:r>
            <a:r>
              <a:rPr lang="fr-FR" sz="900" b="0" i="0" dirty="0" err="1">
                <a:effectLst/>
                <a:latin typeface="Arial" panose="020B0604020202020204" pitchFamily="34" charset="0"/>
              </a:rPr>
              <a:t>NeurIPS</a:t>
            </a:r>
            <a:r>
              <a:rPr lang="fr-FR" sz="900" b="0" i="0" dirty="0">
                <a:effectLst/>
                <a:latin typeface="Arial" panose="020B0604020202020204" pitchFamily="34" charset="0"/>
              </a:rPr>
              <a:t>, 2022.</a:t>
            </a:r>
            <a:endParaRPr lang="fr-FR" sz="900" dirty="0"/>
          </a:p>
        </p:txBody>
      </p:sp>
      <p:sp>
        <p:nvSpPr>
          <p:cNvPr id="14" name="Espace réservé du pied de page 3">
            <a:extLst>
              <a:ext uri="{FF2B5EF4-FFF2-40B4-BE49-F238E27FC236}">
                <a16:creationId xmlns:a16="http://schemas.microsoft.com/office/drawing/2014/main" id="{4F497B9D-EAD2-8F26-6F6F-8EB63601E68E}"/>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2197997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32368802-24B2-ACE0-AC09-0BF63F7169A0}"/>
              </a:ext>
            </a:extLst>
          </p:cNvPr>
          <p:cNvGrpSpPr>
            <a:grpSpLocks/>
          </p:cNvGrpSpPr>
          <p:nvPr/>
        </p:nvGrpSpPr>
        <p:grpSpPr>
          <a:xfrm>
            <a:off x="6816080" y="5189596"/>
            <a:ext cx="4536504" cy="1192129"/>
            <a:chOff x="6816080" y="5189596"/>
            <a:chExt cx="4536504" cy="1192129"/>
          </a:xfrm>
        </p:grpSpPr>
        <p:pic>
          <p:nvPicPr>
            <p:cNvPr id="8" name="Picture 2" descr="Page d'accueil - LISN | Laboratoire Interdisciplinaire des Sciences du  Numérique">
              <a:extLst>
                <a:ext uri="{FF2B5EF4-FFF2-40B4-BE49-F238E27FC236}">
                  <a16:creationId xmlns:a16="http://schemas.microsoft.com/office/drawing/2014/main" id="{D2F785F5-6C3A-602C-C4AB-2E1C1F7549C1}"/>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77A3FB05-745D-1E7A-5802-0CA6FFC3E3B0}"/>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61D478B4-28A6-406D-25BB-41330FAFF656}"/>
              </a:ext>
            </a:extLst>
          </p:cNvPr>
          <p:cNvSpPr>
            <a:spLocks noGrp="1"/>
          </p:cNvSpPr>
          <p:nvPr>
            <p:ph type="title"/>
          </p:nvPr>
        </p:nvSpPr>
        <p:spPr/>
        <p:txBody>
          <a:bodyPr/>
          <a:lstStyle/>
          <a:p>
            <a:r>
              <a:rPr lang="fr-FR" dirty="0" err="1"/>
              <a:t>Results</a:t>
            </a:r>
            <a:endParaRPr lang="fr-FR" dirty="0"/>
          </a:p>
        </p:txBody>
      </p:sp>
      <p:sp>
        <p:nvSpPr>
          <p:cNvPr id="5" name="Espace réservé du numéro de diapositive 4">
            <a:extLst>
              <a:ext uri="{FF2B5EF4-FFF2-40B4-BE49-F238E27FC236}">
                <a16:creationId xmlns:a16="http://schemas.microsoft.com/office/drawing/2014/main" id="{504A1D3A-A6B6-C4EA-F487-11351407044C}"/>
              </a:ext>
            </a:extLst>
          </p:cNvPr>
          <p:cNvSpPr>
            <a:spLocks noGrp="1"/>
          </p:cNvSpPr>
          <p:nvPr>
            <p:ph type="sldNum" sz="quarter" idx="12"/>
          </p:nvPr>
        </p:nvSpPr>
        <p:spPr/>
        <p:txBody>
          <a:bodyPr/>
          <a:lstStyle/>
          <a:p>
            <a:pPr>
              <a:defRPr/>
            </a:pPr>
            <a:fld id="{5E177536-18BF-1743-A360-A4663329E682}" type="slidenum">
              <a:rPr lang="fr-FR" smtClean="0"/>
              <a:t>13</a:t>
            </a:fld>
            <a:endParaRPr lang="fr-FR"/>
          </a:p>
        </p:txBody>
      </p:sp>
      <p:pic>
        <p:nvPicPr>
          <p:cNvPr id="6" name="Image 5" descr="Une image contenant texte, diagramme, capture d’écran, nombre&#10;&#10;Description générée automatiquement">
            <a:extLst>
              <a:ext uri="{FF2B5EF4-FFF2-40B4-BE49-F238E27FC236}">
                <a16:creationId xmlns:a16="http://schemas.microsoft.com/office/drawing/2014/main" id="{8634BF00-EC32-41C2-B9BF-95BBE1F62F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4698" y="1087141"/>
            <a:ext cx="5471082" cy="5384730"/>
          </a:xfrm>
          <a:prstGeom prst="rect">
            <a:avLst/>
          </a:prstGeom>
        </p:spPr>
      </p:pic>
      <p:sp>
        <p:nvSpPr>
          <p:cNvPr id="3" name="Rectangle : coins arrondis 2">
            <a:extLst>
              <a:ext uri="{FF2B5EF4-FFF2-40B4-BE49-F238E27FC236}">
                <a16:creationId xmlns:a16="http://schemas.microsoft.com/office/drawing/2014/main" id="{EB4C6D3F-6977-246F-216F-F3C27EF39B0E}"/>
              </a:ext>
            </a:extLst>
          </p:cNvPr>
          <p:cNvSpPr/>
          <p:nvPr/>
        </p:nvSpPr>
        <p:spPr>
          <a:xfrm>
            <a:off x="839416" y="1964561"/>
            <a:ext cx="4797439" cy="3629890"/>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DA setting </a:t>
            </a:r>
            <a:r>
              <a:rPr lang="fr-FR" dirty="0" err="1">
                <a:latin typeface="Arial" panose="020B0604020202020204" pitchFamily="34" charset="0"/>
                <a:cs typeface="Arial" panose="020B0604020202020204" pitchFamily="34" charset="0"/>
              </a:rPr>
              <a:t>performs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higher</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DG setting</a:t>
            </a:r>
          </a:p>
          <a:p>
            <a:pPr marL="285750" indent="-285750">
              <a:buFont typeface="Arial" panose="020B0604020202020204" pitchFamily="34" charset="0"/>
              <a:buChar char="•"/>
            </a:pPr>
            <a:endParaRPr lang="fr-F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dirty="0" err="1">
                <a:latin typeface="Arial" panose="020B0604020202020204" pitchFamily="34" charset="0"/>
                <a:cs typeface="Arial" panose="020B0604020202020204" pitchFamily="34" charset="0"/>
              </a:rPr>
              <a:t>Riemannian</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DeepLearning</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algorithms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seems</a:t>
            </a:r>
            <a:r>
              <a:rPr lang="fr-FR" dirty="0">
                <a:latin typeface="Arial" panose="020B0604020202020204" pitchFamily="34" charset="0"/>
                <a:cs typeface="Arial" panose="020B0604020202020204" pitchFamily="34" charset="0"/>
              </a:rPr>
              <a:t> more consistent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CNN</a:t>
            </a:r>
            <a:endParaRPr lang="fr-FR" dirty="0"/>
          </a:p>
        </p:txBody>
      </p:sp>
      <p:sp>
        <p:nvSpPr>
          <p:cNvPr id="11" name="Espace réservé du pied de page 3">
            <a:extLst>
              <a:ext uri="{FF2B5EF4-FFF2-40B4-BE49-F238E27FC236}">
                <a16:creationId xmlns:a16="http://schemas.microsoft.com/office/drawing/2014/main" id="{D7351F2A-8831-B4E0-AB96-181A607D9A70}"/>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1093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9D466454-6D55-F54C-8B7D-E286DB292EBD}"/>
              </a:ext>
            </a:extLst>
          </p:cNvPr>
          <p:cNvSpPr>
            <a:spLocks noGrp="1"/>
          </p:cNvSpPr>
          <p:nvPr>
            <p:ph type="title"/>
          </p:nvPr>
        </p:nvSpPr>
        <p:spPr/>
        <p:txBody>
          <a:bodyPr/>
          <a:lstStyle/>
          <a:p>
            <a:r>
              <a:rPr lang="fr-FR" dirty="0"/>
              <a:t>Conclusion</a:t>
            </a:r>
          </a:p>
        </p:txBody>
      </p:sp>
      <p:sp>
        <p:nvSpPr>
          <p:cNvPr id="2" name="Espace réservé du contenu 1">
            <a:extLst>
              <a:ext uri="{FF2B5EF4-FFF2-40B4-BE49-F238E27FC236}">
                <a16:creationId xmlns:a16="http://schemas.microsoft.com/office/drawing/2014/main" id="{32FC7CDC-BD05-7824-246B-1FB1F6F00CAC}"/>
              </a:ext>
            </a:extLst>
          </p:cNvPr>
          <p:cNvSpPr>
            <a:spLocks noGrp="1"/>
          </p:cNvSpPr>
          <p:nvPr>
            <p:ph idx="1"/>
          </p:nvPr>
        </p:nvSpPr>
        <p:spPr>
          <a:xfrm>
            <a:off x="1991544" y="2420888"/>
            <a:ext cx="7848871" cy="2880320"/>
          </a:xfrm>
          <a:prstGeom prst="round2DiagRect">
            <a:avLst/>
          </a:prstGeom>
          <a:ln w="76200">
            <a:solidFill>
              <a:srgbClr val="C00000"/>
            </a:solidFill>
          </a:ln>
        </p:spPr>
        <p:txBody>
          <a:bodyPr>
            <a:normAutofit/>
          </a:bodyPr>
          <a:lstStyle/>
          <a:p>
            <a:pPr marL="0" indent="0">
              <a:buNone/>
            </a:pPr>
            <a:r>
              <a:rPr lang="en-US" sz="2800" dirty="0"/>
              <a:t>In Burst-CVEP based BCI:</a:t>
            </a:r>
          </a:p>
          <a:p>
            <a:pPr marL="0" indent="0">
              <a:buNone/>
            </a:pPr>
            <a:r>
              <a:rPr lang="en-US" sz="500" dirty="0"/>
              <a:t> </a:t>
            </a:r>
            <a:endParaRPr lang="en-US" sz="2400" dirty="0"/>
          </a:p>
          <a:p>
            <a:r>
              <a:rPr lang="en-US" sz="2800" dirty="0"/>
              <a:t>Domain adaptation &gt; Domain Generalization</a:t>
            </a:r>
          </a:p>
          <a:p>
            <a:r>
              <a:rPr lang="en-US" sz="2800" dirty="0"/>
              <a:t>SPDNet on par with the CNN</a:t>
            </a:r>
          </a:p>
          <a:p>
            <a:r>
              <a:rPr lang="en-US" sz="2800" dirty="0"/>
              <a:t>SPDBNNet is too slow</a:t>
            </a:r>
          </a:p>
        </p:txBody>
      </p:sp>
      <p:grpSp>
        <p:nvGrpSpPr>
          <p:cNvPr id="4" name="Groupe 3">
            <a:extLst>
              <a:ext uri="{FF2B5EF4-FFF2-40B4-BE49-F238E27FC236}">
                <a16:creationId xmlns:a16="http://schemas.microsoft.com/office/drawing/2014/main" id="{0F7E7FAE-6E8B-70C7-17D1-6CC3B6CD5E4A}"/>
              </a:ext>
            </a:extLst>
          </p:cNvPr>
          <p:cNvGrpSpPr>
            <a:grpSpLocks/>
          </p:cNvGrpSpPr>
          <p:nvPr/>
        </p:nvGrpSpPr>
        <p:grpSpPr>
          <a:xfrm>
            <a:off x="6816080" y="5189596"/>
            <a:ext cx="4536504" cy="1192129"/>
            <a:chOff x="6816080" y="5189596"/>
            <a:chExt cx="4536504" cy="1192129"/>
          </a:xfrm>
        </p:grpSpPr>
        <p:pic>
          <p:nvPicPr>
            <p:cNvPr id="5" name="Picture 2" descr="Page d'accueil - LISN | Laboratoire Interdisciplinaire des Sciences du  Numérique">
              <a:extLst>
                <a:ext uri="{FF2B5EF4-FFF2-40B4-BE49-F238E27FC236}">
                  <a16:creationId xmlns:a16="http://schemas.microsoft.com/office/drawing/2014/main" id="{FA806B22-BC2F-2EE2-4E7F-2D1A56DAC25E}"/>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4352D4E1-D54B-C9BD-B987-A9EC0ED1B348}"/>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87384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930A2909-DF6B-2180-32F5-DC5E67C30D3C}"/>
              </a:ext>
            </a:extLst>
          </p:cNvPr>
          <p:cNvGrpSpPr>
            <a:grpSpLocks/>
          </p:cNvGrpSpPr>
          <p:nvPr/>
        </p:nvGrpSpPr>
        <p:grpSpPr>
          <a:xfrm>
            <a:off x="6816080" y="5189596"/>
            <a:ext cx="4536504" cy="1192129"/>
            <a:chOff x="6816080" y="5189596"/>
            <a:chExt cx="4536504" cy="1192129"/>
          </a:xfrm>
        </p:grpSpPr>
        <p:pic>
          <p:nvPicPr>
            <p:cNvPr id="10" name="Picture 2" descr="Page d'accueil - LISN | Laboratoire Interdisciplinaire des Sciences du  Numérique">
              <a:extLst>
                <a:ext uri="{FF2B5EF4-FFF2-40B4-BE49-F238E27FC236}">
                  <a16:creationId xmlns:a16="http://schemas.microsoft.com/office/drawing/2014/main" id="{581A0AD7-FE56-C94E-38AD-5F1256D88C83}"/>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76C5FA87-5F68-0397-B1F7-D41C2B858283}"/>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F3FF5315-E508-0B70-5672-CA04AFA81F5E}"/>
              </a:ext>
            </a:extLst>
          </p:cNvPr>
          <p:cNvSpPr>
            <a:spLocks noGrp="1"/>
          </p:cNvSpPr>
          <p:nvPr>
            <p:ph type="title"/>
          </p:nvPr>
        </p:nvSpPr>
        <p:spPr/>
        <p:txBody>
          <a:bodyPr/>
          <a:lstStyle/>
          <a:p>
            <a:r>
              <a:rPr lang="fr-FR" dirty="0"/>
              <a:t>Future direction</a:t>
            </a:r>
          </a:p>
        </p:txBody>
      </p:sp>
      <p:sp>
        <p:nvSpPr>
          <p:cNvPr id="3" name="Espace réservé du contenu 2">
            <a:extLst>
              <a:ext uri="{FF2B5EF4-FFF2-40B4-BE49-F238E27FC236}">
                <a16:creationId xmlns:a16="http://schemas.microsoft.com/office/drawing/2014/main" id="{BE36F340-8783-A5C1-5A2B-F07C97D8899E}"/>
              </a:ext>
            </a:extLst>
          </p:cNvPr>
          <p:cNvSpPr>
            <a:spLocks noGrp="1"/>
          </p:cNvSpPr>
          <p:nvPr>
            <p:ph idx="1"/>
          </p:nvPr>
        </p:nvSpPr>
        <p:spPr/>
        <p:txBody>
          <a:bodyPr>
            <a:normAutofit/>
          </a:bodyPr>
          <a:lstStyle/>
          <a:p>
            <a:endParaRPr lang="fr-FR" sz="2400" dirty="0"/>
          </a:p>
          <a:p>
            <a:endParaRPr lang="fr-FR" sz="2400" dirty="0"/>
          </a:p>
          <a:p>
            <a:endParaRPr lang="fr-FR" sz="2400" dirty="0"/>
          </a:p>
          <a:p>
            <a:r>
              <a:rPr lang="fr-FR" sz="2400" dirty="0"/>
              <a:t>Usage of </a:t>
            </a:r>
            <a:r>
              <a:rPr lang="fr-FR" sz="2400" dirty="0" err="1"/>
              <a:t>wavelet</a:t>
            </a:r>
            <a:r>
              <a:rPr lang="fr-FR" sz="2400" dirty="0"/>
              <a:t> </a:t>
            </a:r>
            <a:r>
              <a:rPr lang="fr-FR" sz="2400" dirty="0" err="1"/>
              <a:t>features</a:t>
            </a:r>
            <a:r>
              <a:rPr lang="fr-FR" sz="2400" dirty="0"/>
              <a:t> to </a:t>
            </a:r>
            <a:r>
              <a:rPr lang="fr-FR" sz="2400" dirty="0" err="1"/>
              <a:t>improve</a:t>
            </a:r>
            <a:r>
              <a:rPr lang="fr-FR" sz="2400" dirty="0"/>
              <a:t> </a:t>
            </a:r>
            <a:r>
              <a:rPr lang="fr-FR" sz="2400" dirty="0" err="1"/>
              <a:t>transferability</a:t>
            </a:r>
            <a:r>
              <a:rPr lang="fr-FR" sz="2400" dirty="0"/>
              <a:t> </a:t>
            </a:r>
          </a:p>
          <a:p>
            <a:r>
              <a:rPr lang="fr-FR" sz="2400" dirty="0"/>
              <a:t>Train on </a:t>
            </a:r>
            <a:r>
              <a:rPr lang="fr-FR" sz="2400" dirty="0" err="1"/>
              <a:t>similar</a:t>
            </a:r>
            <a:r>
              <a:rPr lang="fr-FR" sz="2400" dirty="0"/>
              <a:t> </a:t>
            </a:r>
            <a:r>
              <a:rPr lang="fr-FR" sz="2400" dirty="0" err="1"/>
              <a:t>subjects</a:t>
            </a:r>
            <a:endParaRPr lang="fr-FR" sz="2400" dirty="0"/>
          </a:p>
          <a:p>
            <a:r>
              <a:rPr lang="fr-FR" sz="2400" dirty="0"/>
              <a:t>Test on data of an on-</a:t>
            </a:r>
            <a:r>
              <a:rPr lang="fr-FR" sz="2400" dirty="0" err="1"/>
              <a:t>going</a:t>
            </a:r>
            <a:r>
              <a:rPr lang="fr-FR" sz="2400" dirty="0"/>
              <a:t> </a:t>
            </a:r>
            <a:r>
              <a:rPr lang="fr-FR" sz="2400" dirty="0" err="1"/>
              <a:t>experiment</a:t>
            </a:r>
            <a:r>
              <a:rPr lang="fr-FR" sz="2400" dirty="0"/>
              <a:t> to check </a:t>
            </a:r>
            <a:r>
              <a:rPr lang="fr-FR" sz="2400" dirty="0" err="1"/>
              <a:t>inter-session</a:t>
            </a:r>
            <a:r>
              <a:rPr lang="fr-FR" sz="2400" dirty="0"/>
              <a:t> </a:t>
            </a:r>
            <a:r>
              <a:rPr lang="fr-FR" sz="2400" dirty="0" err="1"/>
              <a:t>variabilities</a:t>
            </a:r>
            <a:endParaRPr lang="fr-FR" sz="2400" dirty="0"/>
          </a:p>
        </p:txBody>
      </p:sp>
      <p:sp>
        <p:nvSpPr>
          <p:cNvPr id="5" name="Espace réservé du numéro de diapositive 4">
            <a:extLst>
              <a:ext uri="{FF2B5EF4-FFF2-40B4-BE49-F238E27FC236}">
                <a16:creationId xmlns:a16="http://schemas.microsoft.com/office/drawing/2014/main" id="{D326D39A-BE20-0661-5C82-85C4C30BB43C}"/>
              </a:ext>
            </a:extLst>
          </p:cNvPr>
          <p:cNvSpPr>
            <a:spLocks noGrp="1"/>
          </p:cNvSpPr>
          <p:nvPr>
            <p:ph type="sldNum" sz="quarter" idx="12"/>
          </p:nvPr>
        </p:nvSpPr>
        <p:spPr/>
        <p:txBody>
          <a:bodyPr/>
          <a:lstStyle/>
          <a:p>
            <a:pPr>
              <a:defRPr/>
            </a:pPr>
            <a:fld id="{5E177536-18BF-1743-A360-A4663329E682}" type="slidenum">
              <a:rPr lang="fr-FR" smtClean="0"/>
              <a:t>15</a:t>
            </a:fld>
            <a:endParaRPr lang="fr-FR"/>
          </a:p>
        </p:txBody>
      </p:sp>
      <p:sp>
        <p:nvSpPr>
          <p:cNvPr id="8" name="Espace réservé du pied de page 3">
            <a:extLst>
              <a:ext uri="{FF2B5EF4-FFF2-40B4-BE49-F238E27FC236}">
                <a16:creationId xmlns:a16="http://schemas.microsoft.com/office/drawing/2014/main" id="{93B9C910-A469-95E5-9DAC-3192A9B1DE94}"/>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spTree>
    <p:extLst>
      <p:ext uri="{BB962C8B-B14F-4D97-AF65-F5344CB8AC3E}">
        <p14:creationId xmlns:p14="http://schemas.microsoft.com/office/powerpoint/2010/main" val="402985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EDCFDB-F2C1-70C9-463E-6A8F044EB4F2}"/>
              </a:ext>
            </a:extLst>
          </p:cNvPr>
          <p:cNvSpPr>
            <a:spLocks noGrp="1"/>
          </p:cNvSpPr>
          <p:nvPr>
            <p:ph type="title"/>
          </p:nvPr>
        </p:nvSpPr>
        <p:spPr/>
        <p:txBody>
          <a:bodyPr/>
          <a:lstStyle/>
          <a:p>
            <a:r>
              <a:rPr lang="fr-FR" dirty="0" err="1"/>
              <a:t>Thanks</a:t>
            </a:r>
            <a:r>
              <a:rPr lang="fr-FR" dirty="0"/>
              <a:t> for the support</a:t>
            </a:r>
            <a:endParaRPr lang="en-US" dirty="0"/>
          </a:p>
        </p:txBody>
      </p:sp>
      <p:sp>
        <p:nvSpPr>
          <p:cNvPr id="5" name="Espace réservé du numéro de diapositive 4">
            <a:extLst>
              <a:ext uri="{FF2B5EF4-FFF2-40B4-BE49-F238E27FC236}">
                <a16:creationId xmlns:a16="http://schemas.microsoft.com/office/drawing/2014/main" id="{572FC816-DC7F-0145-4262-DF272397B0C0}"/>
              </a:ext>
            </a:extLst>
          </p:cNvPr>
          <p:cNvSpPr>
            <a:spLocks noGrp="1"/>
          </p:cNvSpPr>
          <p:nvPr>
            <p:ph type="sldNum" sz="quarter" idx="12"/>
          </p:nvPr>
        </p:nvSpPr>
        <p:spPr/>
        <p:txBody>
          <a:bodyPr/>
          <a:lstStyle/>
          <a:p>
            <a:pPr>
              <a:defRPr/>
            </a:pPr>
            <a:fld id="{5E177536-18BF-1743-A360-A4663329E682}" type="slidenum">
              <a:rPr lang="en-US" smtClean="0"/>
              <a:t>16</a:t>
            </a:fld>
            <a:endParaRPr lang="en-US"/>
          </a:p>
        </p:txBody>
      </p:sp>
      <p:pic>
        <p:nvPicPr>
          <p:cNvPr id="6" name="Picture 2" descr="Dehais Frederic - Toulouse et périphérie | Profil professionnel | LinkedIn">
            <a:extLst>
              <a:ext uri="{FF2B5EF4-FFF2-40B4-BE49-F238E27FC236}">
                <a16:creationId xmlns:a16="http://schemas.microsoft.com/office/drawing/2014/main" id="{F19E897D-8A2E-1B64-F608-62FB1DCB2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50" y="2702363"/>
            <a:ext cx="1440159" cy="14401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ylvain Chevallier">
            <a:extLst>
              <a:ext uri="{FF2B5EF4-FFF2-40B4-BE49-F238E27FC236}">
                <a16:creationId xmlns:a16="http://schemas.microsoft.com/office/drawing/2014/main" id="{C78CFF54-A3D9-2229-6EAF-BCDC10534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673" y="2702363"/>
            <a:ext cx="1440160" cy="14401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Marie-Constance Corsi - Research Scientist - Inria | LinkedIn">
            <a:extLst>
              <a:ext uri="{FF2B5EF4-FFF2-40B4-BE49-F238E27FC236}">
                <a16:creationId xmlns:a16="http://schemas.microsoft.com/office/drawing/2014/main" id="{C5E58B2F-0074-5A5B-FF5B-91EFCF11C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9896" y="2708920"/>
            <a:ext cx="1440159" cy="1440159"/>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7EF638B4-D9D2-7599-25F1-7135FB9F1D26}"/>
              </a:ext>
            </a:extLst>
          </p:cNvPr>
          <p:cNvSpPr txBox="1"/>
          <p:nvPr/>
        </p:nvSpPr>
        <p:spPr>
          <a:xfrm>
            <a:off x="1127450" y="4303320"/>
            <a:ext cx="1440160" cy="584775"/>
          </a:xfrm>
          <a:prstGeom prst="rect">
            <a:avLst/>
          </a:prstGeom>
          <a:noFill/>
        </p:spPr>
        <p:txBody>
          <a:bodyPr wrap="square" rtlCol="0">
            <a:spAutoFit/>
          </a:bodyPr>
          <a:lstStyle/>
          <a:p>
            <a:pPr algn="ctr"/>
            <a:r>
              <a:rPr lang="fr-FR" sz="1600" b="1" dirty="0"/>
              <a:t>Frédéric </a:t>
            </a:r>
            <a:r>
              <a:rPr lang="fr-FR" sz="1600" b="1" dirty="0" err="1"/>
              <a:t>Dehais</a:t>
            </a:r>
            <a:endParaRPr lang="en-US" sz="1600" b="1" dirty="0"/>
          </a:p>
        </p:txBody>
      </p:sp>
      <p:sp>
        <p:nvSpPr>
          <p:cNvPr id="10" name="ZoneTexte 9">
            <a:extLst>
              <a:ext uri="{FF2B5EF4-FFF2-40B4-BE49-F238E27FC236}">
                <a16:creationId xmlns:a16="http://schemas.microsoft.com/office/drawing/2014/main" id="{0D4C0348-0850-CF97-BD57-34F16AAE33A1}"/>
              </a:ext>
            </a:extLst>
          </p:cNvPr>
          <p:cNvSpPr txBox="1"/>
          <p:nvPr/>
        </p:nvSpPr>
        <p:spPr>
          <a:xfrm>
            <a:off x="3143672" y="4303320"/>
            <a:ext cx="1440160" cy="584775"/>
          </a:xfrm>
          <a:prstGeom prst="rect">
            <a:avLst/>
          </a:prstGeom>
          <a:noFill/>
        </p:spPr>
        <p:txBody>
          <a:bodyPr wrap="square" rtlCol="0">
            <a:spAutoFit/>
          </a:bodyPr>
          <a:lstStyle/>
          <a:p>
            <a:pPr algn="ctr"/>
            <a:r>
              <a:rPr lang="fr-FR" sz="1600" b="1" dirty="0"/>
              <a:t>Sylvain Chevallier</a:t>
            </a:r>
            <a:endParaRPr lang="en-US" sz="1600" b="1" dirty="0"/>
          </a:p>
        </p:txBody>
      </p:sp>
      <p:sp>
        <p:nvSpPr>
          <p:cNvPr id="11" name="ZoneTexte 10">
            <a:extLst>
              <a:ext uri="{FF2B5EF4-FFF2-40B4-BE49-F238E27FC236}">
                <a16:creationId xmlns:a16="http://schemas.microsoft.com/office/drawing/2014/main" id="{DE286ACF-BC7D-CAC9-0117-AA3286E50D6A}"/>
              </a:ext>
            </a:extLst>
          </p:cNvPr>
          <p:cNvSpPr txBox="1"/>
          <p:nvPr/>
        </p:nvSpPr>
        <p:spPr>
          <a:xfrm>
            <a:off x="5049195" y="4321291"/>
            <a:ext cx="1656185" cy="584775"/>
          </a:xfrm>
          <a:prstGeom prst="rect">
            <a:avLst/>
          </a:prstGeom>
          <a:noFill/>
        </p:spPr>
        <p:txBody>
          <a:bodyPr wrap="square" rtlCol="0">
            <a:spAutoFit/>
          </a:bodyPr>
          <a:lstStyle/>
          <a:p>
            <a:pPr algn="ctr"/>
            <a:r>
              <a:rPr lang="fr-FR" sz="1600" b="1" dirty="0"/>
              <a:t>Marie-Constance </a:t>
            </a:r>
            <a:r>
              <a:rPr lang="fr-FR" sz="1600" b="1" dirty="0" err="1"/>
              <a:t>Corsi</a:t>
            </a:r>
            <a:endParaRPr lang="en-US" sz="1600" b="1" dirty="0"/>
          </a:p>
        </p:txBody>
      </p:sp>
      <p:sp>
        <p:nvSpPr>
          <p:cNvPr id="12" name="Espace réservé du pied de page 3">
            <a:extLst>
              <a:ext uri="{FF2B5EF4-FFF2-40B4-BE49-F238E27FC236}">
                <a16:creationId xmlns:a16="http://schemas.microsoft.com/office/drawing/2014/main" id="{EF6B2E16-D7E1-D170-BAE2-CD359B1F2C9C}"/>
              </a:ext>
            </a:extLst>
          </p:cNvPr>
          <p:cNvSpPr>
            <a:spLocks noGrp="1"/>
          </p:cNvSpPr>
          <p:nvPr>
            <p:ph type="ftr" sz="quarter" idx="11"/>
          </p:nvPr>
        </p:nvSpPr>
        <p:spPr>
          <a:xfrm>
            <a:off x="4038600" y="6471871"/>
            <a:ext cx="4114800" cy="365125"/>
          </a:xfrm>
        </p:spPr>
        <p:txBody>
          <a:bodyPr/>
          <a:lstStyle/>
          <a:p>
            <a:pPr>
              <a:defRPr/>
            </a:pPr>
            <a:r>
              <a:rPr lang="nb-NO" b="0" i="0" dirty="0">
                <a:solidFill>
                  <a:schemeClr val="bg1">
                    <a:lumMod val="65000"/>
                  </a:schemeClr>
                </a:solidFill>
                <a:effectLst/>
                <a:latin typeface="Slack-Lato"/>
              </a:rPr>
              <a:t>Velut, Deep Riemannian Net for DA, ESANN’24</a:t>
            </a:r>
            <a:endParaRPr lang="en-US" dirty="0">
              <a:solidFill>
                <a:schemeClr val="bg1">
                  <a:lumMod val="65000"/>
                </a:schemeClr>
              </a:solidFill>
            </a:endParaRPr>
          </a:p>
        </p:txBody>
      </p:sp>
      <p:grpSp>
        <p:nvGrpSpPr>
          <p:cNvPr id="13" name="Groupe 12">
            <a:extLst>
              <a:ext uri="{FF2B5EF4-FFF2-40B4-BE49-F238E27FC236}">
                <a16:creationId xmlns:a16="http://schemas.microsoft.com/office/drawing/2014/main" id="{F36F40E9-D218-6947-13AA-063067FD9E29}"/>
              </a:ext>
            </a:extLst>
          </p:cNvPr>
          <p:cNvGrpSpPr>
            <a:grpSpLocks/>
          </p:cNvGrpSpPr>
          <p:nvPr/>
        </p:nvGrpSpPr>
        <p:grpSpPr>
          <a:xfrm>
            <a:off x="8207050" y="2132657"/>
            <a:ext cx="2857500" cy="3067926"/>
            <a:chOff x="8207050" y="2132657"/>
            <a:chExt cx="2857500" cy="3067926"/>
          </a:xfrm>
        </p:grpSpPr>
        <p:pic>
          <p:nvPicPr>
            <p:cNvPr id="14" name="Picture 2" descr="Page d'accueil - LISN | Laboratoire Interdisciplinaire des Sciences du  Numérique">
              <a:extLst>
                <a:ext uri="{FF2B5EF4-FFF2-40B4-BE49-F238E27FC236}">
                  <a16:creationId xmlns:a16="http://schemas.microsoft.com/office/drawing/2014/main" id="{62C94BC1-32A8-6D26-782D-D9FE6B9C127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207050" y="2132657"/>
              <a:ext cx="2857500" cy="1152525"/>
            </a:xfrm>
            <a:prstGeom prst="rect">
              <a:avLst/>
            </a:prstGeom>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591A585A-7425-C725-F68C-07078644ABE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832304" y="4152867"/>
              <a:ext cx="1728192" cy="1047716"/>
            </a:xfrm>
            <a:prstGeom prst="rect">
              <a:avLst/>
            </a:prstGeom>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33061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92577-BC8E-184D-60B9-88B300FA8102}"/>
              </a:ext>
            </a:extLst>
          </p:cNvPr>
          <p:cNvSpPr>
            <a:spLocks noGrp="1"/>
          </p:cNvSpPr>
          <p:nvPr>
            <p:ph type="title"/>
          </p:nvPr>
        </p:nvSpPr>
        <p:spPr/>
        <p:txBody>
          <a:bodyPr/>
          <a:lstStyle/>
          <a:p>
            <a:r>
              <a:rPr lang="fr-FR" dirty="0" err="1"/>
              <a:t>Thank</a:t>
            </a:r>
            <a:r>
              <a:rPr lang="fr-FR" dirty="0"/>
              <a:t> </a:t>
            </a:r>
            <a:r>
              <a:rPr lang="fr-FR" dirty="0" err="1"/>
              <a:t>you</a:t>
            </a:r>
            <a:r>
              <a:rPr lang="fr-FR" dirty="0"/>
              <a:t> for </a:t>
            </a:r>
            <a:r>
              <a:rPr lang="fr-FR" dirty="0" err="1"/>
              <a:t>listening</a:t>
            </a:r>
            <a:r>
              <a:rPr lang="fr-FR" dirty="0"/>
              <a:t> !</a:t>
            </a:r>
            <a:endParaRPr lang="en-US" dirty="0"/>
          </a:p>
        </p:txBody>
      </p:sp>
      <p:pic>
        <p:nvPicPr>
          <p:cNvPr id="4" name="Image 3" descr="Une image contenant motif, Graphique, pixel, conception&#10;&#10;Description générée automatiquement">
            <a:extLst>
              <a:ext uri="{FF2B5EF4-FFF2-40B4-BE49-F238E27FC236}">
                <a16:creationId xmlns:a16="http://schemas.microsoft.com/office/drawing/2014/main" id="{EC4F8893-8F67-68F4-52C2-3A5AA99C1782}"/>
              </a:ext>
            </a:extLst>
          </p:cNvPr>
          <p:cNvPicPr>
            <a:picLocks noChangeAspect="1"/>
          </p:cNvPicPr>
          <p:nvPr/>
        </p:nvPicPr>
        <p:blipFill rotWithShape="1">
          <a:blip r:embed="rId2"/>
          <a:srcRect l="9980" t="10080" r="9380" b="9282"/>
          <a:stretch/>
        </p:blipFill>
        <p:spPr>
          <a:xfrm>
            <a:off x="9264352" y="3733605"/>
            <a:ext cx="2304256" cy="2304256"/>
          </a:xfrm>
          <a:prstGeom prst="rect">
            <a:avLst/>
          </a:prstGeom>
        </p:spPr>
      </p:pic>
      <p:sp>
        <p:nvSpPr>
          <p:cNvPr id="5" name="ZoneTexte 4">
            <a:extLst>
              <a:ext uri="{FF2B5EF4-FFF2-40B4-BE49-F238E27FC236}">
                <a16:creationId xmlns:a16="http://schemas.microsoft.com/office/drawing/2014/main" id="{C8175679-EF5B-9DFE-80C4-39456E04AED9}"/>
              </a:ext>
            </a:extLst>
          </p:cNvPr>
          <p:cNvSpPr txBox="1"/>
          <p:nvPr/>
        </p:nvSpPr>
        <p:spPr>
          <a:xfrm>
            <a:off x="8976320" y="6243975"/>
            <a:ext cx="2880320" cy="369332"/>
          </a:xfrm>
          <a:prstGeom prst="rect">
            <a:avLst/>
          </a:prstGeom>
          <a:noFill/>
        </p:spPr>
        <p:txBody>
          <a:bodyPr wrap="square" rtlCol="0">
            <a:spAutoFit/>
          </a:bodyPr>
          <a:lstStyle/>
          <a:p>
            <a:pPr algn="ctr"/>
            <a:r>
              <a:rPr lang="fr-FR" b="1" dirty="0">
                <a:solidFill>
                  <a:schemeClr val="bg1"/>
                </a:solidFill>
              </a:rPr>
              <a:t>Scan for the article</a:t>
            </a:r>
            <a:endParaRPr lang="en-US" b="1" dirty="0">
              <a:solidFill>
                <a:schemeClr val="bg1"/>
              </a:solidFill>
            </a:endParaRPr>
          </a:p>
        </p:txBody>
      </p:sp>
      <p:sp>
        <p:nvSpPr>
          <p:cNvPr id="6" name="ZoneTexte 5">
            <a:extLst>
              <a:ext uri="{FF2B5EF4-FFF2-40B4-BE49-F238E27FC236}">
                <a16:creationId xmlns:a16="http://schemas.microsoft.com/office/drawing/2014/main" id="{9C613828-9472-1DE9-19B7-51D7B4E5F351}"/>
              </a:ext>
            </a:extLst>
          </p:cNvPr>
          <p:cNvSpPr txBox="1"/>
          <p:nvPr/>
        </p:nvSpPr>
        <p:spPr>
          <a:xfrm>
            <a:off x="-96689" y="6268052"/>
            <a:ext cx="3744417" cy="369332"/>
          </a:xfrm>
          <a:prstGeom prst="rect">
            <a:avLst/>
          </a:prstGeom>
          <a:noFill/>
        </p:spPr>
        <p:txBody>
          <a:bodyPr wrap="square" rtlCol="0">
            <a:spAutoFit/>
          </a:bodyPr>
          <a:lstStyle/>
          <a:p>
            <a:pPr algn="ctr"/>
            <a:r>
              <a:rPr lang="fr-FR" b="1" dirty="0">
                <a:solidFill>
                  <a:schemeClr val="bg1"/>
                </a:solidFill>
              </a:rPr>
              <a:t>Sebastien.velut@isae-supaero.fr</a:t>
            </a:r>
            <a:endParaRPr lang="en-US" b="1" dirty="0">
              <a:solidFill>
                <a:schemeClr val="bg1"/>
              </a:solidFill>
            </a:endParaRPr>
          </a:p>
        </p:txBody>
      </p:sp>
    </p:spTree>
    <p:extLst>
      <p:ext uri="{BB962C8B-B14F-4D97-AF65-F5344CB8AC3E}">
        <p14:creationId xmlns:p14="http://schemas.microsoft.com/office/powerpoint/2010/main" val="2497683175"/>
      </p:ext>
    </p:extLst>
  </p:cSld>
  <p:clrMapOvr>
    <a:masterClrMapping/>
  </p:clrMapOvr>
</p:sld>
</file>

<file path=ppt/theme/theme1.xml><?xml version="1.0" encoding="utf-8"?>
<a:theme xmlns:a="http://schemas.openxmlformats.org/drawingml/2006/main" name="Thème Office">
  <a:themeElements>
    <a:clrScheme name="ISAE-SUPAERO">
      <a:dk1>
        <a:srgbClr val="000000"/>
      </a:dk1>
      <a:lt1>
        <a:srgbClr val="FFFFFF"/>
      </a:lt1>
      <a:dk2>
        <a:srgbClr val="000000"/>
      </a:dk2>
      <a:lt2>
        <a:srgbClr val="FEFFFF"/>
      </a:lt2>
      <a:accent1>
        <a:srgbClr val="DD1F19"/>
      </a:accent1>
      <a:accent2>
        <a:srgbClr val="A1141B"/>
      </a:accent2>
      <a:accent3>
        <a:srgbClr val="00B0E6"/>
      </a:accent3>
      <a:accent4>
        <a:srgbClr val="122271"/>
      </a:accent4>
      <a:accent5>
        <a:srgbClr val="96BE0F"/>
      </a:accent5>
      <a:accent6>
        <a:srgbClr val="328926"/>
      </a:accent6>
      <a:hlink>
        <a:srgbClr val="F9BB01"/>
      </a:hlink>
      <a:folHlink>
        <a:srgbClr val="8C8C8C"/>
      </a:folHlink>
    </a:clrScheme>
    <a:fontScheme name="Bureau">
      <a:majorFont>
        <a:latin typeface="Calibri Light"/>
        <a:ea typeface="Arial"/>
        <a:cs typeface="Arial"/>
      </a:majorFont>
      <a:minorFont>
        <a:latin typeface="Calibri"/>
        <a:ea typeface="Arial"/>
        <a:cs typeface="Arial"/>
      </a:minorFont>
    </a:fontScheme>
    <a:fmtScheme name="Bureau">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TotalTime>
  <Words>884</Words>
  <Application>Microsoft Office PowerPoint</Application>
  <PresentationFormat>Grand écran</PresentationFormat>
  <Paragraphs>159</Paragraphs>
  <Slides>17</Slides>
  <Notes>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17</vt:i4>
      </vt:variant>
    </vt:vector>
  </HeadingPairs>
  <TitlesOfParts>
    <vt:vector size="25" baseType="lpstr">
      <vt:lpstr>Arial</vt:lpstr>
      <vt:lpstr>Arial Narrow</vt:lpstr>
      <vt:lpstr>Arimo</vt:lpstr>
      <vt:lpstr>Avenir Black</vt:lpstr>
      <vt:lpstr>Calibri</vt:lpstr>
      <vt:lpstr>Georgia</vt:lpstr>
      <vt:lpstr>Slack-Lato</vt:lpstr>
      <vt:lpstr>Thème Office</vt:lpstr>
      <vt:lpstr>Deep Riemannian Neural Architectures for Domain Adaptation in Burst cVEP-based Brain Computer Interface</vt:lpstr>
      <vt:lpstr>Introduction</vt:lpstr>
      <vt:lpstr>What is a Brain computer Interface (BCI) ?</vt:lpstr>
      <vt:lpstr>Variabilities sources</vt:lpstr>
      <vt:lpstr>Transfer Learning</vt:lpstr>
      <vt:lpstr>Paradigm: Burst-CVEP</vt:lpstr>
      <vt:lpstr>Aim &amp; Hypothesis</vt:lpstr>
      <vt:lpstr>Experiments</vt:lpstr>
      <vt:lpstr>Datasets</vt:lpstr>
      <vt:lpstr>Methods</vt:lpstr>
      <vt:lpstr>CNN</vt:lpstr>
      <vt:lpstr>SPDNet</vt:lpstr>
      <vt:lpstr>Results</vt:lpstr>
      <vt:lpstr>Conclusion</vt:lpstr>
      <vt:lpstr>Future direction</vt:lpstr>
      <vt:lpstr>Thanks for the support</vt:lpstr>
      <vt:lpstr>Thank you for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Réunion de service SI</dc:title>
  <dc:creator>Alexandra PRAX-HUART</dc:creator>
  <cp:lastModifiedBy>Sebastien VELUT</cp:lastModifiedBy>
  <cp:revision>85</cp:revision>
  <dcterms:modified xsi:type="dcterms:W3CDTF">2024-10-04T13:58:33Z</dcterms:modified>
</cp:coreProperties>
</file>