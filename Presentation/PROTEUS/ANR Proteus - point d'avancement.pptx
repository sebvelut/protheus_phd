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87" r:id="rId5"/>
    <p:sldId id="284" r:id="rId6"/>
    <p:sldId id="276" r:id="rId7"/>
    <p:sldId id="279" r:id="rId8"/>
    <p:sldId id="259" r:id="rId9"/>
    <p:sldId id="285" r:id="rId10"/>
    <p:sldId id="283" r:id="rId11"/>
    <p:sldId id="262" r:id="rId12"/>
    <p:sldId id="263" r:id="rId13"/>
    <p:sldId id="264" r:id="rId14"/>
    <p:sldId id="265" r:id="rId15"/>
    <p:sldId id="266" r:id="rId16"/>
    <p:sldId id="260" r:id="rId17"/>
    <p:sldId id="286" r:id="rId18"/>
    <p:sldId id="268" r:id="rId19"/>
    <p:sldId id="270" r:id="rId20"/>
    <p:sldId id="271" r:id="rId21"/>
    <p:sldId id="272" r:id="rId22"/>
    <p:sldId id="273" r:id="rId23"/>
    <p:sldId id="275" r:id="rId24"/>
    <p:sldId id="274" r:id="rId25"/>
    <p:sldId id="280" r:id="rId26"/>
    <p:sldId id="277" r:id="rId27"/>
    <p:sldId id="278" r:id="rId28"/>
    <p:sldId id="281" r:id="rId29"/>
    <p:sldId id="269" r:id="rId3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29A"/>
    <a:srgbClr val="00AA59"/>
    <a:srgbClr val="000000"/>
    <a:srgbClr val="BE7800"/>
    <a:srgbClr val="FC3F47"/>
    <a:srgbClr val="FDF9E2"/>
    <a:srgbClr val="3B34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8CD0B-B6E1-4748-A8EB-B5BB02C791D0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CE659-8F5A-4422-B75E-5EEA8D28D3C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77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 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sme 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sme 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que 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que 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rtlCol="0" anchor="t">
            <a:noAutofit/>
          </a:bodyPr>
          <a:lstStyle>
            <a:lvl1pPr algn="l">
              <a:defRPr lang="fr-FR" sz="59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 rtlCol="0"/>
          <a:lstStyle>
            <a:lvl1pPr marL="0" indent="0" algn="l"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Modifiez le style des sous-titres du masque</a:t>
            </a:r>
          </a:p>
        </p:txBody>
      </p:sp>
      <p:pic>
        <p:nvPicPr>
          <p:cNvPr id="26" name="Graphisme 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90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e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pic>
          <p:nvPicPr>
            <p:cNvPr id="55" name="Graphisme 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 rtlCol="0"/>
          <a:lstStyle>
            <a:lvl1pPr marL="0" indent="0">
              <a:buNone/>
              <a:defRPr lang="fr-FR" sz="1800"/>
            </a:lvl1pPr>
            <a:lvl2pPr marL="283464">
              <a:defRPr lang="fr-FR" sz="1800"/>
            </a:lvl2pPr>
            <a:lvl3pPr marL="566928">
              <a:defRPr lang="fr-FR" sz="1600"/>
            </a:lvl3pPr>
            <a:lvl4pPr marL="758952">
              <a:defRPr lang="fr-FR" sz="1400"/>
            </a:lvl4pPr>
            <a:lvl5pPr marL="1042416">
              <a:defRPr lang="fr-FR" sz="14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11" name="Forme libre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60" name="Espace réservé du pied de page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61" name="Espace réservé du numéro de diapositive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67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 rtlCol="0"/>
          <a:lstStyle>
            <a:lvl1pPr>
              <a:defRPr lang="fr-FR" sz="66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97320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1" name="Graphisme 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pic>
        <p:nvPicPr>
          <p:cNvPr id="10" name="Graphisme 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e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16" name="Graphique 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rtlCol="0" anchor="t">
            <a:noAutofit/>
          </a:bodyPr>
          <a:lstStyle>
            <a:lvl1pPr>
              <a:defRPr lang="fr-FR" sz="66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 rtlCol="0"/>
          <a:lstStyle>
            <a:lvl1pPr marL="0" indent="0">
              <a:buNone/>
              <a:defRPr lang="fr-FR" sz="2400">
                <a:solidFill>
                  <a:schemeClr val="tx1"/>
                </a:solidFill>
              </a:defRPr>
            </a:lvl1pPr>
            <a:lvl2pPr marL="457200" indent="0">
              <a:buNone/>
              <a:defRPr lang="fr-F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4133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 –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5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 –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sme 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40" name="Espace réservé du pied de page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41" name="Espace réservé du numéro de diapositive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2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sme 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r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rtlCol="0" anchor="t">
            <a:noAutofit/>
          </a:bodyPr>
          <a:lstStyle>
            <a:lvl1pPr>
              <a:defRPr lang="fr-FR" sz="55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67" name="Graphisme 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9" name="Graphisme 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9" name="Forme libre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26" name="Graphisme 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>
                <a:solidFill>
                  <a:schemeClr val="tx1"/>
                </a:solidFill>
              </a:defRPr>
            </a:lvl1pPr>
            <a:lvl2pPr marL="457200" indent="0">
              <a:buNone/>
              <a:defRPr lang="fr-F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9" name="Ovale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734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Équipe –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 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75" name="Titr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sme 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sme 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sme 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3" name="Forme libre 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5" name="Forme libre 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7" name="Forme libre 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29" name="Graphisme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45" name="Espace réservé d’image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6" name="Espace réservé d’image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0" name="Espace réservé du texte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fr-FR" sz="18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1" name="Espace réservé du texte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8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7" name="Espace réservé du texte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fr-FR" sz="18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8" name="Espace réservé du texte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8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9" name="Espace réservé du texte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4" name="Espace réservé du texte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2" name="Espace réservé d’image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73" name="Espace réservé d’image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6" name="Espace réservé du texte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4" name="Espace réservé du texte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4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Équipe –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e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sme 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45" name="Espace réservé d’image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6" name="Espace réservé d’image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0" name="Espace réservé du texte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1" name="Espace réservé du texte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7" name="Espace réservé du texte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8" name="Espace réservé du texte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9" name="Espace réservé du texte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4" name="Espace réservé du texte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2" name="Espace réservé d’image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73" name="Espace réservé d’image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6" name="Espace réservé du texte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4" name="Espace réservé du texte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5" name="Titr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31" name="Espace réservé d’image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32" name="Espace réservé d’image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33" name="Espace réservé du texte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4" name="Espace réservé du texte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5" name="Espace réservé du texte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6" name="Espace réservé du texte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7" name="Espace réservé du texte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8" name="Espace réservé du texte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9" name="Espace réservé d’image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0" name="Espace réservé d’image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1" name="Espace réservé du texte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2" name="Espace réservé du texte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2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 –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2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97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 rtlCol="0">
            <a:noAutofit/>
          </a:bodyPr>
          <a:lstStyle>
            <a:lvl1pPr marL="0" indent="0">
              <a:buNone/>
              <a:defRPr lang="fr-FR" sz="1200">
                <a:noFill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3" name="Espace réservé du texte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 rtlCol="0">
            <a:noAutofit/>
          </a:bodyPr>
          <a:lstStyle>
            <a:lvl1pPr marL="0" indent="0">
              <a:buNone/>
              <a:defRPr lang="fr-FR" sz="1200">
                <a:noFill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4" name="Espace réservé du texte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 rtlCol="0">
            <a:noAutofit/>
          </a:bodyPr>
          <a:lstStyle>
            <a:lvl1pPr marL="0" indent="0">
              <a:buNone/>
              <a:defRPr lang="fr-FR" sz="1200">
                <a:noFill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5" name="Espace réservé du texte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 rtlCol="0">
            <a:noAutofit/>
          </a:bodyPr>
          <a:lstStyle>
            <a:lvl1pPr marL="0" indent="0">
              <a:buNone/>
              <a:defRPr lang="fr-FR" sz="1200">
                <a:noFill/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0936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69296" y="4041648"/>
            <a:ext cx="156362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</a:t>
            </a:r>
          </a:p>
        </p:txBody>
      </p:sp>
      <p:sp>
        <p:nvSpPr>
          <p:cNvPr id="36" name="Espace réservé du pied de page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2" name="Espace réservé du texte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4" name="Espace réservé du numéro de diapositive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51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 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que 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 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8" name="Forme libre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35040" y="2148840"/>
            <a:ext cx="3566160" cy="649224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21" name="Espace réservé du pied de page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82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349240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21" name="Espace réservé du pied de page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  <p:pic>
        <p:nvPicPr>
          <p:cNvPr id="2" name="Graphisme 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1392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56336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sme 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 rtlCol="0"/>
          <a:lstStyle>
            <a:lvl1pPr marL="0" indent="0">
              <a:buNone/>
              <a:defRPr lang="fr-FR" sz="1800"/>
            </a:lvl1pPr>
            <a:lvl2pPr marL="283464">
              <a:defRPr lang="fr-FR" sz="1800"/>
            </a:lvl2pPr>
            <a:lvl3pPr marL="566928">
              <a:defRPr lang="fr-FR" sz="1600"/>
            </a:lvl3pPr>
            <a:lvl4pPr marL="758952">
              <a:defRPr lang="fr-FR" sz="1400"/>
            </a:lvl4pPr>
            <a:lvl5pPr marL="1042416">
              <a:defRPr lang="fr-FR" sz="14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45" name="Graphisme 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pic>
        <p:nvPicPr>
          <p:cNvPr id="34" name="Graphisme 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e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46" name="Espace réservé du pied de page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47" name="Espace réservé du numéro de diapositive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5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sme 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e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pic>
        <p:nvPicPr>
          <p:cNvPr id="72" name="Graphisme 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sme 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sme 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e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26" name="Graphisme 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r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rtlCol="0" anchor="b">
            <a:noAutofit/>
          </a:bodyPr>
          <a:lstStyle>
            <a:lvl1pPr>
              <a:defRPr lang="fr-FR" sz="66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fr-FR" sz="1800">
                <a:solidFill>
                  <a:schemeClr val="tx1"/>
                </a:solidFill>
              </a:defRPr>
            </a:lvl1pPr>
            <a:lvl2pPr marL="457200" indent="0">
              <a:buNone/>
              <a:defRPr lang="fr-F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9026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22" name="Espace réservé du pied de page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78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31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4069080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84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 rtlCol="0"/>
          <a:lstStyle>
            <a:lvl1pPr marL="0" indent="0">
              <a:buNone/>
              <a:defRPr lang="fr-FR" sz="32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fr-FR"/>
            </a:defPPr>
          </a:lstStyle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449453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CE6DA6-8C0D-05F0-9FA4-A5F05C7F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030155-7DE8-0256-DBD5-45E3ACB42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1A30E8-99F2-AAEF-6D71-1884C35DF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69A71-377D-4A0C-8FEE-0DAA318A166C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0919FE-024C-0813-554B-A770D466A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70699A-4E96-89C3-76C4-C0CE2600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7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3200">
                <a:solidFill>
                  <a:schemeClr val="bg2"/>
                </a:solidFill>
              </a:defRPr>
            </a:lvl1pPr>
          </a:lstStyle>
          <a:p>
            <a:fld id="{81D15985-4252-469D-B7A1-D2508E43C9C1}" type="slidenum">
              <a:rPr lang="en-US" smtClean="0"/>
              <a:t>‹N°›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sme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372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2CF253-1D55-FFE6-2509-D525B2E89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ANR : advancement point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2F6976-4888-450B-1A26-DB4208D324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0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377B3-EFCE-E0C5-5B4E-3B281B17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3EA335-67D5-20D7-3796-AA7B8FB4B9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ln>
            <a:solidFill>
              <a:srgbClr val="FDF9E2"/>
            </a:solidFill>
          </a:ln>
        </p:spPr>
        <p:txBody>
          <a:bodyPr/>
          <a:lstStyle/>
          <a:p>
            <a:r>
              <a:rPr lang="fr-FR" dirty="0" err="1"/>
              <a:t>Esann</a:t>
            </a:r>
            <a:r>
              <a:rPr lang="fr-FR" dirty="0"/>
              <a:t> </a:t>
            </a:r>
            <a:r>
              <a:rPr lang="fr-FR" dirty="0" err="1"/>
              <a:t>paper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39E74F9-5EE5-BC35-1396-E9771D5FD1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03</a:t>
            </a: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D84D56-AB67-8FA5-A2D7-AFF31DE1A1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solidFill>
            <a:srgbClr val="2E829A"/>
          </a:solidFill>
        </p:spPr>
        <p:txBody>
          <a:bodyPr/>
          <a:lstStyle/>
          <a:p>
            <a:r>
              <a:rPr lang="fr-FR" dirty="0"/>
              <a:t>Best classifier</a:t>
            </a:r>
            <a:endParaRPr lang="en-US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AB96C85-3AD6-6859-4C30-E339F1E306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fr-FR" dirty="0"/>
              <a:t>08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B92161-FA1A-4506-0095-4B3B42BD6C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solidFill>
            <a:srgbClr val="BE7800"/>
          </a:solidFill>
        </p:spPr>
        <p:txBody>
          <a:bodyPr/>
          <a:lstStyle/>
          <a:p>
            <a:r>
              <a:rPr lang="fr-FR" dirty="0" err="1"/>
              <a:t>Intersubject</a:t>
            </a:r>
            <a:r>
              <a:rPr lang="fr-FR" dirty="0"/>
              <a:t> </a:t>
            </a:r>
            <a:r>
              <a:rPr lang="fr-FR" dirty="0" err="1"/>
              <a:t>variability</a:t>
            </a:r>
            <a:endParaRPr lang="en-US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567CAA7-BB38-F262-63D2-81827761E0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 dirty="0"/>
              <a:t>16</a:t>
            </a:r>
            <a:endParaRPr lang="en-US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3CB17A2-3ABF-7DC5-F654-A4E2D93ABC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solidFill>
            <a:srgbClr val="3B3436"/>
          </a:solidFill>
        </p:spPr>
        <p:txBody>
          <a:bodyPr/>
          <a:lstStyle/>
          <a:p>
            <a:r>
              <a:rPr lang="fr-FR" dirty="0"/>
              <a:t>Future Work</a:t>
            </a:r>
            <a:endParaRPr lang="en-US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D78F7C55-203B-7DD1-47E1-35FCBE2198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 dirty="0"/>
              <a:t>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63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F7928C-5FEE-F462-8E01-495BA30D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ESANN PAPER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075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A59A84-0904-A30F-33E9-D35640B4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Context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2037A-94CB-69E1-FC8B-04F8244DBBC1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FC3F47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49C3143-8BC9-1F09-981C-972A8CE0B9DA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FC3F47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EEC6CB0-AD36-04CB-5CAC-AEB7CA5F901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3977196"/>
            <a:ext cx="10515600" cy="1660124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3600">
                <a:solidFill>
                  <a:schemeClr val="tx1"/>
                </a:solidFill>
                <a:latin typeface="Arial"/>
                <a:ea typeface="Arial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Arial"/>
                <a:ea typeface="Arial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sz="2400" dirty="0"/>
              <a:t>Are </a:t>
            </a:r>
            <a:r>
              <a:rPr lang="fr-FR" sz="2400" dirty="0" err="1"/>
              <a:t>Riemannian</a:t>
            </a:r>
            <a:r>
              <a:rPr lang="fr-FR" sz="2400" dirty="0"/>
              <a:t> Deep Learning </a:t>
            </a:r>
            <a:r>
              <a:rPr lang="fr-FR" sz="2400" dirty="0" err="1"/>
              <a:t>Algorithms</a:t>
            </a:r>
            <a:r>
              <a:rPr lang="fr-FR" sz="2400" dirty="0"/>
              <a:t> </a:t>
            </a:r>
            <a:r>
              <a:rPr lang="fr-FR" sz="2400" dirty="0" err="1"/>
              <a:t>improving</a:t>
            </a:r>
            <a:r>
              <a:rPr lang="fr-FR" sz="2400" dirty="0"/>
              <a:t> </a:t>
            </a:r>
            <a:r>
              <a:rPr lang="fr-FR" sz="2400" dirty="0" err="1"/>
              <a:t>accuracy</a:t>
            </a:r>
            <a:r>
              <a:rPr lang="fr-FR" sz="2400" dirty="0"/>
              <a:t> in </a:t>
            </a:r>
            <a:r>
              <a:rPr lang="fr-FR" sz="2400" dirty="0" err="1"/>
              <a:t>Burst</a:t>
            </a:r>
            <a:r>
              <a:rPr lang="fr-FR" sz="2400" dirty="0"/>
              <a:t>-CVEP-</a:t>
            </a:r>
            <a:r>
              <a:rPr lang="fr-FR" sz="2400" dirty="0" err="1"/>
              <a:t>based</a:t>
            </a:r>
            <a:r>
              <a:rPr lang="fr-FR" sz="2400" dirty="0"/>
              <a:t> BCI ? </a:t>
            </a:r>
          </a:p>
          <a:p>
            <a:r>
              <a:rPr lang="fr-FR" sz="2400" dirty="0"/>
              <a:t>Is </a:t>
            </a:r>
            <a:r>
              <a:rPr lang="fr-FR" sz="2400" dirty="0" err="1"/>
              <a:t>it</a:t>
            </a:r>
            <a:r>
              <a:rPr lang="fr-FR" sz="2400" dirty="0"/>
              <a:t> performant in a </a:t>
            </a:r>
            <a:r>
              <a:rPr lang="fr-FR" sz="2400" dirty="0" err="1"/>
              <a:t>domain</a:t>
            </a:r>
            <a:r>
              <a:rPr lang="fr-FR" sz="2400" dirty="0"/>
              <a:t> adaptation or </a:t>
            </a:r>
            <a:r>
              <a:rPr lang="fr-FR" sz="2400" dirty="0" err="1"/>
              <a:t>domain</a:t>
            </a:r>
            <a:r>
              <a:rPr lang="fr-FR" sz="2400" dirty="0"/>
              <a:t> </a:t>
            </a:r>
            <a:r>
              <a:rPr lang="fr-FR" sz="2400" dirty="0" err="1"/>
              <a:t>generalization</a:t>
            </a:r>
            <a:r>
              <a:rPr lang="fr-FR" sz="2400" dirty="0"/>
              <a:t> </a:t>
            </a:r>
            <a:r>
              <a:rPr lang="fr-FR" sz="2400" dirty="0" err="1"/>
              <a:t>framework</a:t>
            </a:r>
            <a:r>
              <a:rPr lang="fr-FR" sz="2400" dirty="0"/>
              <a:t> ? </a:t>
            </a:r>
            <a:endParaRPr lang="en-US" sz="2400" dirty="0">
              <a:solidFill>
                <a:srgbClr val="00AA59"/>
              </a:solidFill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BD057D1-521B-49E2-F01C-4B82A81CD0B2}"/>
              </a:ext>
            </a:extLst>
          </p:cNvPr>
          <p:cNvSpPr txBox="1">
            <a:spLocks/>
          </p:cNvSpPr>
          <p:nvPr/>
        </p:nvSpPr>
        <p:spPr bwMode="auto">
          <a:xfrm>
            <a:off x="838200" y="1652347"/>
            <a:ext cx="10515600" cy="2173926"/>
          </a:xfrm>
          <a:prstGeom prst="roundRect">
            <a:avLst/>
          </a:prstGeom>
          <a:ln w="38100">
            <a:solidFill>
              <a:srgbClr val="000000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lang="fr-FR" sz="36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32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8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Many variabilities in EEG BCI (physiological, environmental…)</a:t>
            </a:r>
          </a:p>
          <a:p>
            <a:r>
              <a:rPr lang="en-US" sz="2400" dirty="0"/>
              <a:t>Many transfer learning method (features adaptation, leave one out…)</a:t>
            </a:r>
          </a:p>
          <a:p>
            <a:r>
              <a:rPr lang="en-US" sz="2400" dirty="0"/>
              <a:t>New paradigm : Burst Code-modulated Visual Evoked Potential (derived from CVEP)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2A54349-F5B5-6EAC-B036-CE2CB3CC8C0A}"/>
              </a:ext>
            </a:extLst>
          </p:cNvPr>
          <p:cNvSpPr txBox="1"/>
          <p:nvPr/>
        </p:nvSpPr>
        <p:spPr>
          <a:xfrm>
            <a:off x="3867912" y="4365260"/>
            <a:ext cx="6409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Is on par or </a:t>
            </a:r>
            <a:r>
              <a:rPr lang="fr-FR" sz="2400" dirty="0" err="1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</a:t>
            </a:r>
            <a:r>
              <a:rPr lang="fr-FR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fr-FR" sz="2400" dirty="0" err="1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better</a:t>
            </a:r>
            <a:endParaRPr lang="fr-FR" sz="2400" dirty="0">
              <a:solidFill>
                <a:srgbClr val="00AA59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D2F576C-39D6-F46D-6B1D-45D5E4E651C3}"/>
              </a:ext>
            </a:extLst>
          </p:cNvPr>
          <p:cNvSpPr txBox="1"/>
          <p:nvPr/>
        </p:nvSpPr>
        <p:spPr>
          <a:xfrm>
            <a:off x="2913888" y="5148223"/>
            <a:ext cx="7098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Domain adaptation </a:t>
            </a:r>
            <a:r>
              <a:rPr lang="fr-FR" sz="2400" dirty="0" err="1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helps</a:t>
            </a:r>
            <a:r>
              <a:rPr lang="fr-FR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to </a:t>
            </a:r>
            <a:r>
              <a:rPr lang="fr-FR" sz="2400" dirty="0" err="1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counter</a:t>
            </a:r>
            <a:r>
              <a:rPr lang="fr-FR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fr-FR" sz="2400" dirty="0" err="1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variabilities</a:t>
            </a:r>
            <a:endParaRPr lang="fr-FR" sz="2400" dirty="0">
              <a:solidFill>
                <a:srgbClr val="00AA59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9547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40835-495D-703B-85A6-9DD5F1F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950" y="710100"/>
            <a:ext cx="8762246" cy="777240"/>
          </a:xfrm>
        </p:spPr>
        <p:txBody>
          <a:bodyPr/>
          <a:lstStyle/>
          <a:p>
            <a:r>
              <a:rPr lang="fr-FR" dirty="0" err="1"/>
              <a:t>Results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4F72E-BAE7-E538-300B-85BE70ACB6F3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FC3F47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C842BC0-38C4-68C8-EC45-6546C53D7364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FC3F47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71CC9F1-741D-F381-2936-511743FB98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42" t="3859" r="51172" b="26957"/>
          <a:stretch/>
        </p:blipFill>
        <p:spPr>
          <a:xfrm>
            <a:off x="6993705" y="1974014"/>
            <a:ext cx="4027832" cy="2909973"/>
          </a:xfrm>
          <a:prstGeom prst="rect">
            <a:avLst/>
          </a:prstGeom>
        </p:spPr>
      </p:pic>
      <p:sp>
        <p:nvSpPr>
          <p:cNvPr id="9" name="ZoneTexte 6">
            <a:extLst>
              <a:ext uri="{FF2B5EF4-FFF2-40B4-BE49-F238E27FC236}">
                <a16:creationId xmlns:a16="http://schemas.microsoft.com/office/drawing/2014/main" id="{0549967F-DDD0-1A9F-9832-65CE56ECFC5F}"/>
              </a:ext>
            </a:extLst>
          </p:cNvPr>
          <p:cNvSpPr txBox="1"/>
          <p:nvPr/>
        </p:nvSpPr>
        <p:spPr>
          <a:xfrm>
            <a:off x="8834663" y="2192267"/>
            <a:ext cx="393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dirty="0"/>
              <a:t>1</a:t>
            </a:r>
          </a:p>
        </p:txBody>
      </p:sp>
      <p:sp>
        <p:nvSpPr>
          <p:cNvPr id="10" name="ZoneTexte 7">
            <a:extLst>
              <a:ext uri="{FF2B5EF4-FFF2-40B4-BE49-F238E27FC236}">
                <a16:creationId xmlns:a16="http://schemas.microsoft.com/office/drawing/2014/main" id="{DE89F275-FDDF-EB79-18BF-1402BADF06B6}"/>
              </a:ext>
            </a:extLst>
          </p:cNvPr>
          <p:cNvSpPr txBox="1"/>
          <p:nvPr/>
        </p:nvSpPr>
        <p:spPr>
          <a:xfrm>
            <a:off x="7682535" y="3191915"/>
            <a:ext cx="393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dirty="0"/>
              <a:t>2</a:t>
            </a:r>
          </a:p>
        </p:txBody>
      </p:sp>
      <p:sp>
        <p:nvSpPr>
          <p:cNvPr id="11" name="ZoneTexte 8">
            <a:extLst>
              <a:ext uri="{FF2B5EF4-FFF2-40B4-BE49-F238E27FC236}">
                <a16:creationId xmlns:a16="http://schemas.microsoft.com/office/drawing/2014/main" id="{C694ADEE-D458-651F-4DD5-6F57920E6C6C}"/>
              </a:ext>
            </a:extLst>
          </p:cNvPr>
          <p:cNvSpPr txBox="1"/>
          <p:nvPr/>
        </p:nvSpPr>
        <p:spPr>
          <a:xfrm>
            <a:off x="9994482" y="3209671"/>
            <a:ext cx="393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dirty="0"/>
              <a:t>4</a:t>
            </a:r>
          </a:p>
        </p:txBody>
      </p:sp>
      <p:sp>
        <p:nvSpPr>
          <p:cNvPr id="12" name="ZoneTexte 9">
            <a:extLst>
              <a:ext uri="{FF2B5EF4-FFF2-40B4-BE49-F238E27FC236}">
                <a16:creationId xmlns:a16="http://schemas.microsoft.com/office/drawing/2014/main" id="{FD309EE6-188D-D30F-2C11-23A1FD05AE0E}"/>
              </a:ext>
            </a:extLst>
          </p:cNvPr>
          <p:cNvSpPr txBox="1"/>
          <p:nvPr/>
        </p:nvSpPr>
        <p:spPr>
          <a:xfrm>
            <a:off x="8843540" y="4226661"/>
            <a:ext cx="393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8B91B4-05E8-D8CA-C861-5CCEDE943A38}"/>
              </a:ext>
            </a:extLst>
          </p:cNvPr>
          <p:cNvSpPr/>
          <p:nvPr/>
        </p:nvSpPr>
        <p:spPr>
          <a:xfrm>
            <a:off x="8509908" y="3018301"/>
            <a:ext cx="995425" cy="790479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0E0F2987-E1E3-D991-FD95-B8994812EBEC}"/>
              </a:ext>
            </a:extLst>
          </p:cNvPr>
          <p:cNvSpPr>
            <a:spLocks noGrp="1"/>
          </p:cNvSpPr>
          <p:nvPr/>
        </p:nvSpPr>
        <p:spPr bwMode="auto">
          <a:xfrm>
            <a:off x="904112" y="2318305"/>
            <a:ext cx="4573389" cy="24858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3600">
                <a:solidFill>
                  <a:schemeClr val="tx1"/>
                </a:solidFill>
                <a:latin typeface="Arial"/>
                <a:ea typeface="Arial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Arial"/>
                <a:ea typeface="Arial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fr-FR" sz="1800" u="sng" dirty="0" err="1">
                <a:latin typeface="+mn-lt"/>
              </a:rPr>
              <a:t>Dataset</a:t>
            </a:r>
            <a:r>
              <a:rPr lang="fr-FR" sz="1800" u="sng" dirty="0">
                <a:latin typeface="+mn-lt"/>
              </a:rPr>
              <a:t>:</a:t>
            </a:r>
          </a:p>
          <a:p>
            <a:r>
              <a:rPr lang="fr-FR" sz="1800" dirty="0" err="1">
                <a:latin typeface="+mn-lt"/>
              </a:rPr>
              <a:t>Burst</a:t>
            </a:r>
            <a:r>
              <a:rPr lang="fr-FR" sz="1800" dirty="0">
                <a:latin typeface="+mn-lt"/>
              </a:rPr>
              <a:t>-CVEP  and CVEP </a:t>
            </a:r>
            <a:r>
              <a:rPr lang="fr-FR" sz="1800" dirty="0" err="1">
                <a:latin typeface="+mn-lt"/>
              </a:rPr>
              <a:t>based</a:t>
            </a:r>
            <a:r>
              <a:rPr lang="fr-FR" sz="1800" dirty="0">
                <a:latin typeface="+mn-lt"/>
              </a:rPr>
              <a:t> EEG</a:t>
            </a:r>
          </a:p>
          <a:p>
            <a:r>
              <a:rPr lang="fr-FR" sz="1800" dirty="0">
                <a:latin typeface="+mn-lt"/>
              </a:rPr>
              <a:t>12 participants</a:t>
            </a:r>
          </a:p>
          <a:p>
            <a:r>
              <a:rPr lang="fr-FR" sz="1800" dirty="0">
                <a:latin typeface="+mn-lt"/>
              </a:rPr>
              <a:t>1 session </a:t>
            </a:r>
            <a:r>
              <a:rPr lang="fr-FR" sz="1800" dirty="0" err="1">
                <a:latin typeface="+mn-lt"/>
              </a:rPr>
              <a:t>each</a:t>
            </a:r>
            <a:endParaRPr lang="fr-FR" sz="1800" dirty="0">
              <a:latin typeface="+mn-lt"/>
            </a:endParaRPr>
          </a:p>
          <a:p>
            <a:r>
              <a:rPr lang="fr-FR" sz="1800" dirty="0">
                <a:latin typeface="+mn-lt"/>
              </a:rPr>
              <a:t>2 modes : CVEP et </a:t>
            </a:r>
            <a:r>
              <a:rPr lang="fr-FR" sz="1800" b="1" dirty="0" err="1">
                <a:solidFill>
                  <a:srgbClr val="FF0000"/>
                </a:solidFill>
                <a:latin typeface="+mn-lt"/>
              </a:rPr>
              <a:t>Burst</a:t>
            </a:r>
            <a:r>
              <a:rPr lang="fr-FR" sz="1800" b="1" dirty="0">
                <a:solidFill>
                  <a:srgbClr val="FF0000"/>
                </a:solidFill>
                <a:latin typeface="+mn-lt"/>
              </a:rPr>
              <a:t>-CVEP</a:t>
            </a:r>
          </a:p>
          <a:p>
            <a:r>
              <a:rPr lang="fr-FR" sz="1800" dirty="0">
                <a:latin typeface="+mn-lt"/>
              </a:rPr>
              <a:t>15 runs of 4 </a:t>
            </a:r>
            <a:r>
              <a:rPr lang="fr-FR" sz="1800" dirty="0" err="1">
                <a:latin typeface="+mn-lt"/>
              </a:rPr>
              <a:t>different</a:t>
            </a:r>
            <a:r>
              <a:rPr lang="fr-FR" sz="1800" dirty="0">
                <a:latin typeface="+mn-lt"/>
              </a:rPr>
              <a:t> 2,2s stimuli </a:t>
            </a:r>
            <a:r>
              <a:rPr lang="fr-FR" sz="1800" dirty="0" err="1">
                <a:latin typeface="+mn-lt"/>
              </a:rPr>
              <a:t>each</a:t>
            </a:r>
            <a:endParaRPr lang="fr-FR" sz="1800" dirty="0">
              <a:latin typeface="+mn-lt"/>
            </a:endParaRPr>
          </a:p>
          <a:p>
            <a:pPr marL="0" indent="0">
              <a:buNone/>
            </a:pPr>
            <a:endParaRPr lang="fr-FR" sz="1800" dirty="0">
              <a:latin typeface="+mn-lt"/>
            </a:endParaRPr>
          </a:p>
          <a:p>
            <a:endParaRPr lang="fr-FR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8474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40835-495D-703B-85A6-9DD5F1F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097" y="726614"/>
            <a:ext cx="8762246" cy="777240"/>
          </a:xfrm>
        </p:spPr>
        <p:txBody>
          <a:bodyPr/>
          <a:lstStyle/>
          <a:p>
            <a:r>
              <a:rPr lang="fr-FR" dirty="0"/>
              <a:t>Methods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4F72E-BAE7-E538-300B-85BE70ACB6F3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FC3F47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C842BC0-38C4-68C8-EC45-6546C53D7364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FC3F47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6A8FF8A2-897A-2250-8DA8-9FE452B01CB4}"/>
              </a:ext>
            </a:extLst>
          </p:cNvPr>
          <p:cNvSpPr txBox="1"/>
          <p:nvPr/>
        </p:nvSpPr>
        <p:spPr>
          <a:xfrm>
            <a:off x="5376953" y="2433877"/>
            <a:ext cx="2077375" cy="83099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sz="1600" dirty="0"/>
              <a:t>Domain </a:t>
            </a:r>
            <a:r>
              <a:rPr lang="fr-FR" sz="1600" dirty="0" err="1"/>
              <a:t>Generalization</a:t>
            </a:r>
            <a:endParaRPr lang="fr-FR" sz="1600" dirty="0"/>
          </a:p>
          <a:p>
            <a:r>
              <a:rPr lang="fr-FR" sz="1600" dirty="0"/>
              <a:t>(DG)</a:t>
            </a:r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BF75E162-3034-0CB9-2821-80B8FC207576}"/>
              </a:ext>
            </a:extLst>
          </p:cNvPr>
          <p:cNvSpPr txBox="1"/>
          <p:nvPr/>
        </p:nvSpPr>
        <p:spPr>
          <a:xfrm>
            <a:off x="5376953" y="3747295"/>
            <a:ext cx="2077375" cy="5847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sz="1600" dirty="0"/>
              <a:t>Domain Adaptation (DA)</a:t>
            </a:r>
          </a:p>
        </p:txBody>
      </p:sp>
      <p:sp>
        <p:nvSpPr>
          <p:cNvPr id="9" name="ZoneTexte 7">
            <a:extLst>
              <a:ext uri="{FF2B5EF4-FFF2-40B4-BE49-F238E27FC236}">
                <a16:creationId xmlns:a16="http://schemas.microsoft.com/office/drawing/2014/main" id="{1E7227B8-6E71-EA3A-97FC-6A5268B878AB}"/>
              </a:ext>
            </a:extLst>
          </p:cNvPr>
          <p:cNvSpPr txBox="1"/>
          <p:nvPr/>
        </p:nvSpPr>
        <p:spPr>
          <a:xfrm>
            <a:off x="5376953" y="4987987"/>
            <a:ext cx="2077375" cy="5847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FR" sz="1600" dirty="0"/>
              <a:t>Single </a:t>
            </a:r>
            <a:r>
              <a:rPr lang="fr-FR" sz="1600" dirty="0" err="1"/>
              <a:t>Subject</a:t>
            </a:r>
            <a:endParaRPr lang="fr-FR" sz="1600" dirty="0"/>
          </a:p>
          <a:p>
            <a:r>
              <a:rPr lang="fr-FR" sz="1600" dirty="0"/>
              <a:t>(</a:t>
            </a:r>
            <a:r>
              <a:rPr lang="fr-FR" sz="1600" dirty="0" err="1"/>
              <a:t>SiSu</a:t>
            </a:r>
            <a:r>
              <a:rPr lang="fr-FR" sz="1600" dirty="0"/>
              <a:t>)</a:t>
            </a:r>
          </a:p>
        </p:txBody>
      </p:sp>
      <p:pic>
        <p:nvPicPr>
          <p:cNvPr id="10" name="Graphique 8" descr="Utilisateur avec un remplissage uni">
            <a:extLst>
              <a:ext uri="{FF2B5EF4-FFF2-40B4-BE49-F238E27FC236}">
                <a16:creationId xmlns:a16="http://schemas.microsoft.com/office/drawing/2014/main" id="{6BA176D0-1A78-A234-BF8A-E6A4007E3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4687" y="1920235"/>
            <a:ext cx="513643" cy="513643"/>
          </a:xfrm>
          <a:prstGeom prst="rect">
            <a:avLst/>
          </a:prstGeom>
        </p:spPr>
      </p:pic>
      <p:pic>
        <p:nvPicPr>
          <p:cNvPr id="11" name="Graphique 9" descr="Utilisateur avec un remplissage uni">
            <a:extLst>
              <a:ext uri="{FF2B5EF4-FFF2-40B4-BE49-F238E27FC236}">
                <a16:creationId xmlns:a16="http://schemas.microsoft.com/office/drawing/2014/main" id="{8B07289F-F074-3A62-8EC0-666A2828F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4678" y="1920234"/>
            <a:ext cx="513643" cy="513643"/>
          </a:xfrm>
          <a:prstGeom prst="rect">
            <a:avLst/>
          </a:prstGeom>
        </p:spPr>
      </p:pic>
      <p:pic>
        <p:nvPicPr>
          <p:cNvPr id="12" name="Graphique 10" descr="Utilisateur avec un remplissage uni">
            <a:extLst>
              <a:ext uri="{FF2B5EF4-FFF2-40B4-BE49-F238E27FC236}">
                <a16:creationId xmlns:a16="http://schemas.microsoft.com/office/drawing/2014/main" id="{9291A2B2-4841-FF47-020E-6FD180583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08314" y="1920234"/>
            <a:ext cx="513643" cy="513643"/>
          </a:xfrm>
          <a:prstGeom prst="rect">
            <a:avLst/>
          </a:prstGeom>
        </p:spPr>
      </p:pic>
      <p:pic>
        <p:nvPicPr>
          <p:cNvPr id="13" name="Graphique 11" descr="Utilisateur avec un remplissage uni">
            <a:extLst>
              <a:ext uri="{FF2B5EF4-FFF2-40B4-BE49-F238E27FC236}">
                <a16:creationId xmlns:a16="http://schemas.microsoft.com/office/drawing/2014/main" id="{6C9506BD-1479-C53A-1455-4D1440E8F4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36718" y="1920234"/>
            <a:ext cx="513643" cy="513643"/>
          </a:xfrm>
          <a:prstGeom prst="rect">
            <a:avLst/>
          </a:prstGeom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FE0C163F-5508-761D-E65D-29C31A1A45BF}"/>
              </a:ext>
            </a:extLst>
          </p:cNvPr>
          <p:cNvSpPr/>
          <p:nvPr/>
        </p:nvSpPr>
        <p:spPr>
          <a:xfrm>
            <a:off x="8642872" y="220456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B75BB2B-19AE-45B0-AAEC-3DBB30A89F38}"/>
              </a:ext>
            </a:extLst>
          </p:cNvPr>
          <p:cNvSpPr/>
          <p:nvPr/>
        </p:nvSpPr>
        <p:spPr>
          <a:xfrm>
            <a:off x="8507774" y="220145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0273468-1592-CC51-464A-CE8DFBF56666}"/>
              </a:ext>
            </a:extLst>
          </p:cNvPr>
          <p:cNvSpPr/>
          <p:nvPr/>
        </p:nvSpPr>
        <p:spPr>
          <a:xfrm>
            <a:off x="8773216" y="220145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7" name="Accolade ouvrante 16">
            <a:extLst>
              <a:ext uri="{FF2B5EF4-FFF2-40B4-BE49-F238E27FC236}">
                <a16:creationId xmlns:a16="http://schemas.microsoft.com/office/drawing/2014/main" id="{97266192-E846-D749-5C93-1C4955EB31D9}"/>
              </a:ext>
            </a:extLst>
          </p:cNvPr>
          <p:cNvSpPr/>
          <p:nvPr/>
        </p:nvSpPr>
        <p:spPr>
          <a:xfrm rot="16200000">
            <a:off x="8449884" y="1617188"/>
            <a:ext cx="106684" cy="18374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8" name="Accolade ouvrante 17">
            <a:extLst>
              <a:ext uri="{FF2B5EF4-FFF2-40B4-BE49-F238E27FC236}">
                <a16:creationId xmlns:a16="http://schemas.microsoft.com/office/drawing/2014/main" id="{52D71CC4-9CE6-D2EC-F094-BC642FCB206F}"/>
              </a:ext>
            </a:extLst>
          </p:cNvPr>
          <p:cNvSpPr/>
          <p:nvPr/>
        </p:nvSpPr>
        <p:spPr>
          <a:xfrm rot="16200000">
            <a:off x="10836496" y="2309273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9" name="ZoneTexte 17">
            <a:extLst>
              <a:ext uri="{FF2B5EF4-FFF2-40B4-BE49-F238E27FC236}">
                <a16:creationId xmlns:a16="http://schemas.microsoft.com/office/drawing/2014/main" id="{4783B5A6-7A46-DE76-7E61-9FDC80B9004E}"/>
              </a:ext>
            </a:extLst>
          </p:cNvPr>
          <p:cNvSpPr txBox="1"/>
          <p:nvPr/>
        </p:nvSpPr>
        <p:spPr>
          <a:xfrm>
            <a:off x="7588262" y="2702729"/>
            <a:ext cx="1952881" cy="523220"/>
          </a:xfrm>
          <a:prstGeom prst="rect">
            <a:avLst/>
          </a:prstGeom>
          <a:noFill/>
          <a:ln>
            <a:solidFill>
              <a:srgbClr val="3B3436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dirty="0"/>
              <a:t>Training/val data:</a:t>
            </a:r>
          </a:p>
          <a:p>
            <a:pPr algn="ctr"/>
            <a:r>
              <a:rPr lang="fr-FR" sz="1400" dirty="0"/>
              <a:t>N-1 </a:t>
            </a:r>
            <a:r>
              <a:rPr lang="fr-FR" sz="1400" dirty="0" err="1"/>
              <a:t>subjects</a:t>
            </a:r>
            <a:endParaRPr lang="fr-FR" sz="1400" dirty="0"/>
          </a:p>
        </p:txBody>
      </p:sp>
      <p:sp>
        <p:nvSpPr>
          <p:cNvPr id="20" name="ZoneTexte 18">
            <a:extLst>
              <a:ext uri="{FF2B5EF4-FFF2-40B4-BE49-F238E27FC236}">
                <a16:creationId xmlns:a16="http://schemas.microsoft.com/office/drawing/2014/main" id="{D3891E4C-862E-728E-03F5-4B6C1E7E62CD}"/>
              </a:ext>
            </a:extLst>
          </p:cNvPr>
          <p:cNvSpPr txBox="1"/>
          <p:nvPr/>
        </p:nvSpPr>
        <p:spPr>
          <a:xfrm>
            <a:off x="9974808" y="2711607"/>
            <a:ext cx="1837462" cy="523220"/>
          </a:xfrm>
          <a:prstGeom prst="rect">
            <a:avLst/>
          </a:prstGeom>
          <a:noFill/>
          <a:ln>
            <a:solidFill>
              <a:srgbClr val="3B3436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dirty="0" err="1"/>
              <a:t>Testing</a:t>
            </a:r>
            <a:r>
              <a:rPr lang="fr-FR" sz="1400" dirty="0"/>
              <a:t> data:</a:t>
            </a:r>
          </a:p>
          <a:p>
            <a:pPr algn="ctr"/>
            <a:r>
              <a:rPr lang="fr-FR" sz="1400" dirty="0" err="1"/>
              <a:t>Nth</a:t>
            </a:r>
            <a:r>
              <a:rPr lang="fr-FR" sz="1400" dirty="0"/>
              <a:t> </a:t>
            </a:r>
            <a:r>
              <a:rPr lang="fr-FR" sz="1400" dirty="0" err="1"/>
              <a:t>subject</a:t>
            </a:r>
            <a:endParaRPr lang="fr-FR" sz="1400" dirty="0"/>
          </a:p>
        </p:txBody>
      </p:sp>
      <p:pic>
        <p:nvPicPr>
          <p:cNvPr id="21" name="Graphique 19" descr="Utilisateur avec un remplissage uni">
            <a:extLst>
              <a:ext uri="{FF2B5EF4-FFF2-40B4-BE49-F238E27FC236}">
                <a16:creationId xmlns:a16="http://schemas.microsoft.com/office/drawing/2014/main" id="{C4314648-B79D-DEBA-450B-D3FB4A972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4495" y="3361633"/>
            <a:ext cx="513643" cy="513643"/>
          </a:xfrm>
          <a:prstGeom prst="rect">
            <a:avLst/>
          </a:prstGeom>
        </p:spPr>
      </p:pic>
      <p:pic>
        <p:nvPicPr>
          <p:cNvPr id="22" name="Graphique 20" descr="Utilisateur avec un remplissage uni">
            <a:extLst>
              <a:ext uri="{FF2B5EF4-FFF2-40B4-BE49-F238E27FC236}">
                <a16:creationId xmlns:a16="http://schemas.microsoft.com/office/drawing/2014/main" id="{AB727B79-D746-863E-7408-C788F0F08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4486" y="3361632"/>
            <a:ext cx="513643" cy="513643"/>
          </a:xfrm>
          <a:prstGeom prst="rect">
            <a:avLst/>
          </a:prstGeom>
        </p:spPr>
      </p:pic>
      <p:pic>
        <p:nvPicPr>
          <p:cNvPr id="23" name="Graphique 21" descr="Utilisateur avec un remplissage uni">
            <a:extLst>
              <a:ext uri="{FF2B5EF4-FFF2-40B4-BE49-F238E27FC236}">
                <a16:creationId xmlns:a16="http://schemas.microsoft.com/office/drawing/2014/main" id="{9B753D7F-3843-8DB9-53C3-6C7E6E528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8122" y="3361632"/>
            <a:ext cx="513643" cy="513643"/>
          </a:xfrm>
          <a:prstGeom prst="rect">
            <a:avLst/>
          </a:prstGeom>
        </p:spPr>
      </p:pic>
      <p:pic>
        <p:nvPicPr>
          <p:cNvPr id="24" name="Graphique 22" descr="Utilisateur avec un remplissage uni">
            <a:extLst>
              <a:ext uri="{FF2B5EF4-FFF2-40B4-BE49-F238E27FC236}">
                <a16:creationId xmlns:a16="http://schemas.microsoft.com/office/drawing/2014/main" id="{1C4B8018-B1A3-9143-B3FD-838C2CD6ED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684" t="4567"/>
          <a:stretch/>
        </p:blipFill>
        <p:spPr>
          <a:xfrm>
            <a:off x="10839542" y="3385094"/>
            <a:ext cx="340627" cy="490181"/>
          </a:xfrm>
          <a:prstGeom prst="rect">
            <a:avLst/>
          </a:prstGeom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10B2A3B2-6098-BE9A-338E-D9AC9970F577}"/>
              </a:ext>
            </a:extLst>
          </p:cNvPr>
          <p:cNvSpPr/>
          <p:nvPr/>
        </p:nvSpPr>
        <p:spPr>
          <a:xfrm>
            <a:off x="8672680" y="364595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BB5C443-DC95-4BB8-D458-7DF25E0827E6}"/>
              </a:ext>
            </a:extLst>
          </p:cNvPr>
          <p:cNvSpPr/>
          <p:nvPr/>
        </p:nvSpPr>
        <p:spPr>
          <a:xfrm>
            <a:off x="8537582" y="364284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FDA8B10-4D44-C17F-7B32-79D8C0D05489}"/>
              </a:ext>
            </a:extLst>
          </p:cNvPr>
          <p:cNvSpPr/>
          <p:nvPr/>
        </p:nvSpPr>
        <p:spPr>
          <a:xfrm>
            <a:off x="8803024" y="364284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8" name="Accolade ouvrante 27">
            <a:extLst>
              <a:ext uri="{FF2B5EF4-FFF2-40B4-BE49-F238E27FC236}">
                <a16:creationId xmlns:a16="http://schemas.microsoft.com/office/drawing/2014/main" id="{73F4E364-2A23-5DB8-4F8D-B3EA710013E6}"/>
              </a:ext>
            </a:extLst>
          </p:cNvPr>
          <p:cNvSpPr/>
          <p:nvPr/>
        </p:nvSpPr>
        <p:spPr>
          <a:xfrm rot="16200000">
            <a:off x="8685988" y="2852290"/>
            <a:ext cx="114087" cy="22574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9" name="Accolade ouvrante 28">
            <a:extLst>
              <a:ext uri="{FF2B5EF4-FFF2-40B4-BE49-F238E27FC236}">
                <a16:creationId xmlns:a16="http://schemas.microsoft.com/office/drawing/2014/main" id="{8DBEAB85-AE2E-95C7-B259-7060D993DFAD}"/>
              </a:ext>
            </a:extLst>
          </p:cNvPr>
          <p:cNvSpPr/>
          <p:nvPr/>
        </p:nvSpPr>
        <p:spPr>
          <a:xfrm rot="16200000">
            <a:off x="10866304" y="3750671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0" name="ZoneTexte 28">
            <a:extLst>
              <a:ext uri="{FF2B5EF4-FFF2-40B4-BE49-F238E27FC236}">
                <a16:creationId xmlns:a16="http://schemas.microsoft.com/office/drawing/2014/main" id="{9C44A972-1345-CA19-6AF7-CA88EF3E9A1F}"/>
              </a:ext>
            </a:extLst>
          </p:cNvPr>
          <p:cNvSpPr txBox="1"/>
          <p:nvPr/>
        </p:nvSpPr>
        <p:spPr>
          <a:xfrm>
            <a:off x="7618070" y="4153005"/>
            <a:ext cx="2253689" cy="738664"/>
          </a:xfrm>
          <a:prstGeom prst="rect">
            <a:avLst/>
          </a:prstGeom>
          <a:noFill/>
          <a:ln>
            <a:solidFill>
              <a:srgbClr val="3B3436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dirty="0"/>
              <a:t>Training/val data:</a:t>
            </a:r>
          </a:p>
          <a:p>
            <a:pPr algn="ctr"/>
            <a:r>
              <a:rPr lang="fr-FR" sz="1400" dirty="0"/>
              <a:t>N-1 </a:t>
            </a:r>
            <a:r>
              <a:rPr lang="fr-FR" sz="1400" dirty="0" err="1"/>
              <a:t>subjects</a:t>
            </a:r>
            <a:r>
              <a:rPr lang="fr-FR" sz="1400" dirty="0"/>
              <a:t> et a part of </a:t>
            </a:r>
            <a:r>
              <a:rPr lang="fr-FR" sz="1400" dirty="0" err="1"/>
              <a:t>Nth</a:t>
            </a:r>
            <a:r>
              <a:rPr lang="fr-FR" sz="1400" dirty="0"/>
              <a:t> </a:t>
            </a:r>
            <a:r>
              <a:rPr lang="fr-FR" sz="1400" dirty="0" err="1"/>
              <a:t>subject</a:t>
            </a:r>
            <a:endParaRPr lang="fr-FR" sz="1400" dirty="0"/>
          </a:p>
        </p:txBody>
      </p:sp>
      <p:pic>
        <p:nvPicPr>
          <p:cNvPr id="31" name="Graphique 29" descr="Utilisateur avec un remplissage uni">
            <a:extLst>
              <a:ext uri="{FF2B5EF4-FFF2-40B4-BE49-F238E27FC236}">
                <a16:creationId xmlns:a16="http://schemas.microsoft.com/office/drawing/2014/main" id="{C0912E53-B5DE-DABC-59B5-7085DB0775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567" r="64366"/>
          <a:stretch/>
        </p:blipFill>
        <p:spPr>
          <a:xfrm>
            <a:off x="9358115" y="3385094"/>
            <a:ext cx="183029" cy="490181"/>
          </a:xfrm>
          <a:prstGeom prst="rect">
            <a:avLst/>
          </a:prstGeom>
        </p:spPr>
      </p:pic>
      <p:sp>
        <p:nvSpPr>
          <p:cNvPr id="32" name="ZoneTexte 30">
            <a:extLst>
              <a:ext uri="{FF2B5EF4-FFF2-40B4-BE49-F238E27FC236}">
                <a16:creationId xmlns:a16="http://schemas.microsoft.com/office/drawing/2014/main" id="{D65D952B-500F-C9D5-C3BD-28DDE7A7C0CA}"/>
              </a:ext>
            </a:extLst>
          </p:cNvPr>
          <p:cNvSpPr txBox="1"/>
          <p:nvPr/>
        </p:nvSpPr>
        <p:spPr>
          <a:xfrm>
            <a:off x="10091124" y="4153005"/>
            <a:ext cx="1946996" cy="738664"/>
          </a:xfrm>
          <a:prstGeom prst="rect">
            <a:avLst/>
          </a:prstGeom>
          <a:noFill/>
          <a:ln>
            <a:solidFill>
              <a:srgbClr val="3B3436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dirty="0" err="1"/>
              <a:t>Testing</a:t>
            </a:r>
            <a:r>
              <a:rPr lang="fr-FR" sz="1400" dirty="0"/>
              <a:t> data:</a:t>
            </a:r>
          </a:p>
          <a:p>
            <a:pPr algn="ctr"/>
            <a:r>
              <a:rPr lang="fr-FR" sz="1400" dirty="0" err="1"/>
              <a:t>Rest</a:t>
            </a:r>
            <a:r>
              <a:rPr lang="fr-FR" sz="1400" dirty="0"/>
              <a:t> of data </a:t>
            </a:r>
            <a:r>
              <a:rPr lang="fr-FR" sz="1400" dirty="0" err="1"/>
              <a:t>from</a:t>
            </a:r>
            <a:r>
              <a:rPr lang="fr-FR" sz="1400" dirty="0"/>
              <a:t> </a:t>
            </a:r>
            <a:r>
              <a:rPr lang="fr-FR" sz="1400" dirty="0" err="1"/>
              <a:t>Nth</a:t>
            </a:r>
            <a:r>
              <a:rPr lang="fr-FR" sz="1400" dirty="0"/>
              <a:t> </a:t>
            </a:r>
            <a:r>
              <a:rPr lang="fr-FR" sz="1400" dirty="0" err="1"/>
              <a:t>subject</a:t>
            </a:r>
            <a:endParaRPr lang="fr-FR" sz="1400" dirty="0"/>
          </a:p>
        </p:txBody>
      </p:sp>
      <p:pic>
        <p:nvPicPr>
          <p:cNvPr id="33" name="Graphique 31" descr="Utilisateur avec un remplissage uni">
            <a:extLst>
              <a:ext uri="{FF2B5EF4-FFF2-40B4-BE49-F238E27FC236}">
                <a16:creationId xmlns:a16="http://schemas.microsoft.com/office/drawing/2014/main" id="{4590B85E-BB12-F64A-4AAA-44409BB638D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3684" t="4567"/>
          <a:stretch/>
        </p:blipFill>
        <p:spPr>
          <a:xfrm>
            <a:off x="9721235" y="5046364"/>
            <a:ext cx="340627" cy="490181"/>
          </a:xfrm>
          <a:prstGeom prst="rect">
            <a:avLst/>
          </a:prstGeom>
        </p:spPr>
      </p:pic>
      <p:pic>
        <p:nvPicPr>
          <p:cNvPr id="34" name="Graphique 32" descr="Utilisateur avec un remplissage uni">
            <a:extLst>
              <a:ext uri="{FF2B5EF4-FFF2-40B4-BE49-F238E27FC236}">
                <a16:creationId xmlns:a16="http://schemas.microsoft.com/office/drawing/2014/main" id="{E9824BE8-4022-BD94-5E83-ECACD0677AA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567" r="64366"/>
          <a:stretch/>
        </p:blipFill>
        <p:spPr>
          <a:xfrm>
            <a:off x="7769506" y="4995655"/>
            <a:ext cx="183029" cy="490181"/>
          </a:xfrm>
          <a:prstGeom prst="rect">
            <a:avLst/>
          </a:prstGeom>
        </p:spPr>
      </p:pic>
      <p:sp>
        <p:nvSpPr>
          <p:cNvPr id="35" name="Accolade ouvrante 34">
            <a:extLst>
              <a:ext uri="{FF2B5EF4-FFF2-40B4-BE49-F238E27FC236}">
                <a16:creationId xmlns:a16="http://schemas.microsoft.com/office/drawing/2014/main" id="{12BEF3F7-EEE7-9073-C5B6-D20CE6BB92B4}"/>
              </a:ext>
            </a:extLst>
          </p:cNvPr>
          <p:cNvSpPr/>
          <p:nvPr/>
        </p:nvSpPr>
        <p:spPr>
          <a:xfrm rot="16200000">
            <a:off x="7844746" y="5276194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6" name="ZoneTexte 34">
            <a:extLst>
              <a:ext uri="{FF2B5EF4-FFF2-40B4-BE49-F238E27FC236}">
                <a16:creationId xmlns:a16="http://schemas.microsoft.com/office/drawing/2014/main" id="{9367E6F2-D062-AF21-F78F-9081FE2599AA}"/>
              </a:ext>
            </a:extLst>
          </p:cNvPr>
          <p:cNvSpPr txBox="1"/>
          <p:nvPr/>
        </p:nvSpPr>
        <p:spPr>
          <a:xfrm>
            <a:off x="6971220" y="5608869"/>
            <a:ext cx="1875881" cy="738664"/>
          </a:xfrm>
          <a:prstGeom prst="rect">
            <a:avLst/>
          </a:prstGeom>
          <a:solidFill>
            <a:srgbClr val="FDF9E2"/>
          </a:solidFill>
          <a:ln>
            <a:solidFill>
              <a:srgbClr val="3B3436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dirty="0"/>
              <a:t>Training/val data:</a:t>
            </a:r>
          </a:p>
          <a:p>
            <a:pPr algn="ctr"/>
            <a:r>
              <a:rPr lang="fr-FR" sz="1400" dirty="0"/>
              <a:t>A part of data </a:t>
            </a:r>
            <a:r>
              <a:rPr lang="fr-FR" sz="1400" dirty="0" err="1"/>
              <a:t>from</a:t>
            </a:r>
            <a:r>
              <a:rPr lang="fr-FR" sz="1400" dirty="0"/>
              <a:t> </a:t>
            </a:r>
            <a:r>
              <a:rPr lang="fr-FR" sz="1400" dirty="0" err="1"/>
              <a:t>subject</a:t>
            </a:r>
            <a:r>
              <a:rPr lang="fr-FR" sz="1400" dirty="0"/>
              <a:t> i </a:t>
            </a:r>
          </a:p>
        </p:txBody>
      </p:sp>
      <p:sp>
        <p:nvSpPr>
          <p:cNvPr id="37" name="Accolade ouvrante 36">
            <a:extLst>
              <a:ext uri="{FF2B5EF4-FFF2-40B4-BE49-F238E27FC236}">
                <a16:creationId xmlns:a16="http://schemas.microsoft.com/office/drawing/2014/main" id="{7B1BECE4-13C8-E7A1-9DF7-E2BB7CACF4EF}"/>
              </a:ext>
            </a:extLst>
          </p:cNvPr>
          <p:cNvSpPr/>
          <p:nvPr/>
        </p:nvSpPr>
        <p:spPr>
          <a:xfrm rot="16200000">
            <a:off x="9796879" y="5327499"/>
            <a:ext cx="114086" cy="4458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ZoneTexte 36">
            <a:extLst>
              <a:ext uri="{FF2B5EF4-FFF2-40B4-BE49-F238E27FC236}">
                <a16:creationId xmlns:a16="http://schemas.microsoft.com/office/drawing/2014/main" id="{21109DB7-4821-4B11-F247-3FAC6DAA19E9}"/>
              </a:ext>
            </a:extLst>
          </p:cNvPr>
          <p:cNvSpPr txBox="1"/>
          <p:nvPr/>
        </p:nvSpPr>
        <p:spPr>
          <a:xfrm>
            <a:off x="8929887" y="5608869"/>
            <a:ext cx="1837462" cy="738664"/>
          </a:xfrm>
          <a:prstGeom prst="rect">
            <a:avLst/>
          </a:prstGeom>
          <a:solidFill>
            <a:srgbClr val="FDF9E2"/>
          </a:solidFill>
          <a:ln>
            <a:solidFill>
              <a:srgbClr val="3B3436"/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fr-FR" sz="1400" dirty="0" err="1"/>
              <a:t>Testing</a:t>
            </a:r>
            <a:r>
              <a:rPr lang="fr-FR" sz="1400" dirty="0"/>
              <a:t> data:</a:t>
            </a:r>
          </a:p>
          <a:p>
            <a:pPr algn="ctr"/>
            <a:r>
              <a:rPr lang="fr-FR" sz="1400" dirty="0" err="1"/>
              <a:t>Rest</a:t>
            </a:r>
            <a:r>
              <a:rPr lang="fr-FR" sz="1400" dirty="0"/>
              <a:t> of data </a:t>
            </a:r>
            <a:r>
              <a:rPr lang="fr-FR" sz="1400" dirty="0" err="1"/>
              <a:t>from</a:t>
            </a:r>
            <a:r>
              <a:rPr lang="fr-FR" sz="1400" dirty="0"/>
              <a:t> </a:t>
            </a:r>
            <a:r>
              <a:rPr lang="fr-FR" sz="1400" dirty="0" err="1"/>
              <a:t>subject</a:t>
            </a:r>
            <a:r>
              <a:rPr lang="fr-FR" sz="1400" dirty="0"/>
              <a:t> i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B8BBD56E-907A-786B-E0C8-A69AF71D391F}"/>
              </a:ext>
            </a:extLst>
          </p:cNvPr>
          <p:cNvSpPr/>
          <p:nvPr/>
        </p:nvSpPr>
        <p:spPr>
          <a:xfrm>
            <a:off x="476526" y="2158670"/>
            <a:ext cx="4318045" cy="3629890"/>
          </a:xfrm>
          <a:prstGeom prst="roundRect">
            <a:avLst/>
          </a:prstGeom>
          <a:solidFill>
            <a:srgbClr val="FDF9E2"/>
          </a:solidFill>
          <a:ln w="76200">
            <a:solidFill>
              <a:srgbClr val="FC3F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CNN and </a:t>
            </a:r>
            <a:r>
              <a:rPr lang="fr-FR" dirty="0" err="1"/>
              <a:t>two</a:t>
            </a:r>
            <a:r>
              <a:rPr lang="fr-FR" dirty="0"/>
              <a:t> types of SPDNet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Domain </a:t>
            </a:r>
            <a:r>
              <a:rPr lang="fr-FR" dirty="0" err="1"/>
              <a:t>Generalization</a:t>
            </a:r>
            <a:r>
              <a:rPr lang="fr-FR" dirty="0"/>
              <a:t>, Domain Adaptation and Single </a:t>
            </a:r>
            <a:r>
              <a:rPr lang="fr-FR" dirty="0" err="1"/>
              <a:t>Subject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Normalization</a:t>
            </a:r>
            <a:r>
              <a:rPr lang="fr-FR" dirty="0"/>
              <a:t>, </a:t>
            </a:r>
            <a:r>
              <a:rPr lang="fr-FR" dirty="0" err="1"/>
              <a:t>filtering</a:t>
            </a:r>
            <a:r>
              <a:rPr lang="fr-FR" dirty="0"/>
              <a:t> (spatial &amp; temporal), </a:t>
            </a:r>
            <a:r>
              <a:rPr lang="fr-FR" dirty="0" err="1"/>
              <a:t>recentering</a:t>
            </a:r>
            <a:r>
              <a:rPr lang="fr-FR" dirty="0"/>
              <a:t> (spatial)</a:t>
            </a:r>
          </a:p>
        </p:txBody>
      </p:sp>
    </p:spTree>
    <p:extLst>
      <p:ext uri="{BB962C8B-B14F-4D97-AF65-F5344CB8AC3E}">
        <p14:creationId xmlns:p14="http://schemas.microsoft.com/office/powerpoint/2010/main" val="1573387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40835-495D-703B-85A6-9DD5F1F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411" y="709451"/>
            <a:ext cx="8762246" cy="777240"/>
          </a:xfrm>
        </p:spPr>
        <p:txBody>
          <a:bodyPr/>
          <a:lstStyle/>
          <a:p>
            <a:r>
              <a:rPr lang="fr-FR" dirty="0" err="1"/>
              <a:t>Results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4F72E-BAE7-E538-300B-85BE70ACB6F3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FC3F47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C842BC0-38C4-68C8-EC45-6546C53D7364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FC3F47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Image 2" descr="Une image contenant texte, diagramme, capture d’écran, nombre&#10;&#10;Description générée automatiquement">
            <a:extLst>
              <a:ext uri="{FF2B5EF4-FFF2-40B4-BE49-F238E27FC236}">
                <a16:creationId xmlns:a16="http://schemas.microsoft.com/office/drawing/2014/main" id="{8634BF00-EC32-41C2-B9BF-95BBE1F62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68" y="1633859"/>
            <a:ext cx="5243744" cy="5160980"/>
          </a:xfrm>
          <a:prstGeom prst="rect">
            <a:avLst/>
          </a:prstGeom>
        </p:spPr>
      </p:pic>
      <p:sp>
        <p:nvSpPr>
          <p:cNvPr id="7" name="Espace réservé du contenu 1">
            <a:extLst>
              <a:ext uri="{FF2B5EF4-FFF2-40B4-BE49-F238E27FC236}">
                <a16:creationId xmlns:a16="http://schemas.microsoft.com/office/drawing/2014/main" id="{32FC7CDC-BD05-7824-246B-1FB1F6F00CAC}"/>
              </a:ext>
            </a:extLst>
          </p:cNvPr>
          <p:cNvSpPr>
            <a:spLocks noGrp="1"/>
          </p:cNvSpPr>
          <p:nvPr/>
        </p:nvSpPr>
        <p:spPr bwMode="auto">
          <a:xfrm>
            <a:off x="6587231" y="2119351"/>
            <a:ext cx="4953740" cy="3321000"/>
          </a:xfrm>
          <a:prstGeom prst="round2DiagRect">
            <a:avLst/>
          </a:prstGeom>
          <a:ln w="76200">
            <a:solidFill>
              <a:srgbClr val="C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3600">
                <a:solidFill>
                  <a:schemeClr val="tx1"/>
                </a:solidFill>
                <a:latin typeface="Arial"/>
                <a:ea typeface="Arial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Arial"/>
                <a:ea typeface="Arial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800" dirty="0"/>
              <a:t>In Burst-CVEP based BCI:</a:t>
            </a:r>
          </a:p>
          <a:p>
            <a:pPr marL="0" indent="0">
              <a:buNone/>
            </a:pPr>
            <a:r>
              <a:rPr lang="en-US" sz="500" dirty="0"/>
              <a:t> </a:t>
            </a:r>
            <a:endParaRPr lang="en-US" sz="2400" dirty="0"/>
          </a:p>
          <a:p>
            <a:r>
              <a:rPr lang="en-US" sz="2800" dirty="0"/>
              <a:t>Domain adaptation &gt; Domain Generalization</a:t>
            </a:r>
          </a:p>
          <a:p>
            <a:r>
              <a:rPr lang="en-US" sz="2800" dirty="0"/>
              <a:t>SPDNet on par with the CNN</a:t>
            </a:r>
          </a:p>
          <a:p>
            <a:r>
              <a:rPr lang="en-US" sz="2800" dirty="0"/>
              <a:t>SPDBNNet is too slow</a:t>
            </a:r>
          </a:p>
        </p:txBody>
      </p:sp>
    </p:spTree>
    <p:extLst>
      <p:ext uri="{BB962C8B-B14F-4D97-AF65-F5344CB8AC3E}">
        <p14:creationId xmlns:p14="http://schemas.microsoft.com/office/powerpoint/2010/main" val="2037095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A5E7DD-2B68-B2CF-5119-67A82E3D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1542288"/>
            <a:ext cx="5513832" cy="2432304"/>
          </a:xfrm>
        </p:spPr>
        <p:txBody>
          <a:bodyPr/>
          <a:lstStyle/>
          <a:p>
            <a:r>
              <a:rPr lang="fr-FR" dirty="0"/>
              <a:t>BEST Classifier for BURST CVEP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740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40835-495D-703B-85A6-9DD5F1F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950" y="710100"/>
            <a:ext cx="8762246" cy="777240"/>
          </a:xfrm>
        </p:spPr>
        <p:txBody>
          <a:bodyPr/>
          <a:lstStyle/>
          <a:p>
            <a:r>
              <a:rPr lang="fr-FR" dirty="0" err="1"/>
              <a:t>Context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4F72E-BAE7-E538-300B-85BE70ACB6F3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2E829A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C842BC0-38C4-68C8-EC45-6546C53D7364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2E829A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3BAAD1-86B3-7A59-870B-E1F436343AC3}"/>
              </a:ext>
            </a:extLst>
          </p:cNvPr>
          <p:cNvSpPr txBox="1">
            <a:spLocks/>
          </p:cNvSpPr>
          <p:nvPr/>
        </p:nvSpPr>
        <p:spPr bwMode="auto">
          <a:xfrm>
            <a:off x="838200" y="3738598"/>
            <a:ext cx="10515600" cy="1898722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lang="fr-FR" sz="36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32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8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Does spatial recentering and filtering helps to increase performance?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r>
              <a:rPr lang="en-US" sz="2400" dirty="0"/>
              <a:t>Does GREEN algorithm perform better than classical algorithm (EGG2Code or LDA) ? </a:t>
            </a:r>
            <a:endParaRPr lang="en-US" sz="2400" dirty="0">
              <a:solidFill>
                <a:srgbClr val="00AA59"/>
              </a:solidFill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EFC03AB4-61B0-17C0-8280-ABA01546B544}"/>
              </a:ext>
            </a:extLst>
          </p:cNvPr>
          <p:cNvSpPr txBox="1">
            <a:spLocks/>
          </p:cNvSpPr>
          <p:nvPr/>
        </p:nvSpPr>
        <p:spPr bwMode="auto">
          <a:xfrm>
            <a:off x="838200" y="1652346"/>
            <a:ext cx="10515600" cy="1898721"/>
          </a:xfrm>
          <a:prstGeom prst="roundRect">
            <a:avLst/>
          </a:prstGeom>
          <a:ln w="38100">
            <a:solidFill>
              <a:srgbClr val="000000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lang="fr-FR" sz="36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32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8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Spatial recentering and alignment helps for transfer learning </a:t>
            </a:r>
          </a:p>
          <a:p>
            <a:r>
              <a:rPr lang="en-US" sz="2400" dirty="0"/>
              <a:t>EEG2Code is well known to be performant for CVEP and </a:t>
            </a:r>
            <a:r>
              <a:rPr lang="en-US" sz="2400" dirty="0" err="1"/>
              <a:t>XDawn</a:t>
            </a:r>
            <a:r>
              <a:rPr lang="en-US" sz="2400" dirty="0"/>
              <a:t>/-</a:t>
            </a:r>
            <a:r>
              <a:rPr lang="en-US" sz="2400" dirty="0" err="1"/>
              <a:t>TangentSpace</a:t>
            </a:r>
            <a:r>
              <a:rPr lang="en-US" sz="2400" dirty="0"/>
              <a:t>-LDA is performant for ERP.</a:t>
            </a:r>
          </a:p>
          <a:p>
            <a:r>
              <a:rPr lang="en-US" sz="2400" dirty="0"/>
              <a:t>Wavelets transformation create more information (frequency and temporal)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7521892-22CC-2039-4116-2C675536A7E9}"/>
              </a:ext>
            </a:extLst>
          </p:cNvPr>
          <p:cNvSpPr txBox="1"/>
          <p:nvPr/>
        </p:nvSpPr>
        <p:spPr>
          <a:xfrm>
            <a:off x="1209294" y="4235119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It helps in DA and </a:t>
            </a:r>
            <a:r>
              <a:rPr lang="en-US" sz="2400" dirty="0" err="1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SiSu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7E586EA-AE24-5131-295E-2F5A57A29849}"/>
              </a:ext>
            </a:extLst>
          </p:cNvPr>
          <p:cNvSpPr txBox="1"/>
          <p:nvPr/>
        </p:nvSpPr>
        <p:spPr>
          <a:xfrm>
            <a:off x="4256532" y="5041412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GREEN performs better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8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DAFE4-6349-1385-8F42-D3614642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Methods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DE0E94-1FFF-0138-4AEF-358DEA51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139519"/>
            <a:ext cx="10716768" cy="4403324"/>
          </a:xfrm>
        </p:spPr>
        <p:txBody>
          <a:bodyPr>
            <a:normAutofit/>
          </a:bodyPr>
          <a:lstStyle/>
          <a:p>
            <a:r>
              <a:rPr lang="fr-FR" sz="2400" dirty="0" err="1"/>
              <a:t>Testing</a:t>
            </a:r>
            <a:r>
              <a:rPr lang="fr-FR" sz="2400" dirty="0"/>
              <a:t> </a:t>
            </a:r>
            <a:r>
              <a:rPr lang="fr-FR" sz="2400" dirty="0" err="1"/>
              <a:t>well</a:t>
            </a:r>
            <a:r>
              <a:rPr lang="fr-FR" sz="2400" dirty="0"/>
              <a:t> </a:t>
            </a:r>
            <a:r>
              <a:rPr lang="fr-FR" sz="2400" dirty="0" err="1"/>
              <a:t>used</a:t>
            </a:r>
            <a:r>
              <a:rPr lang="fr-FR" sz="2400" dirty="0"/>
              <a:t> classifier for CVEP (CNN/EEG2Code) and P300 (</a:t>
            </a:r>
            <a:r>
              <a:rPr lang="fr-FR" sz="2400" dirty="0" err="1"/>
              <a:t>Xdawn+TangentSpace+LDA</a:t>
            </a:r>
            <a:r>
              <a:rPr lang="fr-FR" sz="2400" dirty="0"/>
              <a:t>) and GREEN </a:t>
            </a:r>
            <a:r>
              <a:rPr lang="fr-FR" sz="2400" dirty="0" err="1"/>
              <a:t>algorithm</a:t>
            </a:r>
            <a:endParaRPr lang="fr-FR" sz="2400" dirty="0"/>
          </a:p>
          <a:p>
            <a:r>
              <a:rPr lang="fr-FR" sz="2400" dirty="0"/>
              <a:t>In </a:t>
            </a:r>
            <a:r>
              <a:rPr lang="fr-FR" sz="2400" dirty="0" err="1"/>
              <a:t>different</a:t>
            </a:r>
            <a:r>
              <a:rPr lang="fr-FR" sz="2400" dirty="0"/>
              <a:t> </a:t>
            </a:r>
            <a:r>
              <a:rPr lang="fr-FR" sz="2400" dirty="0" err="1"/>
              <a:t>ways</a:t>
            </a:r>
            <a:r>
              <a:rPr lang="fr-FR" sz="2400" dirty="0"/>
              <a:t>:</a:t>
            </a:r>
          </a:p>
          <a:p>
            <a:pPr lvl="1"/>
            <a:r>
              <a:rPr lang="en-US" sz="1600" dirty="0"/>
              <a:t>CGREEN 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Xdawn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alignment are within GREEN</a:t>
            </a:r>
          </a:p>
          <a:p>
            <a:pPr lvl="1"/>
            <a:r>
              <a:rPr lang="en-US" sz="1600" dirty="0"/>
              <a:t>PTGREEN 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Pretransformation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of the data are made beforehand, then GREEN is applied</a:t>
            </a:r>
          </a:p>
          <a:p>
            <a:pPr lvl="1"/>
            <a:r>
              <a:rPr lang="en-US" sz="1600" dirty="0"/>
              <a:t>TSLDA: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XdawnCovariance+TangentSpace+LDA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/>
              <a:t>CNN: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CNN derived from EEG2Code</a:t>
            </a:r>
          </a:p>
          <a:p>
            <a:pPr lvl="1"/>
            <a:r>
              <a:rPr lang="en-US" sz="1600" dirty="0"/>
              <a:t>PTCNN: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Pretransformation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of the data are made beforehand, then CNN is applied</a:t>
            </a:r>
          </a:p>
          <a:p>
            <a:pPr lvl="1"/>
            <a:r>
              <a:rPr lang="en-US" sz="1600" dirty="0"/>
              <a:t>CCNN: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Xdawn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alignment are within the CNN</a:t>
            </a: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E7945C-AFE5-0E15-FF53-EE914E09A6C7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2E829A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0014DE3-8B5F-0F2F-6ED5-1CE2BD4FC4F3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2E829A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10</a:t>
            </a:r>
            <a:endParaRPr lang="en-US" dirty="0">
              <a:solidFill>
                <a:srgbClr val="FDF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299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3166A6-632B-4E50-9E11-9E8CB65A3899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F2705-E3F7-F083-3E4D-CCC98C5AD2C3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2E829A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E1CDC05-7CC3-FAD7-8E8E-82E12BBB50D6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2E829A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11</a:t>
            </a:r>
            <a:endParaRPr lang="en-US" dirty="0">
              <a:solidFill>
                <a:srgbClr val="FDF9E2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B2C7FB6-E93E-8BE7-6990-E425B7E3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665" y="0"/>
            <a:ext cx="8104178" cy="6858000"/>
          </a:xfrm>
          <a:prstGeom prst="rect">
            <a:avLst/>
          </a:prstGeom>
        </p:spPr>
      </p:pic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1D5A8CDC-6546-8943-7A22-EB3549CB60D3}"/>
              </a:ext>
            </a:extLst>
          </p:cNvPr>
          <p:cNvSpPr txBox="1">
            <a:spLocks/>
          </p:cNvSpPr>
          <p:nvPr/>
        </p:nvSpPr>
        <p:spPr>
          <a:xfrm>
            <a:off x="167983" y="2171494"/>
            <a:ext cx="2468682" cy="277336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Balanced accuracy for the prediction of the 0 and 1 of the code.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UP: Domain adaptation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Down : Single subject</a:t>
            </a:r>
          </a:p>
        </p:txBody>
      </p:sp>
    </p:spTree>
    <p:extLst>
      <p:ext uri="{BB962C8B-B14F-4D97-AF65-F5344CB8AC3E}">
        <p14:creationId xmlns:p14="http://schemas.microsoft.com/office/powerpoint/2010/main" val="1162997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898895-232B-FBEB-2F3B-4E425C7E2EC1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3F417-FEC3-4208-7BBD-9F69E1FEFE51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2E829A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873E12B-EB4A-1D96-C66D-E44F6F72D672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2E829A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7FE3FA0-CD63-8A48-160B-F63FDA3DA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594" y="0"/>
            <a:ext cx="8104178" cy="68580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0FA7AE-2A1A-783D-5C38-314D02511CCE}"/>
              </a:ext>
            </a:extLst>
          </p:cNvPr>
          <p:cNvSpPr txBox="1">
            <a:spLocks/>
          </p:cNvSpPr>
          <p:nvPr/>
        </p:nvSpPr>
        <p:spPr>
          <a:xfrm>
            <a:off x="167983" y="2171494"/>
            <a:ext cx="2468682" cy="277336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Balanced accuracy for the prediction of the code.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UP: Domain adaptation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Down : Single subject</a:t>
            </a:r>
          </a:p>
        </p:txBody>
      </p:sp>
    </p:spTree>
    <p:extLst>
      <p:ext uri="{BB962C8B-B14F-4D97-AF65-F5344CB8AC3E}">
        <p14:creationId xmlns:p14="http://schemas.microsoft.com/office/powerpoint/2010/main" val="3401692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313763-DB7D-76C9-11B9-71A4FBAFF3F3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9F8771-19DB-5C4D-801A-0169D6FC253D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2E829A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86292E5-342C-5C89-4121-88A5A2A77AE5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2E829A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13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B860D6D-4146-3842-7EBA-E03BA40D3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597" y="0"/>
            <a:ext cx="8104178" cy="68580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EF851-40B9-1D62-807B-F0B396115D4C}"/>
              </a:ext>
            </a:extLst>
          </p:cNvPr>
          <p:cNvSpPr txBox="1">
            <a:spLocks/>
          </p:cNvSpPr>
          <p:nvPr/>
        </p:nvSpPr>
        <p:spPr>
          <a:xfrm>
            <a:off x="167983" y="2171494"/>
            <a:ext cx="2468682" cy="2773368"/>
          </a:xfrm>
          <a:prstGeom prst="rect">
            <a:avLst/>
          </a:prstGeom>
        </p:spPr>
        <p:txBody>
          <a:bodyPr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Training time for the classifier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UP: Domain adaptation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Down : Single subject</a:t>
            </a:r>
          </a:p>
        </p:txBody>
      </p:sp>
    </p:spTree>
    <p:extLst>
      <p:ext uri="{BB962C8B-B14F-4D97-AF65-F5344CB8AC3E}">
        <p14:creationId xmlns:p14="http://schemas.microsoft.com/office/powerpoint/2010/main" val="1887182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6D3215-4496-38EA-7BF2-5D20E2CD18FA}"/>
              </a:ext>
            </a:extLst>
          </p:cNvPr>
          <p:cNvSpPr/>
          <p:nvPr/>
        </p:nvSpPr>
        <p:spPr>
          <a:xfrm>
            <a:off x="561975" y="267347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4422C2-E61E-05B7-9B9D-0732F14F04BF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2E829A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9A81427-AB1A-E24F-FC62-CEE01633B06A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2E829A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A21F7C6-8E9B-119F-0BC2-AA03EAB7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665" y="0"/>
            <a:ext cx="8121018" cy="68580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24FCF1-528B-89F7-108A-D1AA5CAAFC22}"/>
              </a:ext>
            </a:extLst>
          </p:cNvPr>
          <p:cNvSpPr txBox="1">
            <a:spLocks/>
          </p:cNvSpPr>
          <p:nvPr/>
        </p:nvSpPr>
        <p:spPr>
          <a:xfrm>
            <a:off x="167983" y="2171494"/>
            <a:ext cx="2468682" cy="2773368"/>
          </a:xfrm>
          <a:prstGeom prst="rect">
            <a:avLst/>
          </a:prstGeom>
        </p:spPr>
        <p:txBody>
          <a:bodyPr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Prediction time of the whole test set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UP: Domain adaptation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Down : Single subject</a:t>
            </a:r>
          </a:p>
        </p:txBody>
      </p:sp>
    </p:spTree>
    <p:extLst>
      <p:ext uri="{BB962C8B-B14F-4D97-AF65-F5344CB8AC3E}">
        <p14:creationId xmlns:p14="http://schemas.microsoft.com/office/powerpoint/2010/main" val="4033144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827FDC-3BFD-B30E-8E35-52153E2E170A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70542A-70D4-EAF1-FB9E-DF9B880D5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6278" y="5529964"/>
            <a:ext cx="1141520" cy="566276"/>
          </a:xfrm>
        </p:spPr>
        <p:txBody>
          <a:bodyPr/>
          <a:lstStyle/>
          <a:p>
            <a:pPr marL="0" indent="0">
              <a:buNone/>
            </a:pPr>
            <a:r>
              <a:rPr lang="fr-FR" dirty="0" err="1"/>
              <a:t>SiSu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CD73AC-C22E-80B3-9957-FE9D3099F361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2E829A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3DD4672-757C-406B-4894-CB2C77519D8F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2E829A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15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2DB7772-F62B-62DC-8B4A-67447D800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44898"/>
            <a:ext cx="5934075" cy="44196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C42D13F4-6D74-0E60-A719-584A7D2A9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25" y="1040166"/>
            <a:ext cx="5934075" cy="4419600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D460DDF9-09F7-1520-5027-E8BF630634C1}"/>
              </a:ext>
            </a:extLst>
          </p:cNvPr>
          <p:cNvSpPr txBox="1">
            <a:spLocks/>
          </p:cNvSpPr>
          <p:nvPr/>
        </p:nvSpPr>
        <p:spPr>
          <a:xfrm>
            <a:off x="8860215" y="5510313"/>
            <a:ext cx="729493" cy="566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DA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0A4F5B4A-9AD1-E931-F6C3-7543694C1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69" y="213791"/>
            <a:ext cx="8870656" cy="764982"/>
          </a:xfrm>
        </p:spPr>
        <p:txBody>
          <a:bodyPr/>
          <a:lstStyle/>
          <a:p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Study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52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38249-E678-EA84-C84F-C489D7EC4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89" y="2304288"/>
            <a:ext cx="6015687" cy="2432304"/>
          </a:xfrm>
        </p:spPr>
        <p:txBody>
          <a:bodyPr/>
          <a:lstStyle/>
          <a:p>
            <a:r>
              <a:rPr lang="fr-FR" dirty="0" err="1"/>
              <a:t>InterSubject</a:t>
            </a:r>
            <a:r>
              <a:rPr lang="fr-FR" dirty="0"/>
              <a:t> </a:t>
            </a:r>
            <a:r>
              <a:rPr lang="fr-FR" dirty="0" err="1"/>
              <a:t>variability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026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40835-495D-703B-85A6-9DD5F1F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950" y="710100"/>
            <a:ext cx="8762246" cy="777240"/>
          </a:xfrm>
        </p:spPr>
        <p:txBody>
          <a:bodyPr/>
          <a:lstStyle/>
          <a:p>
            <a:r>
              <a:rPr lang="fr-FR" dirty="0" err="1"/>
              <a:t>Context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1EB97-BE4E-8078-18CC-633C1B25B58A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BE7800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AE96C34-16A5-7086-4DA9-7683B06C464C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BE7800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693723A4-893A-C7BF-4715-C90CFE9CDC4D}"/>
              </a:ext>
            </a:extLst>
          </p:cNvPr>
          <p:cNvSpPr txBox="1">
            <a:spLocks/>
          </p:cNvSpPr>
          <p:nvPr/>
        </p:nvSpPr>
        <p:spPr bwMode="auto">
          <a:xfrm>
            <a:off x="838200" y="3153382"/>
            <a:ext cx="10515600" cy="2409302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lang="fr-FR" sz="36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32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8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Does spatial recentering and filtering helps to counter variabilities ? </a:t>
            </a:r>
          </a:p>
          <a:p>
            <a:endParaRPr lang="en-US" sz="1200" dirty="0"/>
          </a:p>
          <a:p>
            <a:r>
              <a:rPr lang="en-US" sz="2400" dirty="0"/>
              <a:t>Does GREEN algorithm induce less variabilities ? </a:t>
            </a:r>
            <a:endParaRPr lang="en-US" sz="2400" dirty="0">
              <a:solidFill>
                <a:srgbClr val="00AA59"/>
              </a:solidFill>
              <a:sym typeface="Wingdings" panose="05000000000000000000" pitchFamily="2" charset="2"/>
            </a:endParaRPr>
          </a:p>
          <a:p>
            <a:r>
              <a:rPr lang="en-US" sz="2400" dirty="0"/>
              <a:t>Is it possible to see when a subject will have bad performance beforehand ? </a:t>
            </a:r>
            <a:endParaRPr lang="en-US" sz="2400" dirty="0">
              <a:solidFill>
                <a:srgbClr val="00AA59"/>
              </a:solidFill>
              <a:sym typeface="Wingdings" panose="05000000000000000000" pitchFamily="2" charset="2"/>
            </a:endParaRP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AC90CE72-EA8E-F5A1-3CD5-C9CBC3E7053A}"/>
              </a:ext>
            </a:extLst>
          </p:cNvPr>
          <p:cNvSpPr txBox="1">
            <a:spLocks/>
          </p:cNvSpPr>
          <p:nvPr/>
        </p:nvSpPr>
        <p:spPr bwMode="auto">
          <a:xfrm>
            <a:off x="838200" y="1652347"/>
            <a:ext cx="10515600" cy="1408018"/>
          </a:xfrm>
          <a:prstGeom prst="roundRect">
            <a:avLst/>
          </a:prstGeom>
          <a:ln w="38100">
            <a:solidFill>
              <a:srgbClr val="000000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lang="fr-FR" sz="36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32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8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2400" kern="1200">
                <a:solidFill>
                  <a:schemeClr val="tx1"/>
                </a:solidFill>
                <a:latin typeface="Arial"/>
                <a:ea typeface="Arial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Burst-CVEP seems more resistant to variabilities and is not the same between the participants </a:t>
            </a:r>
          </a:p>
          <a:p>
            <a:r>
              <a:rPr lang="en-US" sz="2400" dirty="0"/>
              <a:t>Variabilities seems to be countered with some preprocessing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729FED-A874-145A-1281-6C0B48A12982}"/>
              </a:ext>
            </a:extLst>
          </p:cNvPr>
          <p:cNvSpPr txBox="1"/>
          <p:nvPr/>
        </p:nvSpPr>
        <p:spPr>
          <a:xfrm>
            <a:off x="1129284" y="358834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It does help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A74F01A-E328-E2A8-E819-9244320A5B9A}"/>
              </a:ext>
            </a:extLst>
          </p:cNvPr>
          <p:cNvSpPr txBox="1"/>
          <p:nvPr/>
        </p:nvSpPr>
        <p:spPr>
          <a:xfrm>
            <a:off x="7997006" y="3987819"/>
            <a:ext cx="3065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GREEN does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5E8EBAB-AC79-9F44-44DB-6725CEA414D4}"/>
              </a:ext>
            </a:extLst>
          </p:cNvPr>
          <p:cNvSpPr txBox="1"/>
          <p:nvPr/>
        </p:nvSpPr>
        <p:spPr>
          <a:xfrm>
            <a:off x="3048762" y="477525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AA5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it could be possible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08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37CBD9-28D1-C4C6-4E02-07F52B8CAD4C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68837-62B3-9EB1-886B-636F17E484A4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BE7800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852DE0A-8243-1458-4DF6-A9F00E2DCED1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BE7800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D613DF2-7936-A605-62DA-B96E63FF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4" y="106347"/>
            <a:ext cx="8870656" cy="764982"/>
          </a:xfrm>
        </p:spPr>
        <p:txBody>
          <a:bodyPr/>
          <a:lstStyle/>
          <a:p>
            <a:r>
              <a:rPr lang="fr-FR" dirty="0"/>
              <a:t>1by1 training/</a:t>
            </a:r>
            <a:r>
              <a:rPr lang="fr-FR" dirty="0" err="1"/>
              <a:t>testing</a:t>
            </a:r>
            <a:r>
              <a:rPr lang="fr-FR" dirty="0"/>
              <a:t> matrix</a:t>
            </a:r>
            <a:endParaRPr lang="en-US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7C587EB-46CE-8E55-0DD7-D5E483706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87" y="975632"/>
            <a:ext cx="9713390" cy="588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64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615396-6704-A00D-4B04-A761B47C10B4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C81851-75E9-E986-5C86-6E663085F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486" y="0"/>
            <a:ext cx="7705817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78FC0C-9CEF-EF5E-8C6A-2D7A8F136CF3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BE7800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229DEBA-BA5F-9A50-7B0D-7A2331F2DDF5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BE7800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19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7C2A199E-675E-F252-084B-B794F17EF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83" y="2171494"/>
            <a:ext cx="2468682" cy="2515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/>
              <a:t>Epochs</a:t>
            </a:r>
            <a:r>
              <a:rPr lang="fr-FR" sz="2000" dirty="0"/>
              <a:t> of the 1</a:t>
            </a:r>
            <a:r>
              <a:rPr lang="fr-FR" sz="2000" baseline="30000" dirty="0"/>
              <a:t>st</a:t>
            </a:r>
            <a:r>
              <a:rPr lang="fr-FR" sz="2000" dirty="0"/>
              <a:t>, 2</a:t>
            </a:r>
            <a:r>
              <a:rPr lang="fr-FR" sz="2000" baseline="30000" dirty="0"/>
              <a:t>nd</a:t>
            </a:r>
            <a:r>
              <a:rPr lang="fr-FR" sz="2000" dirty="0"/>
              <a:t>, 3</a:t>
            </a:r>
            <a:r>
              <a:rPr lang="fr-FR" sz="2000" baseline="30000" dirty="0"/>
              <a:t>rd </a:t>
            </a:r>
            <a:r>
              <a:rPr lang="fr-FR" sz="2000" dirty="0"/>
              <a:t>component of </a:t>
            </a:r>
            <a:r>
              <a:rPr lang="fr-FR" sz="2000" dirty="0" err="1"/>
              <a:t>preprocessing</a:t>
            </a:r>
            <a:r>
              <a:rPr lang="fr-FR" sz="2000" dirty="0"/>
              <a:t> for the 24 participants of the </a:t>
            </a:r>
            <a:r>
              <a:rPr lang="fr-FR" sz="2000" dirty="0" err="1"/>
              <a:t>dataset</a:t>
            </a:r>
            <a:endParaRPr lang="fr-FR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2368880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991B1E-123D-B686-44BC-FD50925AEDD6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FB3A89-E48F-DE4A-2697-9DD5B2CFE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631" y="0"/>
            <a:ext cx="761704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A86DDA-1665-C5E1-58EC-20B5BE2ADA2C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BE7800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1AB785F-F91A-B9A2-839F-309A027F222D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BE7800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20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8124E900-E86D-5949-74CB-E636E3A63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96" y="2512832"/>
            <a:ext cx="2468682" cy="1832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/>
              <a:t>Evoked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InterQuartile</a:t>
            </a:r>
            <a:r>
              <a:rPr lang="fr-FR" sz="2000" dirty="0"/>
              <a:t> range for the 24 participants of the </a:t>
            </a:r>
            <a:r>
              <a:rPr lang="fr-FR" sz="2000" dirty="0" err="1"/>
              <a:t>dataset</a:t>
            </a:r>
            <a:r>
              <a:rPr lang="fr-FR" sz="2000" dirty="0"/>
              <a:t>.</a:t>
            </a:r>
            <a:endParaRPr lang="fr-FR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2574248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E3DC91-2F58-CAC1-4DF4-3E5801D84EE1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E32FF6-5AC8-B7EF-5B39-A43E4EAD0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995" y="0"/>
            <a:ext cx="744406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37FD4B-7647-4525-592B-4289171AE2CF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BE7800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D0222D0-B781-6A03-4449-30BCB1C5775D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BE7800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E6E122A-E2B9-5CC4-9FE1-86E5EB862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95" y="2512832"/>
            <a:ext cx="2619603" cy="183233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2000" dirty="0" err="1"/>
              <a:t>Correlation</a:t>
            </a:r>
            <a:r>
              <a:rPr lang="fr-FR" sz="2000" dirty="0"/>
              <a:t> matrix </a:t>
            </a:r>
            <a:r>
              <a:rPr lang="fr-FR" sz="2000" dirty="0" err="1"/>
              <a:t>between</a:t>
            </a:r>
            <a:r>
              <a:rPr lang="fr-FR" sz="2000" dirty="0"/>
              <a:t> all the </a:t>
            </a:r>
            <a:r>
              <a:rPr lang="fr-FR" sz="2000" dirty="0" err="1"/>
              <a:t>epochs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label 1 for the 24 participants of the </a:t>
            </a:r>
            <a:r>
              <a:rPr lang="fr-FR" sz="2000" dirty="0" err="1"/>
              <a:t>dataset</a:t>
            </a:r>
            <a:r>
              <a:rPr lang="fr-FR" sz="2000" dirty="0"/>
              <a:t>.</a:t>
            </a:r>
            <a:endParaRPr lang="fr-FR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3647777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5626FA5-B8B0-6F41-D533-DD85C275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67" y="1771797"/>
            <a:ext cx="5133975" cy="424815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8E42E48-F2A2-3446-2E77-B29C853B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Clustering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DCD60-1F99-44F8-FAF8-83E1DBD087EC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BE7800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C23AF16-D554-F117-8AB9-D2B1FCC9BF1A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BE7800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721AE484-5134-7EDE-D524-35309D8FB6BE}"/>
              </a:ext>
            </a:extLst>
          </p:cNvPr>
          <p:cNvSpPr txBox="1">
            <a:spLocks/>
          </p:cNvSpPr>
          <p:nvPr/>
        </p:nvSpPr>
        <p:spPr>
          <a:xfrm>
            <a:off x="740546" y="2679507"/>
            <a:ext cx="4372992" cy="25155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Distance used is the addition of :</a:t>
            </a:r>
          </a:p>
          <a:p>
            <a:r>
              <a:rPr lang="en-US" sz="2400" dirty="0"/>
              <a:t>Riemannian distance</a:t>
            </a:r>
          </a:p>
          <a:p>
            <a:r>
              <a:rPr lang="en-US" sz="2400" dirty="0"/>
              <a:t>Amplitude distance</a:t>
            </a:r>
          </a:p>
          <a:p>
            <a:r>
              <a:rPr lang="en-US" sz="2400" dirty="0"/>
              <a:t>Inter Quartile distance</a:t>
            </a:r>
          </a:p>
          <a:p>
            <a:r>
              <a:rPr lang="en-US" sz="2400" dirty="0"/>
              <a:t>Correlation distance</a:t>
            </a:r>
          </a:p>
          <a:p>
            <a:r>
              <a:rPr lang="en-US" sz="2400" dirty="0"/>
              <a:t>Time of peak distance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404A9DB-5B4F-27FC-F880-22AB5F6C1A9C}"/>
              </a:ext>
            </a:extLst>
          </p:cNvPr>
          <p:cNvSpPr/>
          <p:nvPr/>
        </p:nvSpPr>
        <p:spPr>
          <a:xfrm>
            <a:off x="5868141" y="5699464"/>
            <a:ext cx="186431" cy="195308"/>
          </a:xfrm>
          <a:prstGeom prst="ellipse">
            <a:avLst/>
          </a:prstGeom>
          <a:noFill/>
          <a:ln w="38100">
            <a:solidFill>
              <a:srgbClr val="FC3F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F03A49A-E82F-572A-3DCA-33F6A924BB41}"/>
              </a:ext>
            </a:extLst>
          </p:cNvPr>
          <p:cNvSpPr/>
          <p:nvPr/>
        </p:nvSpPr>
        <p:spPr>
          <a:xfrm>
            <a:off x="7031116" y="5708340"/>
            <a:ext cx="230959" cy="227640"/>
          </a:xfrm>
          <a:prstGeom prst="ellipse">
            <a:avLst/>
          </a:prstGeom>
          <a:noFill/>
          <a:ln w="38100">
            <a:solidFill>
              <a:srgbClr val="FC3F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FF68EBC-2223-E008-09CC-DD909E388DF1}"/>
              </a:ext>
            </a:extLst>
          </p:cNvPr>
          <p:cNvSpPr/>
          <p:nvPr/>
        </p:nvSpPr>
        <p:spPr>
          <a:xfrm>
            <a:off x="7262075" y="5592931"/>
            <a:ext cx="1198344" cy="427016"/>
          </a:xfrm>
          <a:prstGeom prst="ellipse">
            <a:avLst/>
          </a:prstGeom>
          <a:noFill/>
          <a:ln w="38100">
            <a:solidFill>
              <a:srgbClr val="00AA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2C31C58-ED8C-05CB-7879-1C0B29B3C02F}"/>
              </a:ext>
            </a:extLst>
          </p:cNvPr>
          <p:cNvSpPr/>
          <p:nvPr/>
        </p:nvSpPr>
        <p:spPr>
          <a:xfrm>
            <a:off x="6068025" y="5592931"/>
            <a:ext cx="785536" cy="427016"/>
          </a:xfrm>
          <a:prstGeom prst="ellipse">
            <a:avLst/>
          </a:prstGeom>
          <a:noFill/>
          <a:ln w="38100">
            <a:solidFill>
              <a:srgbClr val="BE7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9C0C92D-5E87-F93F-5947-8089BAD0A4A2}"/>
              </a:ext>
            </a:extLst>
          </p:cNvPr>
          <p:cNvCxnSpPr>
            <a:stCxn id="12" idx="3"/>
          </p:cNvCxnSpPr>
          <p:nvPr/>
        </p:nvCxnSpPr>
        <p:spPr>
          <a:xfrm>
            <a:off x="5895443" y="5866170"/>
            <a:ext cx="567501" cy="481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CB1BF5C-06FD-C403-6B42-5BC5ED4D5DBE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6571096" y="5935980"/>
            <a:ext cx="575500" cy="411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56F30F4-2AD9-D7BF-4536-B6ECB4378011}"/>
              </a:ext>
            </a:extLst>
          </p:cNvPr>
          <p:cNvCxnSpPr>
            <a:stCxn id="15" idx="3"/>
          </p:cNvCxnSpPr>
          <p:nvPr/>
        </p:nvCxnSpPr>
        <p:spPr>
          <a:xfrm flipH="1">
            <a:off x="5384442" y="5957412"/>
            <a:ext cx="798622" cy="390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35953CAB-367A-0C20-8CC3-3B523A7E5577}"/>
              </a:ext>
            </a:extLst>
          </p:cNvPr>
          <p:cNvCxnSpPr>
            <a:stCxn id="14" idx="5"/>
          </p:cNvCxnSpPr>
          <p:nvPr/>
        </p:nvCxnSpPr>
        <p:spPr>
          <a:xfrm>
            <a:off x="8284926" y="5957412"/>
            <a:ext cx="584007" cy="390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B4DF690C-FB4A-15A0-5C09-902259B5FA74}"/>
              </a:ext>
            </a:extLst>
          </p:cNvPr>
          <p:cNvSpPr txBox="1"/>
          <p:nvPr/>
        </p:nvSpPr>
        <p:spPr>
          <a:xfrm>
            <a:off x="4687410" y="6347533"/>
            <a:ext cx="1092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Bad </a:t>
            </a:r>
            <a:r>
              <a:rPr lang="fr-FR" sz="1100" dirty="0" err="1"/>
              <a:t>subject</a:t>
            </a:r>
            <a:endParaRPr lang="en-US" sz="11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57984F3-6B0D-9745-8B15-8DA526F43D27}"/>
              </a:ext>
            </a:extLst>
          </p:cNvPr>
          <p:cNvSpPr txBox="1"/>
          <p:nvPr/>
        </p:nvSpPr>
        <p:spPr>
          <a:xfrm>
            <a:off x="5986049" y="6339436"/>
            <a:ext cx="1092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Exception</a:t>
            </a:r>
            <a:endParaRPr lang="en-US" sz="11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7FA57C3-B35B-C5AD-C778-D1C5CC9E1089}"/>
              </a:ext>
            </a:extLst>
          </p:cNvPr>
          <p:cNvSpPr txBox="1"/>
          <p:nvPr/>
        </p:nvSpPr>
        <p:spPr>
          <a:xfrm>
            <a:off x="8395086" y="6347533"/>
            <a:ext cx="12283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Best </a:t>
            </a:r>
            <a:r>
              <a:rPr lang="fr-FR" sz="1100" dirty="0" err="1"/>
              <a:t>subject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37928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7070BE-971D-FACE-B5E5-AD069F83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Future </a:t>
            </a:r>
            <a:r>
              <a:rPr lang="fr-FR" dirty="0" err="1"/>
              <a:t>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227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036973-E828-F979-2AF2-9F0406F2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Future Work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8B6967-B916-DFBC-A108-297362934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Continue </a:t>
            </a:r>
            <a:r>
              <a:rPr lang="fr-FR" dirty="0" err="1"/>
              <a:t>these</a:t>
            </a:r>
            <a:r>
              <a:rPr lang="fr-FR" dirty="0"/>
              <a:t> 2 </a:t>
            </a:r>
            <a:r>
              <a:rPr lang="fr-FR" dirty="0" err="1"/>
              <a:t>researchs</a:t>
            </a:r>
            <a:endParaRPr lang="fr-FR" dirty="0"/>
          </a:p>
          <a:p>
            <a:r>
              <a:rPr lang="fr-FR" dirty="0"/>
              <a:t>Write 2 </a:t>
            </a:r>
            <a:r>
              <a:rPr lang="fr-FR" dirty="0" err="1"/>
              <a:t>papers</a:t>
            </a:r>
            <a:r>
              <a:rPr lang="fr-FR" dirty="0"/>
              <a:t> (one for Expert System </a:t>
            </a:r>
            <a:r>
              <a:rPr lang="fr-FR" dirty="0" err="1"/>
              <a:t>With</a:t>
            </a:r>
            <a:r>
              <a:rPr lang="fr-FR" dirty="0"/>
              <a:t> Application and one for </a:t>
            </a:r>
            <a:r>
              <a:rPr lang="fr-FR" i="1" dirty="0"/>
              <a:t>to </a:t>
            </a:r>
            <a:r>
              <a:rPr lang="fr-FR" i="1" dirty="0" err="1"/>
              <a:t>be</a:t>
            </a:r>
            <a:r>
              <a:rPr lang="fr-FR" i="1" dirty="0"/>
              <a:t> </a:t>
            </a:r>
            <a:r>
              <a:rPr lang="fr-FR" i="1" dirty="0" err="1"/>
              <a:t>determined</a:t>
            </a:r>
            <a:r>
              <a:rPr lang="fr-FR" dirty="0"/>
              <a:t>)</a:t>
            </a:r>
          </a:p>
          <a:p>
            <a:r>
              <a:rPr lang="fr-FR" dirty="0"/>
              <a:t>Collaboration </a:t>
            </a:r>
            <a:r>
              <a:rPr lang="fr-FR" dirty="0" err="1"/>
              <a:t>with</a:t>
            </a:r>
            <a:r>
              <a:rPr lang="fr-FR" dirty="0"/>
              <a:t> Jord </a:t>
            </a:r>
            <a:r>
              <a:rPr lang="fr-FR" dirty="0" err="1"/>
              <a:t>Thielen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mid</a:t>
            </a:r>
            <a:r>
              <a:rPr lang="fr-FR" dirty="0"/>
              <a:t>-March to </a:t>
            </a:r>
            <a:r>
              <a:rPr lang="fr-FR" dirty="0" err="1"/>
              <a:t>mid</a:t>
            </a:r>
            <a:r>
              <a:rPr lang="fr-FR" dirty="0"/>
              <a:t>-May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6FF24D-56CF-996E-C805-046121C6C109}"/>
              </a:ext>
            </a:extLst>
          </p:cNvPr>
          <p:cNvSpPr/>
          <p:nvPr/>
        </p:nvSpPr>
        <p:spPr>
          <a:xfrm>
            <a:off x="10804124" y="5903650"/>
            <a:ext cx="870012" cy="954350"/>
          </a:xfrm>
          <a:prstGeom prst="rect">
            <a:avLst/>
          </a:prstGeom>
          <a:solidFill>
            <a:srgbClr val="3B3436"/>
          </a:solidFill>
          <a:ln>
            <a:solidFill>
              <a:srgbClr val="2E82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BCACCEA-2DE6-1978-3071-FDC62F9A7328}"/>
              </a:ext>
            </a:extLst>
          </p:cNvPr>
          <p:cNvSpPr/>
          <p:nvPr/>
        </p:nvSpPr>
        <p:spPr>
          <a:xfrm>
            <a:off x="10804124" y="5459766"/>
            <a:ext cx="870012" cy="887767"/>
          </a:xfrm>
          <a:prstGeom prst="ellipse">
            <a:avLst/>
          </a:prstGeom>
          <a:solidFill>
            <a:srgbClr val="3B3436"/>
          </a:solidFill>
          <a:ln w="76200"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DF9E2"/>
                </a:solidFill>
              </a:rPr>
              <a:t>24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06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B8123A-D9AB-BBE9-BF81-B634F253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!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AED8FB-0ABB-FF9F-0A7E-DB598E6C6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11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62B9D3-1724-C0E1-47A4-6AB61C3FD63E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640835-495D-703B-85A6-9DD5F1F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26" y="292200"/>
            <a:ext cx="8762246" cy="777240"/>
          </a:xfrm>
        </p:spPr>
        <p:txBody>
          <a:bodyPr/>
          <a:lstStyle/>
          <a:p>
            <a:r>
              <a:rPr lang="fr-FR" dirty="0"/>
              <a:t>CNN</a:t>
            </a:r>
            <a:endParaRPr lang="en-US" dirty="0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D005593C-23D8-9DB8-BC8B-389752A3E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42" y="2217725"/>
            <a:ext cx="2647147" cy="1395480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2B017C70-F734-74A9-2175-FEA591A7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95" y="1683232"/>
            <a:ext cx="8182162" cy="3491537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B108F25C-583A-C1E3-33EC-D2BBF6441D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45" b="4271"/>
          <a:stretch/>
        </p:blipFill>
        <p:spPr>
          <a:xfrm>
            <a:off x="3092263" y="2785200"/>
            <a:ext cx="559032" cy="26053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CEFB09C-B9FF-0D05-D995-4B793964693C}"/>
              </a:ext>
            </a:extLst>
          </p:cNvPr>
          <p:cNvSpPr txBox="1"/>
          <p:nvPr/>
        </p:nvSpPr>
        <p:spPr>
          <a:xfrm>
            <a:off x="0" y="6609412"/>
            <a:ext cx="4529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0" i="0" dirty="0">
                <a:effectLst/>
              </a:rPr>
              <a:t>K. Cabrera </a:t>
            </a:r>
            <a:r>
              <a:rPr lang="fr-FR" sz="900" b="0" i="0" dirty="0" err="1">
                <a:effectLst/>
              </a:rPr>
              <a:t>Castillos</a:t>
            </a:r>
            <a:r>
              <a:rPr lang="fr-FR" sz="900" b="0" i="0" dirty="0">
                <a:effectLst/>
              </a:rPr>
              <a:t>, et al. </a:t>
            </a:r>
            <a:r>
              <a:rPr lang="fr-FR" sz="900" b="0" i="0" dirty="0" err="1">
                <a:effectLst/>
              </a:rPr>
              <a:t>NeuroImage</a:t>
            </a:r>
            <a:r>
              <a:rPr lang="fr-FR" sz="900" b="0" i="0" dirty="0">
                <a:effectLst/>
              </a:rPr>
              <a:t>, page 11, 2023.</a:t>
            </a:r>
          </a:p>
        </p:txBody>
      </p:sp>
    </p:spTree>
    <p:extLst>
      <p:ext uri="{BB962C8B-B14F-4D97-AF65-F5344CB8AC3E}">
        <p14:creationId xmlns:p14="http://schemas.microsoft.com/office/powerpoint/2010/main" val="709166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62B9D3-1724-C0E1-47A4-6AB61C3FD63E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640835-495D-703B-85A6-9DD5F1F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26" y="292200"/>
            <a:ext cx="8762246" cy="777240"/>
          </a:xfrm>
        </p:spPr>
        <p:txBody>
          <a:bodyPr/>
          <a:lstStyle/>
          <a:p>
            <a:r>
              <a:rPr lang="fr-FR" dirty="0"/>
              <a:t>SPDNet</a:t>
            </a:r>
            <a:endParaRPr lang="en-US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7AA9363-AA68-CEE3-1377-BC13CCD66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218" y="2345802"/>
            <a:ext cx="7791808" cy="216639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FC29D66-96B3-9630-B51D-FF064AE87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74" y="2640450"/>
            <a:ext cx="2128313" cy="129158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C6E00AB-8786-E0DB-81A1-4DB4C27208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45" b="4271"/>
          <a:stretch/>
        </p:blipFill>
        <p:spPr>
          <a:xfrm>
            <a:off x="2281287" y="3147570"/>
            <a:ext cx="453938" cy="21155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B541872-D087-6114-89C0-061DEE5C3E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45" b="4271"/>
          <a:stretch/>
        </p:blipFill>
        <p:spPr>
          <a:xfrm>
            <a:off x="4119370" y="3160297"/>
            <a:ext cx="453938" cy="21155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0D70C8-315B-8572-685C-227F8C81851E}"/>
              </a:ext>
            </a:extLst>
          </p:cNvPr>
          <p:cNvSpPr/>
          <p:nvPr/>
        </p:nvSpPr>
        <p:spPr>
          <a:xfrm>
            <a:off x="2773429" y="2841323"/>
            <a:ext cx="1307737" cy="8240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400" dirty="0"/>
              <a:t>Covariance</a:t>
            </a:r>
          </a:p>
          <a:p>
            <a:pPr algn="ctr"/>
            <a:r>
              <a:rPr lang="fr-FR" sz="1400" dirty="0"/>
              <a:t>transformation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6D1DA8D-C5E7-2F04-7326-605C49048179}"/>
              </a:ext>
            </a:extLst>
          </p:cNvPr>
          <p:cNvSpPr txBox="1"/>
          <p:nvPr/>
        </p:nvSpPr>
        <p:spPr>
          <a:xfrm>
            <a:off x="-10937" y="6484122"/>
            <a:ext cx="452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0" i="0" dirty="0">
                <a:effectLst/>
              </a:rPr>
              <a:t>Z. Huang et al. In AAAI, page 9, 2017</a:t>
            </a:r>
          </a:p>
          <a:p>
            <a:r>
              <a:rPr lang="fr-FR" sz="900" b="0" i="0" dirty="0">
                <a:effectLst/>
              </a:rPr>
              <a:t>R. </a:t>
            </a:r>
            <a:r>
              <a:rPr lang="fr-FR" sz="900" b="0" i="0" dirty="0" err="1">
                <a:effectLst/>
              </a:rPr>
              <a:t>Kobler</a:t>
            </a:r>
            <a:r>
              <a:rPr lang="fr-FR" sz="900" b="0" i="0" dirty="0">
                <a:effectLst/>
              </a:rPr>
              <a:t> et al. In </a:t>
            </a:r>
            <a:r>
              <a:rPr lang="fr-FR" sz="900" b="0" i="0" dirty="0" err="1">
                <a:effectLst/>
              </a:rPr>
              <a:t>NeurIPS</a:t>
            </a:r>
            <a:r>
              <a:rPr lang="fr-FR" sz="900" b="0" i="0" dirty="0">
                <a:effectLst/>
              </a:rPr>
              <a:t>, 2022.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34927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62B9D3-1724-C0E1-47A4-6AB61C3FD63E}"/>
              </a:ext>
            </a:extLst>
          </p:cNvPr>
          <p:cNvSpPr/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640835-495D-703B-85A6-9DD5F1F3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26" y="292200"/>
            <a:ext cx="8762246" cy="777240"/>
          </a:xfrm>
        </p:spPr>
        <p:txBody>
          <a:bodyPr/>
          <a:lstStyle/>
          <a:p>
            <a:r>
              <a:rPr lang="fr-FR" dirty="0"/>
              <a:t>GREEN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7846B1-679D-BDE1-4FDC-791FFD7F4B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12"/>
          <a:stretch/>
        </p:blipFill>
        <p:spPr>
          <a:xfrm>
            <a:off x="4616387" y="2268614"/>
            <a:ext cx="7487089" cy="250018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1D0CD7B-71F6-69F1-AA16-713F836AD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4" y="2484584"/>
            <a:ext cx="1695888" cy="1196373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83FFD19-BF9E-54DF-9184-790C8DAB13F1}"/>
              </a:ext>
            </a:extLst>
          </p:cNvPr>
          <p:cNvCxnSpPr/>
          <p:nvPr/>
        </p:nvCxnSpPr>
        <p:spPr>
          <a:xfrm>
            <a:off x="4279037" y="3018408"/>
            <a:ext cx="4172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A4877627-2252-DD89-7406-767F4390F6BF}"/>
              </a:ext>
            </a:extLst>
          </p:cNvPr>
          <p:cNvCxnSpPr/>
          <p:nvPr/>
        </p:nvCxnSpPr>
        <p:spPr>
          <a:xfrm>
            <a:off x="1784412" y="3018408"/>
            <a:ext cx="4172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6FB65-77C2-3929-76AE-8572BADA1309}"/>
              </a:ext>
            </a:extLst>
          </p:cNvPr>
          <p:cNvSpPr/>
          <p:nvPr/>
        </p:nvSpPr>
        <p:spPr>
          <a:xfrm>
            <a:off x="2201662" y="2484584"/>
            <a:ext cx="2077375" cy="119637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400" dirty="0"/>
              <a:t>Spatial </a:t>
            </a:r>
            <a:r>
              <a:rPr lang="fr-FR" sz="1400" dirty="0" err="1"/>
              <a:t>filtering</a:t>
            </a:r>
            <a:r>
              <a:rPr lang="fr-FR" sz="1400" dirty="0"/>
              <a:t> and spatial </a:t>
            </a:r>
            <a:r>
              <a:rPr lang="fr-FR" sz="1400" dirty="0" err="1"/>
              <a:t>recentering</a:t>
            </a:r>
            <a:endParaRPr lang="fr-FR" sz="14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F55CD03-B934-1499-9713-3D5350C3D423}"/>
              </a:ext>
            </a:extLst>
          </p:cNvPr>
          <p:cNvSpPr txBox="1"/>
          <p:nvPr/>
        </p:nvSpPr>
        <p:spPr>
          <a:xfrm>
            <a:off x="0" y="6617285"/>
            <a:ext cx="4529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Paillard, Joseph &amp; all. (2024)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01289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7180D2-53B1-68BF-A3E3-098F54D1B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975" y="276225"/>
            <a:ext cx="11029950" cy="1362075"/>
          </a:xfrm>
          <a:prstGeom prst="rect">
            <a:avLst/>
          </a:prstGeom>
          <a:solidFill>
            <a:srgbClr val="FDF9E2"/>
          </a:solidFill>
          <a:ln>
            <a:solidFill>
              <a:srgbClr val="FDF9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354A15-07E7-550C-BC7A-AACEF165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908C1F-3962-2C68-EB80-0BABD70E4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DF44BF-47D2-CF0E-B55A-F8285C817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87" y="0"/>
            <a:ext cx="11324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594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Conception métropolitaine</Template>
  <TotalTime>3655</TotalTime>
  <Words>739</Words>
  <Application>Microsoft Office PowerPoint</Application>
  <PresentationFormat>Grand écran</PresentationFormat>
  <Paragraphs>154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Arial Black</vt:lpstr>
      <vt:lpstr>Calibri</vt:lpstr>
      <vt:lpstr>Wingdings</vt:lpstr>
      <vt:lpstr>Thème Office</vt:lpstr>
      <vt:lpstr>ANR : advancement point</vt:lpstr>
      <vt:lpstr>Summary</vt:lpstr>
      <vt:lpstr>ESANN PAPER</vt:lpstr>
      <vt:lpstr>Context</vt:lpstr>
      <vt:lpstr>Results</vt:lpstr>
      <vt:lpstr>Methods</vt:lpstr>
      <vt:lpstr>Results</vt:lpstr>
      <vt:lpstr>BEST Classifier for BURST CVEP</vt:lpstr>
      <vt:lpstr>Context</vt:lpstr>
      <vt:lpstr>Methods</vt:lpstr>
      <vt:lpstr>Présentation PowerPoint</vt:lpstr>
      <vt:lpstr>Présentation PowerPoint</vt:lpstr>
      <vt:lpstr>Présentation PowerPoint</vt:lpstr>
      <vt:lpstr>Présentation PowerPoint</vt:lpstr>
      <vt:lpstr>Statistical Study</vt:lpstr>
      <vt:lpstr>InterSubject variability</vt:lpstr>
      <vt:lpstr>Context</vt:lpstr>
      <vt:lpstr>1by1 training/testing matrix</vt:lpstr>
      <vt:lpstr>Présentation PowerPoint</vt:lpstr>
      <vt:lpstr>Présentation PowerPoint</vt:lpstr>
      <vt:lpstr>Présentation PowerPoint</vt:lpstr>
      <vt:lpstr>Clustering</vt:lpstr>
      <vt:lpstr>Future work</vt:lpstr>
      <vt:lpstr>Future Work</vt:lpstr>
      <vt:lpstr>Thank you !</vt:lpstr>
      <vt:lpstr>CNN</vt:lpstr>
      <vt:lpstr>SPDNet</vt:lpstr>
      <vt:lpstr>GREEN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ANR : advancement point</dc:title>
  <dc:creator>Sebastien VELUT</dc:creator>
  <cp:lastModifiedBy>Sebastien VELUT</cp:lastModifiedBy>
  <cp:revision>23</cp:revision>
  <dcterms:created xsi:type="dcterms:W3CDTF">2025-01-14T09:24:10Z</dcterms:created>
  <dcterms:modified xsi:type="dcterms:W3CDTF">2025-01-20T11:06:01Z</dcterms:modified>
</cp:coreProperties>
</file>