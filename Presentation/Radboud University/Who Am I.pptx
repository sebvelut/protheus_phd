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62" r:id="rId4"/>
    <p:sldId id="259" r:id="rId5"/>
    <p:sldId id="267" r:id="rId6"/>
    <p:sldId id="260" r:id="rId7"/>
    <p:sldId id="266" r:id="rId8"/>
    <p:sldId id="264" r:id="rId9"/>
    <p:sldId id="265" r:id="rId10"/>
    <p:sldId id="261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DFFE"/>
    <a:srgbClr val="D0EFBB"/>
    <a:srgbClr val="FFCDCD"/>
    <a:srgbClr val="F8F2F9"/>
    <a:srgbClr val="CBD6F5"/>
    <a:srgbClr val="648EB8"/>
    <a:srgbClr val="BAECDB"/>
    <a:srgbClr val="83D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63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8840-15FB-4602-86AC-5177C729C66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29897-D303-4FEA-A239-3DE731F70BF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4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2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9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8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3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0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46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2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02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66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6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5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4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D572980-FB84-8C29-1FAC-FAC5ECE29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D2D7E570-8F9A-983D-D08D-BAE5D0172C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4449"/>
          <a:stretch/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DDDADD9-737F-6F89-C0E9-1E2E35809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fr-FR" sz="5400" dirty="0" err="1">
                <a:solidFill>
                  <a:srgbClr val="FFFFFF"/>
                </a:solidFill>
              </a:rPr>
              <a:t>Who</a:t>
            </a:r>
            <a:r>
              <a:rPr lang="fr-FR" sz="5400" dirty="0">
                <a:solidFill>
                  <a:srgbClr val="FFFFFF"/>
                </a:solidFill>
              </a:rPr>
              <a:t> Am I ? 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57BBE0-6A7A-30D0-2CE7-B186A8870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fr-FR" sz="2200" dirty="0">
                <a:solidFill>
                  <a:srgbClr val="FFFFFF"/>
                </a:solidFill>
              </a:rPr>
              <a:t>Sébastien </a:t>
            </a:r>
            <a:r>
              <a:rPr lang="fr-FR" sz="2200" dirty="0" err="1">
                <a:solidFill>
                  <a:srgbClr val="FFFFFF"/>
                </a:solidFill>
              </a:rPr>
              <a:t>Velut</a:t>
            </a:r>
            <a:endParaRPr lang="en-US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139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EF9C7160-122F-8ABF-A1A5-7410354D54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5649" b="224"/>
          <a:stretch/>
        </p:blipFill>
        <p:spPr>
          <a:xfrm>
            <a:off x="0" y="-1"/>
            <a:ext cx="12192000" cy="11322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8C00C63-EF71-0407-C8FD-399ED458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am</a:t>
            </a:r>
            <a:r>
              <a:rPr lang="fr-FR" dirty="0"/>
              <a:t> I ? </a:t>
            </a:r>
            <a:endParaRPr lang="en-US" dirty="0"/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9F2B4105-1946-E8DC-196E-35374C0A30AE}"/>
              </a:ext>
            </a:extLst>
          </p:cNvPr>
          <p:cNvSpPr/>
          <p:nvPr/>
        </p:nvSpPr>
        <p:spPr>
          <a:xfrm>
            <a:off x="464091" y="3803771"/>
            <a:ext cx="11099062" cy="1404851"/>
          </a:xfrm>
          <a:prstGeom prst="rightArrow">
            <a:avLst>
              <a:gd name="adj1" fmla="val 27646"/>
              <a:gd name="adj2" fmla="val 29687"/>
            </a:avLst>
          </a:prstGeom>
          <a:solidFill>
            <a:srgbClr val="CBD6F5"/>
          </a:solidFill>
          <a:ln>
            <a:solidFill>
              <a:srgbClr val="CBD6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E54C7E4-DF54-6C14-17D7-2D018605A40B}"/>
              </a:ext>
            </a:extLst>
          </p:cNvPr>
          <p:cNvSpPr txBox="1"/>
          <p:nvPr/>
        </p:nvSpPr>
        <p:spPr>
          <a:xfrm>
            <a:off x="96160" y="4770922"/>
            <a:ext cx="735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2018</a:t>
            </a:r>
            <a:endParaRPr lang="en-US" sz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AF45FBA-5D75-3CC4-3A29-301D9204CBD4}"/>
              </a:ext>
            </a:extLst>
          </p:cNvPr>
          <p:cNvSpPr txBox="1"/>
          <p:nvPr/>
        </p:nvSpPr>
        <p:spPr>
          <a:xfrm>
            <a:off x="5239361" y="4770922"/>
            <a:ext cx="877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March 2022</a:t>
            </a:r>
            <a:endParaRPr lang="en-US" sz="12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44DB768-29BB-3F77-5B94-3115E64903D3}"/>
              </a:ext>
            </a:extLst>
          </p:cNvPr>
          <p:cNvSpPr txBox="1"/>
          <p:nvPr/>
        </p:nvSpPr>
        <p:spPr>
          <a:xfrm>
            <a:off x="8562788" y="4774945"/>
            <a:ext cx="877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Nov</a:t>
            </a:r>
            <a:r>
              <a:rPr lang="fr-FR" sz="1200" dirty="0"/>
              <a:t> 2023</a:t>
            </a:r>
            <a:endParaRPr lang="en-US" sz="1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34855B6-4011-5B04-367E-234CDE8A9D2F}"/>
              </a:ext>
            </a:extLst>
          </p:cNvPr>
          <p:cNvSpPr txBox="1"/>
          <p:nvPr/>
        </p:nvSpPr>
        <p:spPr>
          <a:xfrm>
            <a:off x="10810383" y="5147067"/>
            <a:ext cx="877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/>
              <a:t>Today</a:t>
            </a:r>
            <a:endParaRPr lang="en-US" sz="140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02E4264D-C1F6-19EE-C6EB-FF27ECDCF5E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64091" y="4058676"/>
            <a:ext cx="0" cy="712246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0061E0D-B3AE-098F-15C6-AE8223F4BF64}"/>
              </a:ext>
            </a:extLst>
          </p:cNvPr>
          <p:cNvCxnSpPr>
            <a:cxnSpLocks/>
          </p:cNvCxnSpPr>
          <p:nvPr/>
        </p:nvCxnSpPr>
        <p:spPr>
          <a:xfrm>
            <a:off x="5566526" y="2359607"/>
            <a:ext cx="0" cy="2410411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E84EA20-B1D1-C3BF-BC2C-B438F64AFA2F}"/>
              </a:ext>
            </a:extLst>
          </p:cNvPr>
          <p:cNvCxnSpPr>
            <a:cxnSpLocks/>
          </p:cNvCxnSpPr>
          <p:nvPr/>
        </p:nvCxnSpPr>
        <p:spPr>
          <a:xfrm>
            <a:off x="6841800" y="2359607"/>
            <a:ext cx="0" cy="241041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EF8A1D7-FF70-F273-055D-81C0F6557849}"/>
              </a:ext>
            </a:extLst>
          </p:cNvPr>
          <p:cNvCxnSpPr>
            <a:cxnSpLocks/>
          </p:cNvCxnSpPr>
          <p:nvPr/>
        </p:nvCxnSpPr>
        <p:spPr>
          <a:xfrm flipH="1">
            <a:off x="8864564" y="2359607"/>
            <a:ext cx="10801" cy="241041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2EC3A64-04E8-60FD-5F4F-FCD841A7E362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1249134" y="4036455"/>
            <a:ext cx="0" cy="111061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ccolade ouvrante 34">
            <a:extLst>
              <a:ext uri="{FF2B5EF4-FFF2-40B4-BE49-F238E27FC236}">
                <a16:creationId xmlns:a16="http://schemas.microsoft.com/office/drawing/2014/main" id="{A65434EB-3675-A1BC-C188-DDF22170F1BD}"/>
              </a:ext>
            </a:extLst>
          </p:cNvPr>
          <p:cNvSpPr/>
          <p:nvPr/>
        </p:nvSpPr>
        <p:spPr>
          <a:xfrm rot="16200000" flipH="1">
            <a:off x="2822669" y="1546794"/>
            <a:ext cx="385279" cy="5102438"/>
          </a:xfrm>
          <a:prstGeom prst="leftBrace">
            <a:avLst>
              <a:gd name="adj1" fmla="val 16216"/>
              <a:gd name="adj2" fmla="val 47298"/>
            </a:avLst>
          </a:prstGeom>
          <a:ln>
            <a:solidFill>
              <a:srgbClr val="648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ccolade ouvrante 35">
            <a:extLst>
              <a:ext uri="{FF2B5EF4-FFF2-40B4-BE49-F238E27FC236}">
                <a16:creationId xmlns:a16="http://schemas.microsoft.com/office/drawing/2014/main" id="{1B9BA7C2-D289-4277-16BC-1E1CBC948753}"/>
              </a:ext>
            </a:extLst>
          </p:cNvPr>
          <p:cNvSpPr/>
          <p:nvPr/>
        </p:nvSpPr>
        <p:spPr>
          <a:xfrm rot="16200000" flipH="1">
            <a:off x="6022335" y="3471180"/>
            <a:ext cx="385278" cy="1253661"/>
          </a:xfrm>
          <a:prstGeom prst="leftBrace">
            <a:avLst>
              <a:gd name="adj1" fmla="val 16216"/>
              <a:gd name="adj2" fmla="val 47298"/>
            </a:avLst>
          </a:prstGeom>
          <a:ln>
            <a:solidFill>
              <a:srgbClr val="648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ccolade ouvrante 36">
            <a:extLst>
              <a:ext uri="{FF2B5EF4-FFF2-40B4-BE49-F238E27FC236}">
                <a16:creationId xmlns:a16="http://schemas.microsoft.com/office/drawing/2014/main" id="{93E924B6-CBB6-FD85-739B-3C61AEBB4B38}"/>
              </a:ext>
            </a:extLst>
          </p:cNvPr>
          <p:cNvSpPr/>
          <p:nvPr/>
        </p:nvSpPr>
        <p:spPr>
          <a:xfrm rot="16200000" flipH="1">
            <a:off x="7665944" y="3065647"/>
            <a:ext cx="385280" cy="2011960"/>
          </a:xfrm>
          <a:prstGeom prst="leftBrace">
            <a:avLst>
              <a:gd name="adj1" fmla="val 16216"/>
              <a:gd name="adj2" fmla="val 47298"/>
            </a:avLst>
          </a:prstGeom>
          <a:ln>
            <a:solidFill>
              <a:srgbClr val="648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ccolade ouvrante 37">
            <a:extLst>
              <a:ext uri="{FF2B5EF4-FFF2-40B4-BE49-F238E27FC236}">
                <a16:creationId xmlns:a16="http://schemas.microsoft.com/office/drawing/2014/main" id="{FCE13489-345D-32CD-16A6-9B43199EAF48}"/>
              </a:ext>
            </a:extLst>
          </p:cNvPr>
          <p:cNvSpPr/>
          <p:nvPr/>
        </p:nvSpPr>
        <p:spPr>
          <a:xfrm rot="16200000" flipH="1">
            <a:off x="9824874" y="2883636"/>
            <a:ext cx="474751" cy="2373768"/>
          </a:xfrm>
          <a:prstGeom prst="leftBrace">
            <a:avLst>
              <a:gd name="adj1" fmla="val 16216"/>
              <a:gd name="adj2" fmla="val 47298"/>
            </a:avLst>
          </a:prstGeom>
          <a:ln>
            <a:solidFill>
              <a:srgbClr val="648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A06F7F-295C-2C07-8CFD-7AA1A5430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443" y="2675678"/>
            <a:ext cx="2142841" cy="129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brand | TNO">
            <a:extLst>
              <a:ext uri="{FF2B5EF4-FFF2-40B4-BE49-F238E27FC236}">
                <a16:creationId xmlns:a16="http://schemas.microsoft.com/office/drawing/2014/main" id="{C54AAA8F-C0E8-C9F5-C03C-DE5F78109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47" y="3177844"/>
            <a:ext cx="1620054" cy="91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stitut Pasteur, Paris, France — Google Arts &amp; Culture">
            <a:extLst>
              <a:ext uri="{FF2B5EF4-FFF2-40B4-BE49-F238E27FC236}">
                <a16:creationId xmlns:a16="http://schemas.microsoft.com/office/drawing/2014/main" id="{B6EFDB14-5513-EEFA-3A8B-AD58BF6CD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081" y="3072049"/>
            <a:ext cx="1919006" cy="52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>
            <a:extLst>
              <a:ext uri="{FF2B5EF4-FFF2-40B4-BE49-F238E27FC236}">
                <a16:creationId xmlns:a16="http://schemas.microsoft.com/office/drawing/2014/main" id="{2710DA64-0F0A-BB4A-78D0-CDA632004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562" y="2359607"/>
            <a:ext cx="1302009" cy="78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ISN - Fiche Laboratoire | PostLab">
            <a:extLst>
              <a:ext uri="{FF2B5EF4-FFF2-40B4-BE49-F238E27FC236}">
                <a16:creationId xmlns:a16="http://schemas.microsoft.com/office/drawing/2014/main" id="{F046533B-DF6D-DFB0-61C2-01D703895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9419" y="3085442"/>
            <a:ext cx="1981378" cy="79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ZoneTexte 43">
            <a:extLst>
              <a:ext uri="{FF2B5EF4-FFF2-40B4-BE49-F238E27FC236}">
                <a16:creationId xmlns:a16="http://schemas.microsoft.com/office/drawing/2014/main" id="{49DC5040-2842-6404-E71A-43B44C0F79DC}"/>
              </a:ext>
            </a:extLst>
          </p:cNvPr>
          <p:cNvSpPr txBox="1"/>
          <p:nvPr/>
        </p:nvSpPr>
        <p:spPr>
          <a:xfrm>
            <a:off x="6555614" y="4764940"/>
            <a:ext cx="732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Nov</a:t>
            </a:r>
            <a:r>
              <a:rPr lang="fr-FR" sz="1200" dirty="0"/>
              <a:t> 2022</a:t>
            </a:r>
            <a:endParaRPr lang="en-US" sz="120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A40560B0-C414-A5FB-2547-2D85BE58B5CB}"/>
              </a:ext>
            </a:extLst>
          </p:cNvPr>
          <p:cNvSpPr txBox="1"/>
          <p:nvPr/>
        </p:nvSpPr>
        <p:spPr>
          <a:xfrm>
            <a:off x="2486851" y="4362895"/>
            <a:ext cx="789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Student</a:t>
            </a:r>
            <a:endParaRPr lang="en-US" sz="1200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73185FD7-97E8-073D-C627-FA7B85DA324E}"/>
              </a:ext>
            </a:extLst>
          </p:cNvPr>
          <p:cNvSpPr txBox="1"/>
          <p:nvPr/>
        </p:nvSpPr>
        <p:spPr>
          <a:xfrm>
            <a:off x="5891885" y="4361313"/>
            <a:ext cx="625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Intern</a:t>
            </a:r>
            <a:endParaRPr lang="en-US" sz="1200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8FC43FBD-1783-B723-69F9-6FC4863D6CC9}"/>
              </a:ext>
            </a:extLst>
          </p:cNvPr>
          <p:cNvSpPr txBox="1"/>
          <p:nvPr/>
        </p:nvSpPr>
        <p:spPr>
          <a:xfrm>
            <a:off x="7248344" y="4361313"/>
            <a:ext cx="1215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Data manager</a:t>
            </a:r>
            <a:endParaRPr lang="en-US" sz="1200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1FC35DC5-B2C9-617F-45AC-4CF11B6FC9DC}"/>
              </a:ext>
            </a:extLst>
          </p:cNvPr>
          <p:cNvSpPr txBox="1"/>
          <p:nvPr/>
        </p:nvSpPr>
        <p:spPr>
          <a:xfrm>
            <a:off x="9519272" y="4361313"/>
            <a:ext cx="10859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PhD </a:t>
            </a:r>
            <a:r>
              <a:rPr lang="fr-FR" sz="1200" dirty="0" err="1"/>
              <a:t>Student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46631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EF9C7160-122F-8ABF-A1A5-7410354D54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5649" b="224"/>
          <a:stretch/>
        </p:blipFill>
        <p:spPr>
          <a:xfrm>
            <a:off x="0" y="-1"/>
            <a:ext cx="12192000" cy="11322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8C00C63-EF71-0407-C8FD-399ED458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am</a:t>
            </a:r>
            <a:r>
              <a:rPr lang="fr-FR" dirty="0"/>
              <a:t> I ? </a:t>
            </a:r>
            <a:endParaRPr lang="en-US" dirty="0"/>
          </a:p>
        </p:txBody>
      </p:sp>
      <p:pic>
        <p:nvPicPr>
          <p:cNvPr id="51" name="Picture 2" descr="Dehais Frederic - Toulouse et périphérie | Profil professionnel | LinkedIn">
            <a:extLst>
              <a:ext uri="{FF2B5EF4-FFF2-40B4-BE49-F238E27FC236}">
                <a16:creationId xmlns:a16="http://schemas.microsoft.com/office/drawing/2014/main" id="{F19E897D-8A2E-1B64-F608-62FB1DCB2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12" y="3055955"/>
            <a:ext cx="1330334" cy="1330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Sylvain Chevallier">
            <a:extLst>
              <a:ext uri="{FF2B5EF4-FFF2-40B4-BE49-F238E27FC236}">
                <a16:creationId xmlns:a16="http://schemas.microsoft.com/office/drawing/2014/main" id="{C78CFF54-A3D9-2229-6EAF-BCDC10534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934" y="3055955"/>
            <a:ext cx="1330335" cy="1330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6" descr="Marie-Constance Corsi - Research Scientist - Inria | LinkedIn">
            <a:extLst>
              <a:ext uri="{FF2B5EF4-FFF2-40B4-BE49-F238E27FC236}">
                <a16:creationId xmlns:a16="http://schemas.microsoft.com/office/drawing/2014/main" id="{C5E58B2F-0074-5A5B-FF5B-91EFCF11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777" y="3055955"/>
            <a:ext cx="1330334" cy="1330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ZoneTexte 8">
            <a:extLst>
              <a:ext uri="{FF2B5EF4-FFF2-40B4-BE49-F238E27FC236}">
                <a16:creationId xmlns:a16="http://schemas.microsoft.com/office/drawing/2014/main" id="{7EF638B4-D9D2-7599-25F1-7135FB9F1D26}"/>
              </a:ext>
            </a:extLst>
          </p:cNvPr>
          <p:cNvSpPr txBox="1"/>
          <p:nvPr/>
        </p:nvSpPr>
        <p:spPr>
          <a:xfrm>
            <a:off x="930904" y="4408521"/>
            <a:ext cx="1330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400" b="1" dirty="0"/>
              <a:t>Frédéric </a:t>
            </a:r>
            <a:r>
              <a:rPr lang="fr-FR" sz="1400" b="1" dirty="0" err="1"/>
              <a:t>Dehais</a:t>
            </a:r>
            <a:endParaRPr lang="en-US" sz="1400" b="1" dirty="0"/>
          </a:p>
        </p:txBody>
      </p:sp>
      <p:sp>
        <p:nvSpPr>
          <p:cNvPr id="55" name="ZoneTexte 9">
            <a:extLst>
              <a:ext uri="{FF2B5EF4-FFF2-40B4-BE49-F238E27FC236}">
                <a16:creationId xmlns:a16="http://schemas.microsoft.com/office/drawing/2014/main" id="{0D4C0348-0850-CF97-BD57-34F16AAE33A1}"/>
              </a:ext>
            </a:extLst>
          </p:cNvPr>
          <p:cNvSpPr txBox="1"/>
          <p:nvPr/>
        </p:nvSpPr>
        <p:spPr>
          <a:xfrm>
            <a:off x="2947126" y="4408521"/>
            <a:ext cx="1330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400" b="1" dirty="0"/>
              <a:t>Sylvain Chevallier</a:t>
            </a:r>
            <a:endParaRPr lang="en-US" sz="1400" b="1" dirty="0"/>
          </a:p>
        </p:txBody>
      </p:sp>
      <p:sp>
        <p:nvSpPr>
          <p:cNvPr id="56" name="ZoneTexte 10">
            <a:extLst>
              <a:ext uri="{FF2B5EF4-FFF2-40B4-BE49-F238E27FC236}">
                <a16:creationId xmlns:a16="http://schemas.microsoft.com/office/drawing/2014/main" id="{DE286ACF-BC7D-CAC9-0117-AA3286E50D6A}"/>
              </a:ext>
            </a:extLst>
          </p:cNvPr>
          <p:cNvSpPr txBox="1"/>
          <p:nvPr/>
        </p:nvSpPr>
        <p:spPr>
          <a:xfrm>
            <a:off x="4883124" y="4409834"/>
            <a:ext cx="1669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400" b="1" dirty="0"/>
              <a:t>Marie-Constance </a:t>
            </a:r>
            <a:r>
              <a:rPr lang="fr-FR" sz="1400" b="1" dirty="0" err="1"/>
              <a:t>Corsi</a:t>
            </a:r>
            <a:endParaRPr lang="en-US" sz="1400" b="1" dirty="0"/>
          </a:p>
        </p:txBody>
      </p:sp>
      <p:pic>
        <p:nvPicPr>
          <p:cNvPr id="10" name="Graphique 9" descr="Badge à suivre avec un remplissage uni">
            <a:extLst>
              <a:ext uri="{FF2B5EF4-FFF2-40B4-BE49-F238E27FC236}">
                <a16:creationId xmlns:a16="http://schemas.microsoft.com/office/drawing/2014/main" id="{402266B2-9069-6134-4046-FA58B5B327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6889" y="3429000"/>
            <a:ext cx="529268" cy="529268"/>
          </a:xfrm>
          <a:prstGeom prst="rect">
            <a:avLst/>
          </a:prstGeom>
        </p:spPr>
      </p:pic>
      <p:sp>
        <p:nvSpPr>
          <p:cNvPr id="16" name="ZoneTexte 9">
            <a:extLst>
              <a:ext uri="{FF2B5EF4-FFF2-40B4-BE49-F238E27FC236}">
                <a16:creationId xmlns:a16="http://schemas.microsoft.com/office/drawing/2014/main" id="{A2B0B3EB-81C4-7A8F-C1CA-1AB45958B90F}"/>
              </a:ext>
            </a:extLst>
          </p:cNvPr>
          <p:cNvSpPr txBox="1"/>
          <p:nvPr/>
        </p:nvSpPr>
        <p:spPr>
          <a:xfrm>
            <a:off x="2350666" y="3429000"/>
            <a:ext cx="3640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3200" b="1" dirty="0"/>
              <a:t>&amp;</a:t>
            </a:r>
            <a:endParaRPr lang="en-US" sz="3200" b="1" dirty="0"/>
          </a:p>
        </p:txBody>
      </p:sp>
      <p:pic>
        <p:nvPicPr>
          <p:cNvPr id="2050" name="Picture 2" descr="Carte de france region : 1 448 images vectorielles de stock et images  vectorielles | Shutterstock">
            <a:extLst>
              <a:ext uri="{FF2B5EF4-FFF2-40B4-BE49-F238E27FC236}">
                <a16:creationId xmlns:a16="http://schemas.microsoft.com/office/drawing/2014/main" id="{B9A56C3A-2383-6AEF-5B74-53F3E9040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000" b="93667" l="2500" r="97667">
                        <a14:foregroundMark x1="6500" y1="29000" x2="8667" y2="28333"/>
                        <a14:foregroundMark x1="2500" y1="29333" x2="8000" y2="31000"/>
                        <a14:foregroundMark x1="27333" y1="50000" x2="15667" y2="38000"/>
                        <a14:foregroundMark x1="15667" y1="38000" x2="15500" y2="40167"/>
                        <a14:foregroundMark x1="18000" y1="38167" x2="18000" y2="38167"/>
                        <a14:foregroundMark x1="12500" y1="36667" x2="12500" y2="36667"/>
                        <a14:foregroundMark x1="12833" y1="36833" x2="14167" y2="37667"/>
                        <a14:foregroundMark x1="96833" y1="81167" x2="96833" y2="90167"/>
                        <a14:foregroundMark x1="96833" y1="90167" x2="97667" y2="81667"/>
                        <a14:foregroundMark x1="96000" y1="88167" x2="93333" y2="93833"/>
                        <a14:foregroundMark x1="28167" y1="54667" x2="26333" y2="51833"/>
                        <a14:foregroundMark x1="27667" y1="52667" x2="27333" y2="52167"/>
                        <a14:foregroundMark x1="27333" y1="52167" x2="27333" y2="52167"/>
                        <a14:foregroundMark x1="27500" y1="53667" x2="27500" y2="53667"/>
                        <a14:foregroundMark x1="46000" y1="11167" x2="52833" y2="6000"/>
                        <a14:foregroundMark x1="52833" y1="6000" x2="57333" y2="10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296" y="2050608"/>
            <a:ext cx="3815320" cy="381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63955505-6AE5-5370-43FA-5898D69BF6A4}"/>
              </a:ext>
            </a:extLst>
          </p:cNvPr>
          <p:cNvSpPr/>
          <p:nvPr/>
        </p:nvSpPr>
        <p:spPr>
          <a:xfrm>
            <a:off x="9426276" y="3021850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72516D3-30DE-2752-7F45-9D9A85944A2E}"/>
              </a:ext>
            </a:extLst>
          </p:cNvPr>
          <p:cNvSpPr/>
          <p:nvPr/>
        </p:nvSpPr>
        <p:spPr>
          <a:xfrm>
            <a:off x="9222014" y="4838083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7886A43-F336-4C8B-9C2D-5B42812BCE1C}"/>
              </a:ext>
            </a:extLst>
          </p:cNvPr>
          <p:cNvSpPr txBox="1"/>
          <p:nvPr/>
        </p:nvSpPr>
        <p:spPr>
          <a:xfrm>
            <a:off x="9426276" y="2926080"/>
            <a:ext cx="670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Paris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7413186-8186-2B63-1786-8547930DC149}"/>
              </a:ext>
            </a:extLst>
          </p:cNvPr>
          <p:cNvSpPr txBox="1"/>
          <p:nvPr/>
        </p:nvSpPr>
        <p:spPr>
          <a:xfrm>
            <a:off x="9251740" y="4730137"/>
            <a:ext cx="8450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</a:rPr>
              <a:t>Toulouse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255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EF9C7160-122F-8ABF-A1A5-7410354D54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5649" b="224"/>
          <a:stretch/>
        </p:blipFill>
        <p:spPr>
          <a:xfrm>
            <a:off x="0" y="-1"/>
            <a:ext cx="12192000" cy="11322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8C00C63-EF71-0407-C8FD-399ED458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My</a:t>
            </a:r>
            <a:r>
              <a:rPr lang="fr-FR" dirty="0"/>
              <a:t> PhD</a:t>
            </a:r>
            <a:endParaRPr lang="en-US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52347E0-E9ED-760C-4267-F13B8B5CA685}"/>
              </a:ext>
            </a:extLst>
          </p:cNvPr>
          <p:cNvSpPr/>
          <p:nvPr/>
        </p:nvSpPr>
        <p:spPr>
          <a:xfrm>
            <a:off x="1630871" y="1325851"/>
            <a:ext cx="8617131" cy="53731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199F4CA-E899-182D-277F-936C6DA16622}"/>
              </a:ext>
            </a:extLst>
          </p:cNvPr>
          <p:cNvSpPr/>
          <p:nvPr/>
        </p:nvSpPr>
        <p:spPr>
          <a:xfrm>
            <a:off x="5625737" y="3544389"/>
            <a:ext cx="4362994" cy="2272937"/>
          </a:xfrm>
          <a:prstGeom prst="ellipse">
            <a:avLst/>
          </a:prstGeom>
          <a:solidFill>
            <a:srgbClr val="CBD6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My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PhD:</a:t>
            </a:r>
          </a:p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Understanding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and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adressing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the cross-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subjects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/sessions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variabilities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in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Burst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-CVEP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based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passive/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reactive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BCI.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076" name="Picture 4" descr="Agence Nationale de la Recherche (ANR) - Domain Therapeutics Group">
            <a:extLst>
              <a:ext uri="{FF2B5EF4-FFF2-40B4-BE49-F238E27FC236}">
                <a16:creationId xmlns:a16="http://schemas.microsoft.com/office/drawing/2014/main" id="{C884CD19-79EC-5EE4-125E-F182402A6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858" y="2205708"/>
            <a:ext cx="1532710" cy="153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D5DDD14-CB25-2FB9-EF3C-55E135B4B67F}"/>
              </a:ext>
            </a:extLst>
          </p:cNvPr>
          <p:cNvSpPr txBox="1"/>
          <p:nvPr/>
        </p:nvSpPr>
        <p:spPr>
          <a:xfrm>
            <a:off x="1793288" y="3313611"/>
            <a:ext cx="41104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PROTEUS: </a:t>
            </a:r>
          </a:p>
          <a:p>
            <a:pPr algn="ctr"/>
            <a:r>
              <a:rPr lang="fr-FR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mesurer, comprendre et combattre les variabilités dans les interactions cerveau-ordinateur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10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EF9C7160-122F-8ABF-A1A5-7410354D54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5649" b="224"/>
          <a:stretch/>
        </p:blipFill>
        <p:spPr>
          <a:xfrm>
            <a:off x="0" y="-1"/>
            <a:ext cx="12192000" cy="11322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8C00C63-EF71-0407-C8FD-399ED458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work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7EB7F6-A5C4-14D1-0023-52ECF07D6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3323627" cy="592239"/>
          </a:xfrm>
        </p:spPr>
        <p:txBody>
          <a:bodyPr/>
          <a:lstStyle/>
          <a:p>
            <a:pPr marL="0" indent="0">
              <a:buNone/>
            </a:pPr>
            <a:r>
              <a:rPr lang="fr-FR" dirty="0" err="1"/>
              <a:t>Wokring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Burst</a:t>
            </a:r>
            <a:r>
              <a:rPr lang="fr-FR" dirty="0"/>
              <a:t>-CVEP: </a:t>
            </a:r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686BC19-CF89-E455-1798-87289FE83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91" y="2390113"/>
            <a:ext cx="3898989" cy="3817883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1ACC90B6-1437-6AA9-BB1F-B54FC9222556}"/>
              </a:ext>
            </a:extLst>
          </p:cNvPr>
          <p:cNvGrpSpPr/>
          <p:nvPr/>
        </p:nvGrpSpPr>
        <p:grpSpPr>
          <a:xfrm>
            <a:off x="7355452" y="2675239"/>
            <a:ext cx="3334674" cy="3532757"/>
            <a:chOff x="7294546" y="2255666"/>
            <a:chExt cx="3334674" cy="3532757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F7E59954-4EC7-518D-5544-EEE03B635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7319"/>
            <a:stretch/>
          </p:blipFill>
          <p:spPr>
            <a:xfrm>
              <a:off x="7294546" y="2264173"/>
              <a:ext cx="1596906" cy="352425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3FF61BF6-A6B0-5E90-DD99-EF880AF5F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4436"/>
            <a:stretch/>
          </p:blipFill>
          <p:spPr>
            <a:xfrm>
              <a:off x="8891452" y="2255666"/>
              <a:ext cx="1737768" cy="3524250"/>
            </a:xfrm>
            <a:prstGeom prst="rect">
              <a:avLst/>
            </a:prstGeom>
          </p:spPr>
        </p:pic>
      </p:grp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5A0C66AE-28AE-50B9-C07D-1BAAD5D4BAFC}"/>
              </a:ext>
            </a:extLst>
          </p:cNvPr>
          <p:cNvSpPr txBox="1">
            <a:spLocks/>
          </p:cNvSpPr>
          <p:nvPr/>
        </p:nvSpPr>
        <p:spPr>
          <a:xfrm>
            <a:off x="6808796" y="1689350"/>
            <a:ext cx="3989834" cy="1491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 err="1"/>
              <a:t>With</a:t>
            </a:r>
            <a:r>
              <a:rPr lang="fr-FR" dirty="0"/>
              <a:t> plain or </a:t>
            </a:r>
            <a:r>
              <a:rPr lang="fr-FR" dirty="0" err="1"/>
              <a:t>Ricker</a:t>
            </a:r>
            <a:r>
              <a:rPr lang="fr-FR" dirty="0"/>
              <a:t> </a:t>
            </a:r>
            <a:r>
              <a:rPr lang="fr-FR" dirty="0" err="1"/>
              <a:t>patched</a:t>
            </a:r>
            <a:r>
              <a:rPr lang="fr-FR" dirty="0"/>
              <a:t> flickers: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22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EF9C7160-122F-8ABF-A1A5-7410354D54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5649" b="224"/>
          <a:stretch/>
        </p:blipFill>
        <p:spPr>
          <a:xfrm>
            <a:off x="0" y="-1"/>
            <a:ext cx="12192000" cy="11322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8C00C63-EF71-0407-C8FD-399ED458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: </a:t>
            </a:r>
            <a:r>
              <a:rPr lang="fr-FR" dirty="0" err="1"/>
              <a:t>Previous</a:t>
            </a:r>
            <a:r>
              <a:rPr lang="fr-FR" dirty="0"/>
              <a:t> </a:t>
            </a:r>
            <a:r>
              <a:rPr lang="fr-FR" dirty="0" err="1"/>
              <a:t>work</a:t>
            </a:r>
            <a:endParaRPr lang="en-US" dirty="0"/>
          </a:p>
        </p:txBody>
      </p:sp>
      <p:pic>
        <p:nvPicPr>
          <p:cNvPr id="5" name="Image 4" descr="Une image contenant texte, diagramme, capture d’écran, nombre&#10;&#10;Description générée automatiquement">
            <a:extLst>
              <a:ext uri="{FF2B5EF4-FFF2-40B4-BE49-F238E27FC236}">
                <a16:creationId xmlns:a16="http://schemas.microsoft.com/office/drawing/2014/main" id="{8634BF00-EC32-41C2-B9BF-95BBE1F62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568" y="1546706"/>
            <a:ext cx="4803784" cy="4727964"/>
          </a:xfrm>
          <a:prstGeom prst="rect">
            <a:avLst/>
          </a:prstGeom>
        </p:spPr>
      </p:pic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32FC7CDC-BD05-7824-246B-1FB1F6F00CAC}"/>
              </a:ext>
            </a:extLst>
          </p:cNvPr>
          <p:cNvSpPr>
            <a:spLocks noGrp="1"/>
          </p:cNvSpPr>
          <p:nvPr/>
        </p:nvSpPr>
        <p:spPr bwMode="auto">
          <a:xfrm>
            <a:off x="1318124" y="2850989"/>
            <a:ext cx="4342447" cy="2880320"/>
          </a:xfrm>
          <a:prstGeom prst="round2DiagRect">
            <a:avLst/>
          </a:prstGeom>
          <a:ln w="76200">
            <a:solidFill>
              <a:srgbClr val="C00000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3600">
                <a:solidFill>
                  <a:schemeClr val="tx1"/>
                </a:solidFill>
                <a:latin typeface="Arial"/>
                <a:ea typeface="Arial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Arial"/>
                <a:ea typeface="Arial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400" dirty="0"/>
              <a:t>In Burst-CVEP based BCI:</a:t>
            </a:r>
          </a:p>
          <a:p>
            <a:pPr marL="0" indent="0">
              <a:buNone/>
            </a:pPr>
            <a:r>
              <a:rPr lang="en-US" sz="400" dirty="0"/>
              <a:t> </a:t>
            </a:r>
            <a:endParaRPr lang="en-US" sz="2000" dirty="0"/>
          </a:p>
          <a:p>
            <a:r>
              <a:rPr lang="en-US" sz="2400" dirty="0"/>
              <a:t>Domain adaptation &gt; Domain Generalization</a:t>
            </a:r>
          </a:p>
          <a:p>
            <a:r>
              <a:rPr lang="en-US" sz="2400" dirty="0"/>
              <a:t>SPDNet on par with the CNN</a:t>
            </a:r>
          </a:p>
          <a:p>
            <a:r>
              <a:rPr lang="en-US" sz="2400" dirty="0"/>
              <a:t>SPDBNNet is too slow</a:t>
            </a:r>
          </a:p>
        </p:txBody>
      </p:sp>
      <p:pic>
        <p:nvPicPr>
          <p:cNvPr id="4098" name="Picture 2" descr="ESANN 2024 - Cognivia">
            <a:extLst>
              <a:ext uri="{FF2B5EF4-FFF2-40B4-BE49-F238E27FC236}">
                <a16:creationId xmlns:a16="http://schemas.microsoft.com/office/drawing/2014/main" id="{7BBD5F2C-C84A-5DD8-FA09-D0CE3D2D4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409" y="1811383"/>
            <a:ext cx="3659024" cy="70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249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EF9C7160-122F-8ABF-A1A5-7410354D54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5649" b="224"/>
          <a:stretch/>
        </p:blipFill>
        <p:spPr>
          <a:xfrm>
            <a:off x="0" y="-1"/>
            <a:ext cx="12192000" cy="11322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8C00C63-EF71-0407-C8FD-399ED458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: </a:t>
            </a:r>
            <a:r>
              <a:rPr lang="fr-FR" dirty="0" err="1"/>
              <a:t>current</a:t>
            </a:r>
            <a:r>
              <a:rPr lang="fr-FR" dirty="0"/>
              <a:t> </a:t>
            </a:r>
            <a:r>
              <a:rPr lang="fr-FR" dirty="0" err="1"/>
              <a:t>work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7EB7F6-A5C4-14D1-0023-52ECF07D6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9210622" cy="4593828"/>
          </a:xfrm>
        </p:spPr>
        <p:txBody>
          <a:bodyPr/>
          <a:lstStyle/>
          <a:p>
            <a:r>
              <a:rPr lang="fr-FR" dirty="0"/>
              <a:t>GREEN vs CNN vs TSLDA</a:t>
            </a:r>
          </a:p>
          <a:p>
            <a:r>
              <a:rPr lang="fr-FR" dirty="0" err="1"/>
              <a:t>With</a:t>
            </a:r>
            <a:r>
              <a:rPr lang="fr-FR" dirty="0"/>
              <a:t> or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pretreatment</a:t>
            </a:r>
            <a:endParaRPr lang="fr-FR" dirty="0"/>
          </a:p>
          <a:p>
            <a:r>
              <a:rPr lang="fr-FR" dirty="0"/>
              <a:t>Single </a:t>
            </a:r>
            <a:r>
              <a:rPr lang="fr-FR" dirty="0" err="1"/>
              <a:t>Subject</a:t>
            </a:r>
            <a:r>
              <a:rPr lang="fr-FR" dirty="0"/>
              <a:t> (</a:t>
            </a:r>
            <a:r>
              <a:rPr lang="fr-FR" dirty="0" err="1"/>
              <a:t>SiSu</a:t>
            </a:r>
            <a:r>
              <a:rPr lang="fr-FR" dirty="0"/>
              <a:t>) vs Domain adaptation (DA)</a:t>
            </a:r>
            <a:endParaRPr lang="en-US" dirty="0"/>
          </a:p>
        </p:txBody>
      </p:sp>
      <p:pic>
        <p:nvPicPr>
          <p:cNvPr id="12" name="Image 11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2A60BF1F-E2FB-7B21-16AD-F99A589F4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41" y="4115465"/>
            <a:ext cx="5392861" cy="1892539"/>
          </a:xfrm>
          <a:prstGeom prst="rect">
            <a:avLst/>
          </a:prstGeom>
        </p:spPr>
      </p:pic>
      <p:sp>
        <p:nvSpPr>
          <p:cNvPr id="5" name="ZoneTexte 6">
            <a:extLst>
              <a:ext uri="{FF2B5EF4-FFF2-40B4-BE49-F238E27FC236}">
                <a16:creationId xmlns:a16="http://schemas.microsoft.com/office/drawing/2014/main" id="{BF75E162-3034-0CB9-2821-80B8FC207576}"/>
              </a:ext>
            </a:extLst>
          </p:cNvPr>
          <p:cNvSpPr txBox="1"/>
          <p:nvPr/>
        </p:nvSpPr>
        <p:spPr>
          <a:xfrm>
            <a:off x="6375692" y="3984660"/>
            <a:ext cx="2077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FR" sz="1100" dirty="0"/>
              <a:t>Domain Adaptation (DA)</a:t>
            </a:r>
          </a:p>
        </p:txBody>
      </p:sp>
      <p:sp>
        <p:nvSpPr>
          <p:cNvPr id="6" name="ZoneTexte 7">
            <a:extLst>
              <a:ext uri="{FF2B5EF4-FFF2-40B4-BE49-F238E27FC236}">
                <a16:creationId xmlns:a16="http://schemas.microsoft.com/office/drawing/2014/main" id="{1E7227B8-6E71-EA3A-97FC-6A5268B878AB}"/>
              </a:ext>
            </a:extLst>
          </p:cNvPr>
          <p:cNvSpPr txBox="1"/>
          <p:nvPr/>
        </p:nvSpPr>
        <p:spPr>
          <a:xfrm>
            <a:off x="6718119" y="5423175"/>
            <a:ext cx="1467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FR" sz="1100" dirty="0"/>
              <a:t>Single </a:t>
            </a:r>
            <a:r>
              <a:rPr lang="fr-FR" sz="1100" dirty="0" err="1"/>
              <a:t>Subject</a:t>
            </a:r>
            <a:r>
              <a:rPr lang="fr-FR" sz="1100" dirty="0"/>
              <a:t> (SS)</a:t>
            </a:r>
          </a:p>
        </p:txBody>
      </p:sp>
      <p:pic>
        <p:nvPicPr>
          <p:cNvPr id="7" name="Graphique 19" descr="Utilisateur avec un remplissage uni">
            <a:extLst>
              <a:ext uri="{FF2B5EF4-FFF2-40B4-BE49-F238E27FC236}">
                <a16:creationId xmlns:a16="http://schemas.microsoft.com/office/drawing/2014/main" id="{C4314648-B79D-DEBA-450B-D3FB4A9725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5494" y="3756126"/>
            <a:ext cx="513643" cy="513643"/>
          </a:xfrm>
          <a:prstGeom prst="rect">
            <a:avLst/>
          </a:prstGeom>
        </p:spPr>
      </p:pic>
      <p:pic>
        <p:nvPicPr>
          <p:cNvPr id="8" name="Graphique 20" descr="Utilisateur avec un remplissage uni">
            <a:extLst>
              <a:ext uri="{FF2B5EF4-FFF2-40B4-BE49-F238E27FC236}">
                <a16:creationId xmlns:a16="http://schemas.microsoft.com/office/drawing/2014/main" id="{AB727B79-D746-863E-7408-C788F0F08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5485" y="3756125"/>
            <a:ext cx="513643" cy="513643"/>
          </a:xfrm>
          <a:prstGeom prst="rect">
            <a:avLst/>
          </a:prstGeom>
        </p:spPr>
      </p:pic>
      <p:pic>
        <p:nvPicPr>
          <p:cNvPr id="9" name="Graphique 21" descr="Utilisateur avec un remplissage uni">
            <a:extLst>
              <a:ext uri="{FF2B5EF4-FFF2-40B4-BE49-F238E27FC236}">
                <a16:creationId xmlns:a16="http://schemas.microsoft.com/office/drawing/2014/main" id="{9B753D7F-3843-8DB9-53C3-6C7E6E528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9121" y="3756125"/>
            <a:ext cx="513643" cy="513643"/>
          </a:xfrm>
          <a:prstGeom prst="rect">
            <a:avLst/>
          </a:prstGeom>
        </p:spPr>
      </p:pic>
      <p:pic>
        <p:nvPicPr>
          <p:cNvPr id="10" name="Graphique 22" descr="Utilisateur avec un remplissage uni">
            <a:extLst>
              <a:ext uri="{FF2B5EF4-FFF2-40B4-BE49-F238E27FC236}">
                <a16:creationId xmlns:a16="http://schemas.microsoft.com/office/drawing/2014/main" id="{1C4B8018-B1A3-9143-B3FD-838C2CD6ED1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3684" t="4567"/>
          <a:stretch/>
        </p:blipFill>
        <p:spPr>
          <a:xfrm>
            <a:off x="11102956" y="3779587"/>
            <a:ext cx="340627" cy="490181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10B2A3B2-6098-BE9A-338E-D9AC9970F577}"/>
              </a:ext>
            </a:extLst>
          </p:cNvPr>
          <p:cNvSpPr/>
          <p:nvPr/>
        </p:nvSpPr>
        <p:spPr>
          <a:xfrm>
            <a:off x="9243679" y="404045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BB5C443-DC95-4BB8-D458-7DF25E0827E6}"/>
              </a:ext>
            </a:extLst>
          </p:cNvPr>
          <p:cNvSpPr/>
          <p:nvPr/>
        </p:nvSpPr>
        <p:spPr>
          <a:xfrm>
            <a:off x="9108581" y="403734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FDA8B10-4D44-C17F-7B32-79D8C0D05489}"/>
              </a:ext>
            </a:extLst>
          </p:cNvPr>
          <p:cNvSpPr/>
          <p:nvPr/>
        </p:nvSpPr>
        <p:spPr>
          <a:xfrm>
            <a:off x="9374023" y="403734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Accolade ouvrante 14">
            <a:extLst>
              <a:ext uri="{FF2B5EF4-FFF2-40B4-BE49-F238E27FC236}">
                <a16:creationId xmlns:a16="http://schemas.microsoft.com/office/drawing/2014/main" id="{73F4E364-2A23-5DB8-4F8D-B3EA710013E6}"/>
              </a:ext>
            </a:extLst>
          </p:cNvPr>
          <p:cNvSpPr/>
          <p:nvPr/>
        </p:nvSpPr>
        <p:spPr>
          <a:xfrm rot="16200000">
            <a:off x="9256987" y="3246783"/>
            <a:ext cx="114087" cy="22574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6" name="Accolade ouvrante 15">
            <a:extLst>
              <a:ext uri="{FF2B5EF4-FFF2-40B4-BE49-F238E27FC236}">
                <a16:creationId xmlns:a16="http://schemas.microsoft.com/office/drawing/2014/main" id="{8DBEAB85-AE2E-95C7-B259-7060D993DFAD}"/>
              </a:ext>
            </a:extLst>
          </p:cNvPr>
          <p:cNvSpPr/>
          <p:nvPr/>
        </p:nvSpPr>
        <p:spPr>
          <a:xfrm rot="16200000">
            <a:off x="11129718" y="4145164"/>
            <a:ext cx="114086" cy="4458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7" name="ZoneTexte 28">
            <a:extLst>
              <a:ext uri="{FF2B5EF4-FFF2-40B4-BE49-F238E27FC236}">
                <a16:creationId xmlns:a16="http://schemas.microsoft.com/office/drawing/2014/main" id="{9C44A972-1345-CA19-6AF7-CA88EF3E9A1F}"/>
              </a:ext>
            </a:extLst>
          </p:cNvPr>
          <p:cNvSpPr txBox="1"/>
          <p:nvPr/>
        </p:nvSpPr>
        <p:spPr>
          <a:xfrm>
            <a:off x="8189069" y="4547498"/>
            <a:ext cx="22536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050" dirty="0"/>
              <a:t>Training/val data:</a:t>
            </a:r>
          </a:p>
          <a:p>
            <a:pPr algn="ctr"/>
            <a:r>
              <a:rPr lang="fr-FR" sz="1050" dirty="0"/>
              <a:t>N </a:t>
            </a:r>
            <a:r>
              <a:rPr lang="fr-FR" sz="1050" dirty="0" err="1"/>
              <a:t>subjects</a:t>
            </a:r>
            <a:r>
              <a:rPr lang="fr-FR" sz="1050" dirty="0"/>
              <a:t> et a part of N+1th </a:t>
            </a:r>
            <a:r>
              <a:rPr lang="fr-FR" sz="1050" dirty="0" err="1"/>
              <a:t>subject</a:t>
            </a:r>
            <a:endParaRPr lang="fr-FR" sz="1050" dirty="0"/>
          </a:p>
        </p:txBody>
      </p:sp>
      <p:pic>
        <p:nvPicPr>
          <p:cNvPr id="18" name="Graphique 29" descr="Utilisateur avec un remplissage uni">
            <a:extLst>
              <a:ext uri="{FF2B5EF4-FFF2-40B4-BE49-F238E27FC236}">
                <a16:creationId xmlns:a16="http://schemas.microsoft.com/office/drawing/2014/main" id="{C0912E53-B5DE-DABC-59B5-7085DB07757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4567" r="64366"/>
          <a:stretch/>
        </p:blipFill>
        <p:spPr>
          <a:xfrm>
            <a:off x="9929114" y="3779587"/>
            <a:ext cx="183029" cy="490181"/>
          </a:xfrm>
          <a:prstGeom prst="rect">
            <a:avLst/>
          </a:prstGeom>
        </p:spPr>
      </p:pic>
      <p:sp>
        <p:nvSpPr>
          <p:cNvPr id="19" name="ZoneTexte 30">
            <a:extLst>
              <a:ext uri="{FF2B5EF4-FFF2-40B4-BE49-F238E27FC236}">
                <a16:creationId xmlns:a16="http://schemas.microsoft.com/office/drawing/2014/main" id="{D65D952B-500F-C9D5-C3BD-28DDE7A7C0CA}"/>
              </a:ext>
            </a:extLst>
          </p:cNvPr>
          <p:cNvSpPr txBox="1"/>
          <p:nvPr/>
        </p:nvSpPr>
        <p:spPr>
          <a:xfrm>
            <a:off x="10354538" y="4547498"/>
            <a:ext cx="183746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050" dirty="0" err="1"/>
              <a:t>Testing</a:t>
            </a:r>
            <a:r>
              <a:rPr lang="fr-FR" sz="1050" dirty="0"/>
              <a:t> data:</a:t>
            </a:r>
          </a:p>
          <a:p>
            <a:pPr algn="ctr"/>
            <a:r>
              <a:rPr lang="fr-FR" sz="1050" dirty="0" err="1"/>
              <a:t>Rest</a:t>
            </a:r>
            <a:r>
              <a:rPr lang="fr-FR" sz="1050" dirty="0"/>
              <a:t> of data </a:t>
            </a:r>
            <a:r>
              <a:rPr lang="fr-FR" sz="1050" dirty="0" err="1"/>
              <a:t>from</a:t>
            </a:r>
            <a:r>
              <a:rPr lang="fr-FR" sz="1050" dirty="0"/>
              <a:t> N+1th </a:t>
            </a:r>
            <a:r>
              <a:rPr lang="fr-FR" sz="1050" dirty="0" err="1"/>
              <a:t>subject</a:t>
            </a:r>
            <a:endParaRPr lang="fr-FR" sz="1050" dirty="0"/>
          </a:p>
        </p:txBody>
      </p:sp>
      <p:pic>
        <p:nvPicPr>
          <p:cNvPr id="20" name="Graphique 31" descr="Utilisateur avec un remplissage uni">
            <a:extLst>
              <a:ext uri="{FF2B5EF4-FFF2-40B4-BE49-F238E27FC236}">
                <a16:creationId xmlns:a16="http://schemas.microsoft.com/office/drawing/2014/main" id="{4590B85E-BB12-F64A-4AAA-44409BB638D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33684" t="4567"/>
          <a:stretch/>
        </p:blipFill>
        <p:spPr>
          <a:xfrm>
            <a:off x="11116324" y="5233108"/>
            <a:ext cx="340627" cy="490181"/>
          </a:xfrm>
          <a:prstGeom prst="rect">
            <a:avLst/>
          </a:prstGeom>
        </p:spPr>
      </p:pic>
      <p:pic>
        <p:nvPicPr>
          <p:cNvPr id="21" name="Graphique 32" descr="Utilisateur avec un remplissage uni">
            <a:extLst>
              <a:ext uri="{FF2B5EF4-FFF2-40B4-BE49-F238E27FC236}">
                <a16:creationId xmlns:a16="http://schemas.microsoft.com/office/drawing/2014/main" id="{E9824BE8-4022-BD94-5E83-ECACD0677AA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4567" r="64366"/>
          <a:stretch/>
        </p:blipFill>
        <p:spPr>
          <a:xfrm>
            <a:off x="9155000" y="5153699"/>
            <a:ext cx="183029" cy="490181"/>
          </a:xfrm>
          <a:prstGeom prst="rect">
            <a:avLst/>
          </a:prstGeom>
        </p:spPr>
      </p:pic>
      <p:sp>
        <p:nvSpPr>
          <p:cNvPr id="22" name="Accolade ouvrante 21">
            <a:extLst>
              <a:ext uri="{FF2B5EF4-FFF2-40B4-BE49-F238E27FC236}">
                <a16:creationId xmlns:a16="http://schemas.microsoft.com/office/drawing/2014/main" id="{12BEF3F7-EEE7-9073-C5B6-D20CE6BB92B4}"/>
              </a:ext>
            </a:extLst>
          </p:cNvPr>
          <p:cNvSpPr/>
          <p:nvPr/>
        </p:nvSpPr>
        <p:spPr>
          <a:xfrm rot="16200000">
            <a:off x="9230240" y="5434238"/>
            <a:ext cx="114086" cy="4458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3" name="ZoneTexte 34">
            <a:extLst>
              <a:ext uri="{FF2B5EF4-FFF2-40B4-BE49-F238E27FC236}">
                <a16:creationId xmlns:a16="http://schemas.microsoft.com/office/drawing/2014/main" id="{9367E6F2-D062-AF21-F78F-9081FE2599AA}"/>
              </a:ext>
            </a:extLst>
          </p:cNvPr>
          <p:cNvSpPr txBox="1"/>
          <p:nvPr/>
        </p:nvSpPr>
        <p:spPr>
          <a:xfrm>
            <a:off x="8395133" y="5766913"/>
            <a:ext cx="1837462" cy="5770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050" dirty="0"/>
              <a:t>Training/val data:</a:t>
            </a:r>
          </a:p>
          <a:p>
            <a:pPr algn="ctr"/>
            <a:r>
              <a:rPr lang="fr-FR" sz="1050" dirty="0"/>
              <a:t>A part of data </a:t>
            </a:r>
            <a:r>
              <a:rPr lang="fr-FR" sz="1050" dirty="0" err="1"/>
              <a:t>from</a:t>
            </a:r>
            <a:r>
              <a:rPr lang="fr-FR" sz="1050" dirty="0"/>
              <a:t> </a:t>
            </a:r>
            <a:r>
              <a:rPr lang="fr-FR" sz="1050" dirty="0" err="1"/>
              <a:t>subject</a:t>
            </a:r>
            <a:r>
              <a:rPr lang="fr-FR" sz="1050" dirty="0"/>
              <a:t> i </a:t>
            </a:r>
          </a:p>
        </p:txBody>
      </p:sp>
      <p:sp>
        <p:nvSpPr>
          <p:cNvPr id="24" name="Accolade ouvrante 23">
            <a:extLst>
              <a:ext uri="{FF2B5EF4-FFF2-40B4-BE49-F238E27FC236}">
                <a16:creationId xmlns:a16="http://schemas.microsoft.com/office/drawing/2014/main" id="{7B1BECE4-13C8-E7A1-9DF7-E2BB7CACF4EF}"/>
              </a:ext>
            </a:extLst>
          </p:cNvPr>
          <p:cNvSpPr/>
          <p:nvPr/>
        </p:nvSpPr>
        <p:spPr>
          <a:xfrm rot="16200000">
            <a:off x="11191968" y="5514243"/>
            <a:ext cx="114086" cy="4458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5" name="ZoneTexte 36">
            <a:extLst>
              <a:ext uri="{FF2B5EF4-FFF2-40B4-BE49-F238E27FC236}">
                <a16:creationId xmlns:a16="http://schemas.microsoft.com/office/drawing/2014/main" id="{21109DB7-4821-4B11-F247-3FAC6DAA19E9}"/>
              </a:ext>
            </a:extLst>
          </p:cNvPr>
          <p:cNvSpPr txBox="1"/>
          <p:nvPr/>
        </p:nvSpPr>
        <p:spPr>
          <a:xfrm>
            <a:off x="10324976" y="5795613"/>
            <a:ext cx="1837462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050" dirty="0" err="1"/>
              <a:t>Testing</a:t>
            </a:r>
            <a:r>
              <a:rPr lang="fr-FR" sz="1050" dirty="0"/>
              <a:t> data:</a:t>
            </a:r>
          </a:p>
          <a:p>
            <a:pPr algn="ctr"/>
            <a:r>
              <a:rPr lang="fr-FR" sz="1050" dirty="0" err="1"/>
              <a:t>Rest</a:t>
            </a:r>
            <a:r>
              <a:rPr lang="fr-FR" sz="1050" dirty="0"/>
              <a:t> of data </a:t>
            </a:r>
            <a:r>
              <a:rPr lang="fr-FR" sz="1050" dirty="0" err="1"/>
              <a:t>from</a:t>
            </a:r>
            <a:r>
              <a:rPr lang="fr-FR" sz="1050" dirty="0"/>
              <a:t> </a:t>
            </a:r>
            <a:r>
              <a:rPr lang="fr-FR" sz="1050" dirty="0" err="1"/>
              <a:t>subject</a:t>
            </a:r>
            <a:r>
              <a:rPr lang="fr-FR" sz="1050" dirty="0"/>
              <a:t> i</a:t>
            </a: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CE93EC8B-2757-2BE7-3578-B3897419084B}"/>
              </a:ext>
            </a:extLst>
          </p:cNvPr>
          <p:cNvSpPr txBox="1"/>
          <p:nvPr/>
        </p:nvSpPr>
        <p:spPr>
          <a:xfrm>
            <a:off x="1927360" y="3754219"/>
            <a:ext cx="2077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FR" sz="1100" dirty="0" err="1"/>
              <a:t>Pretreatment</a:t>
            </a:r>
            <a:r>
              <a:rPr lang="fr-FR" sz="1100" dirty="0"/>
              <a:t> pipeline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C8F0E4AA-D099-EB5A-2CEB-D4C2AE13FB02}"/>
              </a:ext>
            </a:extLst>
          </p:cNvPr>
          <p:cNvCxnSpPr>
            <a:cxnSpLocks/>
          </p:cNvCxnSpPr>
          <p:nvPr/>
        </p:nvCxnSpPr>
        <p:spPr>
          <a:xfrm>
            <a:off x="5939437" y="3429000"/>
            <a:ext cx="0" cy="3223978"/>
          </a:xfrm>
          <a:prstGeom prst="line">
            <a:avLst/>
          </a:prstGeom>
          <a:ln w="28575">
            <a:solidFill>
              <a:srgbClr val="CBD6F5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274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EF9C7160-122F-8ABF-A1A5-7410354D54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5649" b="224"/>
          <a:stretch/>
        </p:blipFill>
        <p:spPr>
          <a:xfrm>
            <a:off x="0" y="-1"/>
            <a:ext cx="12192000" cy="11322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8C00C63-EF71-0407-C8FD-399ED458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: </a:t>
            </a:r>
            <a:r>
              <a:rPr lang="fr-FR" dirty="0" err="1"/>
              <a:t>current</a:t>
            </a:r>
            <a:r>
              <a:rPr lang="fr-FR" dirty="0"/>
              <a:t> </a:t>
            </a:r>
            <a:r>
              <a:rPr lang="fr-FR" dirty="0" err="1"/>
              <a:t>work</a:t>
            </a:r>
            <a:endParaRPr lang="en-US" dirty="0"/>
          </a:p>
        </p:txBody>
      </p:sp>
      <p:pic>
        <p:nvPicPr>
          <p:cNvPr id="8" name="Image 7" descr="Une image contenant capture d’écran, texte, diagramme&#10;&#10;Le contenu généré par l’IA peut être incorrect.">
            <a:extLst>
              <a:ext uri="{FF2B5EF4-FFF2-40B4-BE49-F238E27FC236}">
                <a16:creationId xmlns:a16="http://schemas.microsoft.com/office/drawing/2014/main" id="{4E0445B2-B45B-3AE9-C5B5-8AD9D2198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986" y="1402512"/>
            <a:ext cx="3385683" cy="2550743"/>
          </a:xfrm>
          <a:prstGeom prst="rect">
            <a:avLst/>
          </a:prstGeom>
        </p:spPr>
      </p:pic>
      <p:pic>
        <p:nvPicPr>
          <p:cNvPr id="10" name="Image 9" descr="Une image contenant capture d’écran, texte, ligne&#10;&#10;Le contenu généré par l’IA peut être incorrect.">
            <a:extLst>
              <a:ext uri="{FF2B5EF4-FFF2-40B4-BE49-F238E27FC236}">
                <a16:creationId xmlns:a16="http://schemas.microsoft.com/office/drawing/2014/main" id="{661112E7-748A-3C1B-412D-4DCE327F8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744" y="5075351"/>
            <a:ext cx="5230060" cy="1512088"/>
          </a:xfrm>
          <a:prstGeom prst="rect">
            <a:avLst/>
          </a:prstGeom>
        </p:spPr>
      </p:pic>
      <p:pic>
        <p:nvPicPr>
          <p:cNvPr id="14" name="Image 13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42D1337A-0C32-D6D3-FB08-7E9F954818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683" y="1356264"/>
            <a:ext cx="3610868" cy="2695078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F39433A5-0540-E701-27FE-98247ACCCF3E}"/>
              </a:ext>
            </a:extLst>
          </p:cNvPr>
          <p:cNvCxnSpPr/>
          <p:nvPr/>
        </p:nvCxnSpPr>
        <p:spPr>
          <a:xfrm>
            <a:off x="5939437" y="1371825"/>
            <a:ext cx="0" cy="5281153"/>
          </a:xfrm>
          <a:prstGeom prst="line">
            <a:avLst/>
          </a:prstGeom>
          <a:ln w="28575">
            <a:solidFill>
              <a:srgbClr val="CBD6F5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5B29673-ACCC-0E2C-B593-455B19868473}"/>
              </a:ext>
            </a:extLst>
          </p:cNvPr>
          <p:cNvCxnSpPr>
            <a:cxnSpLocks/>
          </p:cNvCxnSpPr>
          <p:nvPr/>
        </p:nvCxnSpPr>
        <p:spPr>
          <a:xfrm>
            <a:off x="249196" y="4180116"/>
            <a:ext cx="11651629" cy="0"/>
          </a:xfrm>
          <a:prstGeom prst="line">
            <a:avLst/>
          </a:prstGeom>
          <a:ln w="28575">
            <a:solidFill>
              <a:srgbClr val="CBD6F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FB33DDA0-3502-DA1F-533B-E653EA6F7906}"/>
              </a:ext>
            </a:extLst>
          </p:cNvPr>
          <p:cNvSpPr txBox="1"/>
          <p:nvPr/>
        </p:nvSpPr>
        <p:spPr>
          <a:xfrm>
            <a:off x="402306" y="2122703"/>
            <a:ext cx="1231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Score </a:t>
            </a:r>
            <a:r>
              <a:rPr lang="fr-FR" dirty="0" err="1"/>
              <a:t>balanced</a:t>
            </a:r>
            <a:r>
              <a:rPr lang="fr-FR" dirty="0"/>
              <a:t> </a:t>
            </a:r>
            <a:r>
              <a:rPr lang="fr-FR" dirty="0" err="1"/>
              <a:t>accuracy</a:t>
            </a:r>
            <a:endParaRPr lang="en-US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E498C47-1F26-DC49-02F0-E13BCBEA6507}"/>
              </a:ext>
            </a:extLst>
          </p:cNvPr>
          <p:cNvSpPr txBox="1"/>
          <p:nvPr/>
        </p:nvSpPr>
        <p:spPr>
          <a:xfrm>
            <a:off x="6311629" y="2122703"/>
            <a:ext cx="1768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ERP of the flashes in the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spaces</a:t>
            </a:r>
            <a:endParaRPr lang="en-US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DF4512D-AE36-2BAE-B65F-A6C9CF9464FF}"/>
              </a:ext>
            </a:extLst>
          </p:cNvPr>
          <p:cNvSpPr txBox="1"/>
          <p:nvPr/>
        </p:nvSpPr>
        <p:spPr>
          <a:xfrm>
            <a:off x="1042659" y="4393754"/>
            <a:ext cx="404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difference</a:t>
            </a:r>
            <a:r>
              <a:rPr lang="fr-FR" dirty="0"/>
              <a:t> (</a:t>
            </a:r>
            <a:r>
              <a:rPr lang="fr-FR" dirty="0" err="1"/>
              <a:t>SiSU</a:t>
            </a:r>
            <a:r>
              <a:rPr lang="fr-FR" dirty="0"/>
              <a:t> and DA)</a:t>
            </a:r>
            <a:endParaRPr lang="en-US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A9AE663-EC36-8329-6866-609BE395F90A}"/>
              </a:ext>
            </a:extLst>
          </p:cNvPr>
          <p:cNvSpPr txBox="1"/>
          <p:nvPr/>
        </p:nvSpPr>
        <p:spPr>
          <a:xfrm>
            <a:off x="7939483" y="4385297"/>
            <a:ext cx="2776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Inter-</a:t>
            </a:r>
            <a:r>
              <a:rPr lang="fr-FR" dirty="0" err="1"/>
              <a:t>epoch</a:t>
            </a:r>
            <a:r>
              <a:rPr lang="fr-FR" dirty="0"/>
              <a:t> </a:t>
            </a:r>
            <a:r>
              <a:rPr lang="fr-FR" dirty="0" err="1"/>
              <a:t>correlation</a:t>
            </a:r>
            <a:r>
              <a:rPr lang="fr-FR" dirty="0"/>
              <a:t> in the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space</a:t>
            </a:r>
            <a:endParaRPr lang="en-US" dirty="0"/>
          </a:p>
        </p:txBody>
      </p:sp>
      <p:pic>
        <p:nvPicPr>
          <p:cNvPr id="26" name="Image 25" descr="Une image contenant texte, capture d’écran, carré, ligne&#10;&#10;Le contenu généré par l’IA peut être incorrect.">
            <a:extLst>
              <a:ext uri="{FF2B5EF4-FFF2-40B4-BE49-F238E27FC236}">
                <a16:creationId xmlns:a16="http://schemas.microsoft.com/office/drawing/2014/main" id="{6BA56FCD-CF5D-3189-0128-90E35B7AEA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700" y="4845222"/>
            <a:ext cx="2169608" cy="1615888"/>
          </a:xfrm>
          <a:prstGeom prst="rect">
            <a:avLst/>
          </a:prstGeom>
        </p:spPr>
      </p:pic>
      <p:pic>
        <p:nvPicPr>
          <p:cNvPr id="28" name="Image 27" descr="Une image contenant texte, capture d’écran, nombre, carré&#10;&#10;Le contenu généré par l’IA peut être incorrect.">
            <a:extLst>
              <a:ext uri="{FF2B5EF4-FFF2-40B4-BE49-F238E27FC236}">
                <a16:creationId xmlns:a16="http://schemas.microsoft.com/office/drawing/2014/main" id="{80FFCD3F-C8E4-F92A-F01F-D30303F8B3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06" y="4845222"/>
            <a:ext cx="2169608" cy="161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0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EF9C7160-122F-8ABF-A1A5-7410354D54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5649" b="224"/>
          <a:stretch/>
        </p:blipFill>
        <p:spPr>
          <a:xfrm>
            <a:off x="0" y="-1"/>
            <a:ext cx="12192000" cy="11322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8C00C63-EF71-0407-C8FD-399ED458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: </a:t>
            </a:r>
            <a:r>
              <a:rPr lang="fr-FR" dirty="0" err="1"/>
              <a:t>current</a:t>
            </a:r>
            <a:r>
              <a:rPr lang="fr-FR" dirty="0"/>
              <a:t> </a:t>
            </a:r>
            <a:r>
              <a:rPr lang="fr-FR" dirty="0" err="1"/>
              <a:t>work</a:t>
            </a:r>
            <a:endParaRPr lang="en-US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F39433A5-0540-E701-27FE-98247ACCCF3E}"/>
              </a:ext>
            </a:extLst>
          </p:cNvPr>
          <p:cNvCxnSpPr/>
          <p:nvPr/>
        </p:nvCxnSpPr>
        <p:spPr>
          <a:xfrm>
            <a:off x="5939437" y="1371825"/>
            <a:ext cx="0" cy="5281153"/>
          </a:xfrm>
          <a:prstGeom prst="line">
            <a:avLst/>
          </a:prstGeom>
          <a:ln w="28575">
            <a:solidFill>
              <a:srgbClr val="CBD6F5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3E498C47-1F26-DC49-02F0-E13BCBEA6507}"/>
              </a:ext>
            </a:extLst>
          </p:cNvPr>
          <p:cNvSpPr txBox="1"/>
          <p:nvPr/>
        </p:nvSpPr>
        <p:spPr>
          <a:xfrm>
            <a:off x="133921" y="3046033"/>
            <a:ext cx="1768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ERP of the flashes in the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spaces</a:t>
            </a:r>
            <a:endParaRPr lang="en-US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A9AE663-EC36-8329-6866-609BE395F90A}"/>
              </a:ext>
            </a:extLst>
          </p:cNvPr>
          <p:cNvSpPr txBox="1"/>
          <p:nvPr/>
        </p:nvSpPr>
        <p:spPr>
          <a:xfrm>
            <a:off x="7905298" y="2482667"/>
            <a:ext cx="2776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Inter-</a:t>
            </a:r>
            <a:r>
              <a:rPr lang="fr-FR" dirty="0" err="1"/>
              <a:t>epoch</a:t>
            </a:r>
            <a:r>
              <a:rPr lang="fr-FR" dirty="0"/>
              <a:t> </a:t>
            </a:r>
            <a:r>
              <a:rPr lang="fr-FR" dirty="0" err="1"/>
              <a:t>correlation</a:t>
            </a:r>
            <a:r>
              <a:rPr lang="fr-FR" dirty="0"/>
              <a:t> in the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space</a:t>
            </a:r>
            <a:endParaRPr lang="en-US" dirty="0"/>
          </a:p>
        </p:txBody>
      </p:sp>
      <p:pic>
        <p:nvPicPr>
          <p:cNvPr id="5" name="Image 4" descr="Une image contenant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3EC4F0E6-98D4-6D77-0F88-44517DEA5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547" y="3429000"/>
            <a:ext cx="4794081" cy="1327592"/>
          </a:xfrm>
          <a:prstGeom prst="rect">
            <a:avLst/>
          </a:prstGeom>
        </p:spPr>
      </p:pic>
      <p:pic>
        <p:nvPicPr>
          <p:cNvPr id="7" name="Image 6" descr="Une image contenant texte, diagramme, carte&#10;&#10;Le contenu généré par l’IA peut être incorrect.">
            <a:extLst>
              <a:ext uri="{FF2B5EF4-FFF2-40B4-BE49-F238E27FC236}">
                <a16:creationId xmlns:a16="http://schemas.microsoft.com/office/drawing/2014/main" id="{7647C593-BE8C-0368-FC38-0F1930F794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163" y="2482667"/>
            <a:ext cx="3917596" cy="295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37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EF9C7160-122F-8ABF-A1A5-7410354D54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5649" b="224"/>
          <a:stretch/>
        </p:blipFill>
        <p:spPr>
          <a:xfrm>
            <a:off x="0" y="-1"/>
            <a:ext cx="12192000" cy="11322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8C00C63-EF71-0407-C8FD-399ED458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My</a:t>
            </a:r>
            <a:r>
              <a:rPr lang="fr-FR" dirty="0"/>
              <a:t> goals </a:t>
            </a:r>
            <a:r>
              <a:rPr lang="fr-FR" dirty="0" err="1"/>
              <a:t>here</a:t>
            </a:r>
            <a:r>
              <a:rPr lang="fr-FR" dirty="0"/>
              <a:t> ? </a:t>
            </a:r>
            <a:endParaRPr lang="en-US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4A8D542-FFA2-FEBE-E010-A8AB611ABF40}"/>
              </a:ext>
            </a:extLst>
          </p:cNvPr>
          <p:cNvSpPr/>
          <p:nvPr/>
        </p:nvSpPr>
        <p:spPr>
          <a:xfrm>
            <a:off x="1779256" y="1767839"/>
            <a:ext cx="2516778" cy="1399903"/>
          </a:xfrm>
          <a:prstGeom prst="roundRect">
            <a:avLst/>
          </a:prstGeom>
          <a:solidFill>
            <a:srgbClr val="CBD6F5"/>
          </a:solidFill>
          <a:ln>
            <a:solidFill>
              <a:srgbClr val="F8F2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connection</a:t>
            </a:r>
            <a:r>
              <a:rPr lang="fr-FR" dirty="0"/>
              <a:t> and look how </a:t>
            </a:r>
            <a:r>
              <a:rPr lang="fr-FR" dirty="0" err="1"/>
              <a:t>you</a:t>
            </a:r>
            <a:r>
              <a:rPr lang="fr-FR" dirty="0"/>
              <a:t> are </a:t>
            </a:r>
            <a:r>
              <a:rPr lang="fr-FR" dirty="0" err="1"/>
              <a:t>working</a:t>
            </a:r>
            <a:r>
              <a:rPr lang="fr-FR" dirty="0"/>
              <a:t> in the </a:t>
            </a:r>
            <a:r>
              <a:rPr lang="fr-FR" dirty="0" err="1"/>
              <a:t>lab</a:t>
            </a:r>
            <a:endParaRPr lang="en-US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18B75AD-F9D1-79C9-CC5F-1F1624E23FC9}"/>
              </a:ext>
            </a:extLst>
          </p:cNvPr>
          <p:cNvSpPr/>
          <p:nvPr/>
        </p:nvSpPr>
        <p:spPr>
          <a:xfrm>
            <a:off x="5631784" y="1304195"/>
            <a:ext cx="4232364" cy="2124893"/>
          </a:xfrm>
          <a:prstGeom prst="roundRect">
            <a:avLst/>
          </a:prstGeom>
          <a:solidFill>
            <a:srgbClr val="CBD6F5"/>
          </a:solidFill>
          <a:ln>
            <a:solidFill>
              <a:srgbClr val="F8F2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Afford</a:t>
            </a:r>
            <a:r>
              <a:rPr lang="fr-FR" dirty="0"/>
              <a:t> </a:t>
            </a:r>
            <a:r>
              <a:rPr lang="fr-FR" dirty="0" err="1"/>
              <a:t>helps</a:t>
            </a:r>
            <a:r>
              <a:rPr lang="fr-FR" dirty="0"/>
              <a:t> if </a:t>
            </a:r>
            <a:r>
              <a:rPr lang="fr-FR" dirty="0" err="1"/>
              <a:t>needed</a:t>
            </a:r>
            <a:r>
              <a:rPr lang="fr-FR" dirty="0"/>
              <a:t> as </a:t>
            </a:r>
            <a:r>
              <a:rPr lang="fr-FR" dirty="0" err="1"/>
              <a:t>side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(ex: </a:t>
            </a:r>
            <a:r>
              <a:rPr lang="fr-FR" dirty="0" err="1"/>
              <a:t>Covert</a:t>
            </a:r>
            <a:r>
              <a:rPr lang="fr-FR" dirty="0"/>
              <a:t> attention </a:t>
            </a:r>
            <a:r>
              <a:rPr lang="fr-FR" dirty="0" err="1"/>
              <a:t>project</a:t>
            </a:r>
            <a:r>
              <a:rPr lang="fr-FR" dirty="0"/>
              <a:t>)</a:t>
            </a:r>
            <a:endParaRPr lang="en-US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73C0253-A9F6-1D7F-DC01-C8A8F29381C2}"/>
              </a:ext>
            </a:extLst>
          </p:cNvPr>
          <p:cNvSpPr/>
          <p:nvPr/>
        </p:nvSpPr>
        <p:spPr>
          <a:xfrm>
            <a:off x="2416628" y="3570515"/>
            <a:ext cx="6039393" cy="3006778"/>
          </a:xfrm>
          <a:prstGeom prst="roundRect">
            <a:avLst/>
          </a:prstGeom>
          <a:solidFill>
            <a:srgbClr val="CBD6F5"/>
          </a:solidFill>
          <a:ln>
            <a:solidFill>
              <a:srgbClr val="F8F2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Main </a:t>
            </a:r>
            <a:r>
              <a:rPr lang="fr-FR" dirty="0" err="1"/>
              <a:t>project</a:t>
            </a:r>
            <a:r>
              <a:rPr lang="fr-FR" dirty="0"/>
              <a:t>: Simulation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inference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CVEP and the </a:t>
            </a:r>
            <a:r>
              <a:rPr lang="fr-FR" dirty="0" err="1"/>
              <a:t>corresponding</a:t>
            </a:r>
            <a:r>
              <a:rPr lang="fr-FR" dirty="0"/>
              <a:t> EEG data</a:t>
            </a:r>
            <a:endParaRPr lang="en-US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49AB0BC-1BF2-0E29-33CE-0BD3BBF485C8}"/>
              </a:ext>
            </a:extLst>
          </p:cNvPr>
          <p:cNvSpPr/>
          <p:nvPr/>
        </p:nvSpPr>
        <p:spPr>
          <a:xfrm>
            <a:off x="925774" y="1235719"/>
            <a:ext cx="10099574" cy="5483001"/>
          </a:xfrm>
          <a:prstGeom prst="roundRect">
            <a:avLst/>
          </a:prstGeom>
          <a:solidFill>
            <a:srgbClr val="F8F2F9"/>
          </a:solidFill>
          <a:ln>
            <a:solidFill>
              <a:srgbClr val="F8F2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ENJOY MY STAY WITH YOU !!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3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D572980-FB84-8C29-1FAC-FAC5ECE29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uages roses et bleus">
            <a:extLst>
              <a:ext uri="{FF2B5EF4-FFF2-40B4-BE49-F238E27FC236}">
                <a16:creationId xmlns:a16="http://schemas.microsoft.com/office/drawing/2014/main" id="{D2D7E570-8F9A-983D-D08D-BAE5D0172C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4449"/>
          <a:stretch/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DDDADD9-737F-6F89-C0E9-1E2E35809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fr-FR" sz="5400">
                <a:solidFill>
                  <a:srgbClr val="FFFFFF"/>
                </a:solidFill>
              </a:rPr>
              <a:t>Thank</a:t>
            </a:r>
            <a:r>
              <a:rPr lang="fr-FR" sz="5400" dirty="0">
                <a:solidFill>
                  <a:srgbClr val="FFFFFF"/>
                </a:solidFill>
              </a:rPr>
              <a:t> </a:t>
            </a:r>
            <a:r>
              <a:rPr lang="fr-FR" sz="5400">
                <a:solidFill>
                  <a:srgbClr val="FFFFFF"/>
                </a:solidFill>
              </a:rPr>
              <a:t>you</a:t>
            </a:r>
            <a:r>
              <a:rPr lang="fr-FR" sz="5400" dirty="0">
                <a:solidFill>
                  <a:srgbClr val="FFFFFF"/>
                </a:solidFill>
              </a:rPr>
              <a:t> for </a:t>
            </a:r>
            <a:r>
              <a:rPr lang="fr-FR" sz="5400">
                <a:solidFill>
                  <a:srgbClr val="FFFFFF"/>
                </a:solidFill>
              </a:rPr>
              <a:t>listening</a:t>
            </a:r>
            <a:r>
              <a:rPr lang="fr-FR" sz="5400" dirty="0">
                <a:solidFill>
                  <a:srgbClr val="FFFFFF"/>
                </a:solidFill>
              </a:rPr>
              <a:t> !</a:t>
            </a:r>
            <a:endParaRPr lang="en-US" sz="5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374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295</Words>
  <Application>Microsoft Office PowerPoint</Application>
  <PresentationFormat>Grand écran</PresentationFormat>
  <Paragraphs>62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Aptos</vt:lpstr>
      <vt:lpstr>Arial</vt:lpstr>
      <vt:lpstr>Montserrat</vt:lpstr>
      <vt:lpstr>Neue Haas Grotesk Text Pro</vt:lpstr>
      <vt:lpstr>VanillaVTI</vt:lpstr>
      <vt:lpstr>Who Am I ? </vt:lpstr>
      <vt:lpstr>Who am I ? </vt:lpstr>
      <vt:lpstr>Who am I ? </vt:lpstr>
      <vt:lpstr>My PhD</vt:lpstr>
      <vt:lpstr>My work</vt:lpstr>
      <vt:lpstr>My work : Previous work</vt:lpstr>
      <vt:lpstr>My work : current work</vt:lpstr>
      <vt:lpstr>My work : current work</vt:lpstr>
      <vt:lpstr>My work : current work</vt:lpstr>
      <vt:lpstr>My goals here ? </vt:lpstr>
      <vt:lpstr>Thank you for listening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Sebastien VELUT</dc:creator>
  <cp:lastModifiedBy>Sebastien VELUT</cp:lastModifiedBy>
  <cp:revision>7</cp:revision>
  <dcterms:created xsi:type="dcterms:W3CDTF">2025-03-13T15:50:31Z</dcterms:created>
  <dcterms:modified xsi:type="dcterms:W3CDTF">2025-03-18T16:16:41Z</dcterms:modified>
</cp:coreProperties>
</file>