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61" r:id="rId6"/>
    <p:sldId id="263" r:id="rId7"/>
    <p:sldId id="258" r:id="rId8"/>
    <p:sldId id="262" r:id="rId9"/>
    <p:sldId id="269" r:id="rId10"/>
    <p:sldId id="259" r:id="rId11"/>
    <p:sldId id="260" r:id="rId12"/>
    <p:sldId id="264" r:id="rId13"/>
    <p:sldId id="266" r:id="rId14"/>
    <p:sldId id="268" r:id="rId15"/>
    <p:sldId id="267" r:id="rId16"/>
    <p:sldId id="270" r:id="rId17"/>
    <p:sldId id="271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9EE2"/>
    <a:srgbClr val="116EA7"/>
    <a:srgbClr val="CCD5EA"/>
    <a:srgbClr val="65C2F1"/>
    <a:srgbClr val="CCDD97"/>
    <a:srgbClr val="9BDE86"/>
    <a:srgbClr val="E0EABF"/>
    <a:srgbClr val="D8E6C5"/>
    <a:srgbClr val="C8DDD2"/>
    <a:srgbClr val="18D2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EDA1F8-189F-47FE-ADC6-9A9D743553DB}" v="253" dt="2024-09-06T12:43:12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539" autoAdjust="0"/>
  </p:normalViewPr>
  <p:slideViewPr>
    <p:cSldViewPr snapToGrid="0">
      <p:cViewPr varScale="1">
        <p:scale>
          <a:sx n="75" d="100"/>
          <a:sy n="75" d="100"/>
        </p:scale>
        <p:origin x="974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4D0A69-7A27-45F1-AD40-30E9F99666A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AA1F93-4B10-4B49-9569-A16EAFE5AB8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 err="1"/>
            <a:t>What</a:t>
          </a:r>
          <a:r>
            <a:rPr lang="fr-FR" dirty="0"/>
            <a:t> </a:t>
          </a:r>
          <a:r>
            <a:rPr lang="fr-FR" dirty="0" err="1"/>
            <a:t>is</a:t>
          </a:r>
          <a:r>
            <a:rPr lang="fr-FR" dirty="0"/>
            <a:t> the </a:t>
          </a:r>
          <a:r>
            <a:rPr lang="fr-FR" dirty="0" err="1"/>
            <a:t>riemannian</a:t>
          </a:r>
          <a:r>
            <a:rPr lang="fr-FR"/>
            <a:t> manifold ?</a:t>
          </a:r>
          <a:endParaRPr lang="en-US" dirty="0"/>
        </a:p>
      </dgm:t>
    </dgm:pt>
    <dgm:pt modelId="{573C5650-DDFE-4919-A696-38AE48E63B57}" type="parTrans" cxnId="{0A31F8F1-482B-4BDF-91A6-7B9CAAC73E19}">
      <dgm:prSet/>
      <dgm:spPr/>
      <dgm:t>
        <a:bodyPr/>
        <a:lstStyle/>
        <a:p>
          <a:endParaRPr lang="en-US"/>
        </a:p>
      </dgm:t>
    </dgm:pt>
    <dgm:pt modelId="{AB5B1AA1-8394-4FAB-A820-785709620504}" type="sibTrans" cxnId="{0A31F8F1-482B-4BDF-91A6-7B9CAAC73E1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47773FE-C1EF-4604-AB6C-7A736ACDC43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What are the advantages ?</a:t>
          </a:r>
          <a:endParaRPr lang="en-US"/>
        </a:p>
      </dgm:t>
    </dgm:pt>
    <dgm:pt modelId="{0EA3B561-A340-4E51-AECF-B64263EFF831}" type="parTrans" cxnId="{406FB0C5-141A-4283-8206-B72026E2EDF8}">
      <dgm:prSet/>
      <dgm:spPr/>
      <dgm:t>
        <a:bodyPr/>
        <a:lstStyle/>
        <a:p>
          <a:endParaRPr lang="en-US"/>
        </a:p>
      </dgm:t>
    </dgm:pt>
    <dgm:pt modelId="{C938A71A-0865-4586-B6FE-9647B9AE008E}" type="sibTrans" cxnId="{406FB0C5-141A-4283-8206-B72026E2EDF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38C6AEA-9311-4C58-A299-BA645B65BF4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Common usage</a:t>
          </a:r>
          <a:endParaRPr lang="en-US" dirty="0"/>
        </a:p>
      </dgm:t>
    </dgm:pt>
    <dgm:pt modelId="{6CD501AF-C5E8-48F2-AAAD-80B265F00CD0}" type="parTrans" cxnId="{A379BBA0-FA7F-49BF-9175-D0291769CD84}">
      <dgm:prSet/>
      <dgm:spPr/>
      <dgm:t>
        <a:bodyPr/>
        <a:lstStyle/>
        <a:p>
          <a:endParaRPr lang="en-US"/>
        </a:p>
      </dgm:t>
    </dgm:pt>
    <dgm:pt modelId="{A5962E2C-D836-4694-A845-95E1F2E031EB}" type="sibTrans" cxnId="{A379BBA0-FA7F-49BF-9175-D0291769CD84}">
      <dgm:prSet/>
      <dgm:spPr/>
      <dgm:t>
        <a:bodyPr/>
        <a:lstStyle/>
        <a:p>
          <a:endParaRPr lang="en-US"/>
        </a:p>
      </dgm:t>
    </dgm:pt>
    <dgm:pt modelId="{53C9CEAB-5A6D-4C2E-91AC-B66C7FC2F613}" type="pres">
      <dgm:prSet presAssocID="{D74D0A69-7A27-45F1-AD40-30E9F99666A5}" presName="root" presStyleCnt="0">
        <dgm:presLayoutVars>
          <dgm:dir/>
          <dgm:resizeHandles val="exact"/>
        </dgm:presLayoutVars>
      </dgm:prSet>
      <dgm:spPr/>
    </dgm:pt>
    <dgm:pt modelId="{DB07DE7A-C9CB-414B-8E3A-1A8FC4A11832}" type="pres">
      <dgm:prSet presAssocID="{D74D0A69-7A27-45F1-AD40-30E9F99666A5}" presName="container" presStyleCnt="0">
        <dgm:presLayoutVars>
          <dgm:dir/>
          <dgm:resizeHandles val="exact"/>
        </dgm:presLayoutVars>
      </dgm:prSet>
      <dgm:spPr/>
    </dgm:pt>
    <dgm:pt modelId="{ACC11BA7-1371-42FF-8564-7F1A0C66E5B0}" type="pres">
      <dgm:prSet presAssocID="{96AA1F93-4B10-4B49-9569-A16EAFE5AB82}" presName="compNode" presStyleCnt="0"/>
      <dgm:spPr/>
    </dgm:pt>
    <dgm:pt modelId="{F3366AA2-4A16-45E9-B1E3-7D276229F152}" type="pres">
      <dgm:prSet presAssocID="{96AA1F93-4B10-4B49-9569-A16EAFE5AB82}" presName="iconBgRect" presStyleLbl="bgShp" presStyleIdx="0" presStyleCnt="3"/>
      <dgm:spPr>
        <a:solidFill>
          <a:srgbClr val="CCD5EA"/>
        </a:solidFill>
      </dgm:spPr>
    </dgm:pt>
    <dgm:pt modelId="{36E91A4F-9A83-4253-BCA0-EBA2BA580313}" type="pres">
      <dgm:prSet presAssocID="{96AA1F93-4B10-4B49-9569-A16EAFE5AB8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4786F31-65A6-49A3-8C01-0FFC474DF303}" type="pres">
      <dgm:prSet presAssocID="{96AA1F93-4B10-4B49-9569-A16EAFE5AB82}" presName="spaceRect" presStyleCnt="0"/>
      <dgm:spPr/>
    </dgm:pt>
    <dgm:pt modelId="{5FCA58BB-520A-4B5F-8AED-4D59853FCBA6}" type="pres">
      <dgm:prSet presAssocID="{96AA1F93-4B10-4B49-9569-A16EAFE5AB82}" presName="textRect" presStyleLbl="revTx" presStyleIdx="0" presStyleCnt="3" custScaleX="109202">
        <dgm:presLayoutVars>
          <dgm:chMax val="1"/>
          <dgm:chPref val="1"/>
        </dgm:presLayoutVars>
      </dgm:prSet>
      <dgm:spPr/>
    </dgm:pt>
    <dgm:pt modelId="{221A105C-8BC2-42B8-8562-D025EA390789}" type="pres">
      <dgm:prSet presAssocID="{AB5B1AA1-8394-4FAB-A820-785709620504}" presName="sibTrans" presStyleLbl="sibTrans2D1" presStyleIdx="0" presStyleCnt="0"/>
      <dgm:spPr/>
    </dgm:pt>
    <dgm:pt modelId="{FB1D8366-2A77-43BD-B5B2-495C9FC9D962}" type="pres">
      <dgm:prSet presAssocID="{047773FE-C1EF-4604-AB6C-7A736ACDC430}" presName="compNode" presStyleCnt="0"/>
      <dgm:spPr/>
    </dgm:pt>
    <dgm:pt modelId="{6E39DEB7-ED50-4F57-97ED-15D545A26E32}" type="pres">
      <dgm:prSet presAssocID="{047773FE-C1EF-4604-AB6C-7A736ACDC430}" presName="iconBgRect" presStyleLbl="bgShp" presStyleIdx="1" presStyleCnt="3"/>
      <dgm:spPr>
        <a:solidFill>
          <a:srgbClr val="CCD5EA"/>
        </a:solidFill>
      </dgm:spPr>
    </dgm:pt>
    <dgm:pt modelId="{F530C9E6-5F8E-4EFC-90BE-0259BFF3E4A5}" type="pres">
      <dgm:prSet presAssocID="{047773FE-C1EF-4604-AB6C-7A736ACDC4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E728F15B-11F1-47A8-BA0E-BB8E5A49C39D}" type="pres">
      <dgm:prSet presAssocID="{047773FE-C1EF-4604-AB6C-7A736ACDC430}" presName="spaceRect" presStyleCnt="0"/>
      <dgm:spPr/>
    </dgm:pt>
    <dgm:pt modelId="{ABB650A4-CCA0-4B75-A529-082467171B24}" type="pres">
      <dgm:prSet presAssocID="{047773FE-C1EF-4604-AB6C-7A736ACDC430}" presName="textRect" presStyleLbl="revTx" presStyleIdx="1" presStyleCnt="3">
        <dgm:presLayoutVars>
          <dgm:chMax val="1"/>
          <dgm:chPref val="1"/>
        </dgm:presLayoutVars>
      </dgm:prSet>
      <dgm:spPr/>
    </dgm:pt>
    <dgm:pt modelId="{316D4A10-8140-4789-9A40-FDA8A26DADEA}" type="pres">
      <dgm:prSet presAssocID="{C938A71A-0865-4586-B6FE-9647B9AE008E}" presName="sibTrans" presStyleLbl="sibTrans2D1" presStyleIdx="0" presStyleCnt="0"/>
      <dgm:spPr/>
    </dgm:pt>
    <dgm:pt modelId="{14C1F84B-D0B7-4E52-BE25-C93351008431}" type="pres">
      <dgm:prSet presAssocID="{138C6AEA-9311-4C58-A299-BA645B65BF48}" presName="compNode" presStyleCnt="0"/>
      <dgm:spPr/>
    </dgm:pt>
    <dgm:pt modelId="{AAC1513B-DCC6-43B6-8AF8-2C53399F43C3}" type="pres">
      <dgm:prSet presAssocID="{138C6AEA-9311-4C58-A299-BA645B65BF48}" presName="iconBgRect" presStyleLbl="bgShp" presStyleIdx="2" presStyleCnt="3"/>
      <dgm:spPr>
        <a:solidFill>
          <a:srgbClr val="CCD5EA"/>
        </a:solidFill>
      </dgm:spPr>
    </dgm:pt>
    <dgm:pt modelId="{63CA3C49-1F60-440D-A54C-8129EFC25213}" type="pres">
      <dgm:prSet presAssocID="{138C6AEA-9311-4C58-A299-BA645B65BF4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0986EBD-ED3A-4548-B03F-CBE5B85877C4}" type="pres">
      <dgm:prSet presAssocID="{138C6AEA-9311-4C58-A299-BA645B65BF48}" presName="spaceRect" presStyleCnt="0"/>
      <dgm:spPr/>
    </dgm:pt>
    <dgm:pt modelId="{0DDEA521-1156-4A8B-A0FB-93183004F160}" type="pres">
      <dgm:prSet presAssocID="{138C6AEA-9311-4C58-A299-BA645B65BF4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4CC941C-D648-4D07-A1EF-CD59E1A02591}" type="presOf" srcId="{138C6AEA-9311-4C58-A299-BA645B65BF48}" destId="{0DDEA521-1156-4A8B-A0FB-93183004F160}" srcOrd="0" destOrd="0" presId="urn:microsoft.com/office/officeart/2018/2/layout/IconCircleList"/>
    <dgm:cxn modelId="{4376D160-77F7-442F-A394-2B765E3867A9}" type="presOf" srcId="{047773FE-C1EF-4604-AB6C-7A736ACDC430}" destId="{ABB650A4-CCA0-4B75-A529-082467171B24}" srcOrd="0" destOrd="0" presId="urn:microsoft.com/office/officeart/2018/2/layout/IconCircleList"/>
    <dgm:cxn modelId="{A379BBA0-FA7F-49BF-9175-D0291769CD84}" srcId="{D74D0A69-7A27-45F1-AD40-30E9F99666A5}" destId="{138C6AEA-9311-4C58-A299-BA645B65BF48}" srcOrd="2" destOrd="0" parTransId="{6CD501AF-C5E8-48F2-AAAD-80B265F00CD0}" sibTransId="{A5962E2C-D836-4694-A845-95E1F2E031EB}"/>
    <dgm:cxn modelId="{23C346BA-D373-42A8-BD27-772875CD4FF1}" type="presOf" srcId="{96AA1F93-4B10-4B49-9569-A16EAFE5AB82}" destId="{5FCA58BB-520A-4B5F-8AED-4D59853FCBA6}" srcOrd="0" destOrd="0" presId="urn:microsoft.com/office/officeart/2018/2/layout/IconCircleList"/>
    <dgm:cxn modelId="{406FB0C5-141A-4283-8206-B72026E2EDF8}" srcId="{D74D0A69-7A27-45F1-AD40-30E9F99666A5}" destId="{047773FE-C1EF-4604-AB6C-7A736ACDC430}" srcOrd="1" destOrd="0" parTransId="{0EA3B561-A340-4E51-AECF-B64263EFF831}" sibTransId="{C938A71A-0865-4586-B6FE-9647B9AE008E}"/>
    <dgm:cxn modelId="{AA4DB6C7-7BCF-4E78-8D1D-77B6D9CA1B72}" type="presOf" srcId="{C938A71A-0865-4586-B6FE-9647B9AE008E}" destId="{316D4A10-8140-4789-9A40-FDA8A26DADEA}" srcOrd="0" destOrd="0" presId="urn:microsoft.com/office/officeart/2018/2/layout/IconCircleList"/>
    <dgm:cxn modelId="{A4FC1EC9-0A2F-46E5-BF81-C84358FFC337}" type="presOf" srcId="{D74D0A69-7A27-45F1-AD40-30E9F99666A5}" destId="{53C9CEAB-5A6D-4C2E-91AC-B66C7FC2F613}" srcOrd="0" destOrd="0" presId="urn:microsoft.com/office/officeart/2018/2/layout/IconCircleList"/>
    <dgm:cxn modelId="{1C62C9CD-4ECD-4261-88FC-076E729609E8}" type="presOf" srcId="{AB5B1AA1-8394-4FAB-A820-785709620504}" destId="{221A105C-8BC2-42B8-8562-D025EA390789}" srcOrd="0" destOrd="0" presId="urn:microsoft.com/office/officeart/2018/2/layout/IconCircleList"/>
    <dgm:cxn modelId="{0A31F8F1-482B-4BDF-91A6-7B9CAAC73E19}" srcId="{D74D0A69-7A27-45F1-AD40-30E9F99666A5}" destId="{96AA1F93-4B10-4B49-9569-A16EAFE5AB82}" srcOrd="0" destOrd="0" parTransId="{573C5650-DDFE-4919-A696-38AE48E63B57}" sibTransId="{AB5B1AA1-8394-4FAB-A820-785709620504}"/>
    <dgm:cxn modelId="{5F9ACF28-12F3-4AC6-82AA-DA8BC5327698}" type="presParOf" srcId="{53C9CEAB-5A6D-4C2E-91AC-B66C7FC2F613}" destId="{DB07DE7A-C9CB-414B-8E3A-1A8FC4A11832}" srcOrd="0" destOrd="0" presId="urn:microsoft.com/office/officeart/2018/2/layout/IconCircleList"/>
    <dgm:cxn modelId="{57D83683-E4DE-4826-B8D9-F8509E0A2344}" type="presParOf" srcId="{DB07DE7A-C9CB-414B-8E3A-1A8FC4A11832}" destId="{ACC11BA7-1371-42FF-8564-7F1A0C66E5B0}" srcOrd="0" destOrd="0" presId="urn:microsoft.com/office/officeart/2018/2/layout/IconCircleList"/>
    <dgm:cxn modelId="{01993245-4DD5-4DBB-80DF-267218366DFE}" type="presParOf" srcId="{ACC11BA7-1371-42FF-8564-7F1A0C66E5B0}" destId="{F3366AA2-4A16-45E9-B1E3-7D276229F152}" srcOrd="0" destOrd="0" presId="urn:microsoft.com/office/officeart/2018/2/layout/IconCircleList"/>
    <dgm:cxn modelId="{38323ED6-EB58-4262-B3AA-97C95BAB13F8}" type="presParOf" srcId="{ACC11BA7-1371-42FF-8564-7F1A0C66E5B0}" destId="{36E91A4F-9A83-4253-BCA0-EBA2BA580313}" srcOrd="1" destOrd="0" presId="urn:microsoft.com/office/officeart/2018/2/layout/IconCircleList"/>
    <dgm:cxn modelId="{12A75630-1794-4841-AC66-4CC2FC4B4112}" type="presParOf" srcId="{ACC11BA7-1371-42FF-8564-7F1A0C66E5B0}" destId="{04786F31-65A6-49A3-8C01-0FFC474DF303}" srcOrd="2" destOrd="0" presId="urn:microsoft.com/office/officeart/2018/2/layout/IconCircleList"/>
    <dgm:cxn modelId="{19AB5EDF-7C75-4CD5-B3BE-188E0E7EEB7C}" type="presParOf" srcId="{ACC11BA7-1371-42FF-8564-7F1A0C66E5B0}" destId="{5FCA58BB-520A-4B5F-8AED-4D59853FCBA6}" srcOrd="3" destOrd="0" presId="urn:microsoft.com/office/officeart/2018/2/layout/IconCircleList"/>
    <dgm:cxn modelId="{5B0B5CBC-3457-4472-9445-329C61E18217}" type="presParOf" srcId="{DB07DE7A-C9CB-414B-8E3A-1A8FC4A11832}" destId="{221A105C-8BC2-42B8-8562-D025EA390789}" srcOrd="1" destOrd="0" presId="urn:microsoft.com/office/officeart/2018/2/layout/IconCircleList"/>
    <dgm:cxn modelId="{21C36127-D9D9-4057-9712-F2A8EDB4DF32}" type="presParOf" srcId="{DB07DE7A-C9CB-414B-8E3A-1A8FC4A11832}" destId="{FB1D8366-2A77-43BD-B5B2-495C9FC9D962}" srcOrd="2" destOrd="0" presId="urn:microsoft.com/office/officeart/2018/2/layout/IconCircleList"/>
    <dgm:cxn modelId="{E1EE4BC1-5AA8-49F9-8830-50F3A521D4DD}" type="presParOf" srcId="{FB1D8366-2A77-43BD-B5B2-495C9FC9D962}" destId="{6E39DEB7-ED50-4F57-97ED-15D545A26E32}" srcOrd="0" destOrd="0" presId="urn:microsoft.com/office/officeart/2018/2/layout/IconCircleList"/>
    <dgm:cxn modelId="{1DBEE1CA-56BE-4EDB-A1DC-7ECEF99C3B0B}" type="presParOf" srcId="{FB1D8366-2A77-43BD-B5B2-495C9FC9D962}" destId="{F530C9E6-5F8E-4EFC-90BE-0259BFF3E4A5}" srcOrd="1" destOrd="0" presId="urn:microsoft.com/office/officeart/2018/2/layout/IconCircleList"/>
    <dgm:cxn modelId="{3D8905B3-C0FB-47E7-9723-DFD2D1B2FE08}" type="presParOf" srcId="{FB1D8366-2A77-43BD-B5B2-495C9FC9D962}" destId="{E728F15B-11F1-47A8-BA0E-BB8E5A49C39D}" srcOrd="2" destOrd="0" presId="urn:microsoft.com/office/officeart/2018/2/layout/IconCircleList"/>
    <dgm:cxn modelId="{D1775208-9AAC-4E65-9AF4-3950FB3C8C22}" type="presParOf" srcId="{FB1D8366-2A77-43BD-B5B2-495C9FC9D962}" destId="{ABB650A4-CCA0-4B75-A529-082467171B24}" srcOrd="3" destOrd="0" presId="urn:microsoft.com/office/officeart/2018/2/layout/IconCircleList"/>
    <dgm:cxn modelId="{EC9929EC-77EB-4E34-9D56-C85F5696304A}" type="presParOf" srcId="{DB07DE7A-C9CB-414B-8E3A-1A8FC4A11832}" destId="{316D4A10-8140-4789-9A40-FDA8A26DADEA}" srcOrd="3" destOrd="0" presId="urn:microsoft.com/office/officeart/2018/2/layout/IconCircleList"/>
    <dgm:cxn modelId="{E9812364-E277-456A-A80E-6693D8E93DBA}" type="presParOf" srcId="{DB07DE7A-C9CB-414B-8E3A-1A8FC4A11832}" destId="{14C1F84B-D0B7-4E52-BE25-C93351008431}" srcOrd="4" destOrd="0" presId="urn:microsoft.com/office/officeart/2018/2/layout/IconCircleList"/>
    <dgm:cxn modelId="{884C6CD1-07F2-47AF-BCBA-518DAFD2956A}" type="presParOf" srcId="{14C1F84B-D0B7-4E52-BE25-C93351008431}" destId="{AAC1513B-DCC6-43B6-8AF8-2C53399F43C3}" srcOrd="0" destOrd="0" presId="urn:microsoft.com/office/officeart/2018/2/layout/IconCircleList"/>
    <dgm:cxn modelId="{5B9D5EFF-A4EA-4C29-A8C4-C3198570D1F7}" type="presParOf" srcId="{14C1F84B-D0B7-4E52-BE25-C93351008431}" destId="{63CA3C49-1F60-440D-A54C-8129EFC25213}" srcOrd="1" destOrd="0" presId="urn:microsoft.com/office/officeart/2018/2/layout/IconCircleList"/>
    <dgm:cxn modelId="{B3616BAA-4AC5-4637-8CDB-6BA0F7913F3C}" type="presParOf" srcId="{14C1F84B-D0B7-4E52-BE25-C93351008431}" destId="{90986EBD-ED3A-4548-B03F-CBE5B85877C4}" srcOrd="2" destOrd="0" presId="urn:microsoft.com/office/officeart/2018/2/layout/IconCircleList"/>
    <dgm:cxn modelId="{CDFF67A8-4A2A-46E3-B1BF-476D9B6AAEA4}" type="presParOf" srcId="{14C1F84B-D0B7-4E52-BE25-C93351008431}" destId="{0DDEA521-1156-4A8B-A0FB-93183004F16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366AA2-4A16-45E9-B1E3-7D276229F152}">
      <dsp:nvSpPr>
        <dsp:cNvPr id="0" name=""/>
        <dsp:cNvSpPr/>
      </dsp:nvSpPr>
      <dsp:spPr>
        <a:xfrm>
          <a:off x="222832" y="943872"/>
          <a:ext cx="806230" cy="806230"/>
        </a:xfrm>
        <a:prstGeom prst="ellipse">
          <a:avLst/>
        </a:prstGeom>
        <a:solidFill>
          <a:srgbClr val="CCD5EA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91A4F-9A83-4253-BCA0-EBA2BA580313}">
      <dsp:nvSpPr>
        <dsp:cNvPr id="0" name=""/>
        <dsp:cNvSpPr/>
      </dsp:nvSpPr>
      <dsp:spPr>
        <a:xfrm>
          <a:off x="392140" y="1113181"/>
          <a:ext cx="467613" cy="467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A58BB-520A-4B5F-8AED-4D59853FCBA6}">
      <dsp:nvSpPr>
        <dsp:cNvPr id="0" name=""/>
        <dsp:cNvSpPr/>
      </dsp:nvSpPr>
      <dsp:spPr>
        <a:xfrm>
          <a:off x="1114389" y="943872"/>
          <a:ext cx="2075275" cy="806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 err="1"/>
            <a:t>What</a:t>
          </a:r>
          <a:r>
            <a:rPr lang="fr-FR" sz="1700" kern="1200" dirty="0"/>
            <a:t> </a:t>
          </a:r>
          <a:r>
            <a:rPr lang="fr-FR" sz="1700" kern="1200" dirty="0" err="1"/>
            <a:t>is</a:t>
          </a:r>
          <a:r>
            <a:rPr lang="fr-FR" sz="1700" kern="1200" dirty="0"/>
            <a:t> the </a:t>
          </a:r>
          <a:r>
            <a:rPr lang="fr-FR" sz="1700" kern="1200" dirty="0" err="1"/>
            <a:t>riemannian</a:t>
          </a:r>
          <a:r>
            <a:rPr lang="fr-FR" sz="1700" kern="1200"/>
            <a:t> manifold ?</a:t>
          </a:r>
          <a:endParaRPr lang="en-US" sz="1700" kern="1200" dirty="0"/>
        </a:p>
      </dsp:txBody>
      <dsp:txXfrm>
        <a:off x="1114389" y="943872"/>
        <a:ext cx="2075275" cy="806230"/>
      </dsp:txXfrm>
    </dsp:sp>
    <dsp:sp modelId="{6E39DEB7-ED50-4F57-97ED-15D545A26E32}">
      <dsp:nvSpPr>
        <dsp:cNvPr id="0" name=""/>
        <dsp:cNvSpPr/>
      </dsp:nvSpPr>
      <dsp:spPr>
        <a:xfrm>
          <a:off x="3520795" y="943872"/>
          <a:ext cx="806230" cy="806230"/>
        </a:xfrm>
        <a:prstGeom prst="ellipse">
          <a:avLst/>
        </a:prstGeom>
        <a:solidFill>
          <a:srgbClr val="CCD5EA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0C9E6-5F8E-4EFC-90BE-0259BFF3E4A5}">
      <dsp:nvSpPr>
        <dsp:cNvPr id="0" name=""/>
        <dsp:cNvSpPr/>
      </dsp:nvSpPr>
      <dsp:spPr>
        <a:xfrm>
          <a:off x="3690103" y="1113181"/>
          <a:ext cx="467613" cy="467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650A4-CCA0-4B75-A529-082467171B24}">
      <dsp:nvSpPr>
        <dsp:cNvPr id="0" name=""/>
        <dsp:cNvSpPr/>
      </dsp:nvSpPr>
      <dsp:spPr>
        <a:xfrm>
          <a:off x="4499789" y="943872"/>
          <a:ext cx="1900400" cy="806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What are the advantages ?</a:t>
          </a:r>
          <a:endParaRPr lang="en-US" sz="1700" kern="1200"/>
        </a:p>
      </dsp:txBody>
      <dsp:txXfrm>
        <a:off x="4499789" y="943872"/>
        <a:ext cx="1900400" cy="806230"/>
      </dsp:txXfrm>
    </dsp:sp>
    <dsp:sp modelId="{AAC1513B-DCC6-43B6-8AF8-2C53399F43C3}">
      <dsp:nvSpPr>
        <dsp:cNvPr id="0" name=""/>
        <dsp:cNvSpPr/>
      </dsp:nvSpPr>
      <dsp:spPr>
        <a:xfrm>
          <a:off x="6731320" y="943872"/>
          <a:ext cx="806230" cy="806230"/>
        </a:xfrm>
        <a:prstGeom prst="ellipse">
          <a:avLst/>
        </a:prstGeom>
        <a:solidFill>
          <a:srgbClr val="CCD5EA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CA3C49-1F60-440D-A54C-8129EFC25213}">
      <dsp:nvSpPr>
        <dsp:cNvPr id="0" name=""/>
        <dsp:cNvSpPr/>
      </dsp:nvSpPr>
      <dsp:spPr>
        <a:xfrm>
          <a:off x="6900629" y="1113181"/>
          <a:ext cx="467613" cy="467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DEA521-1156-4A8B-A0FB-93183004F160}">
      <dsp:nvSpPr>
        <dsp:cNvPr id="0" name=""/>
        <dsp:cNvSpPr/>
      </dsp:nvSpPr>
      <dsp:spPr>
        <a:xfrm>
          <a:off x="7710315" y="943872"/>
          <a:ext cx="1900400" cy="806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Common usage</a:t>
          </a:r>
          <a:endParaRPr lang="en-US" sz="1700" kern="1200" dirty="0"/>
        </a:p>
      </dsp:txBody>
      <dsp:txXfrm>
        <a:off x="7710315" y="943872"/>
        <a:ext cx="1900400" cy="8062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9596C-1C0C-45A3-AA43-D99BFC33E137}" type="datetimeFigureOut">
              <a:rPr lang="fr-FR" smtClean="0"/>
              <a:t>09/09/2024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753A0-A9E1-4128-B69B-F60BFC2669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674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2"/>
                </a:solidFill>
              </a:rPr>
              <a:t>The diagonal elements of P represent the variance of the filtered EEG signal at each channel, indicating the power spectrum. The off-diagonal elements provide a measure of covariance between different channels, reflecting how signal components vary together over time—a crucial aspect for understanding functional connectivity in the brain</a:t>
            </a:r>
            <a:endParaRPr lang="fr-FR" sz="1200" dirty="0">
              <a:solidFill>
                <a:schemeClr val="tx2"/>
              </a:solidFill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753A0-A9E1-4128-B69B-F60BFC2669C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455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Insister sur l’efficacité sur les ERP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753A0-A9E1-4128-B69B-F60BFC2669CD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7428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517384-7F28-0174-F604-EEA967F91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986A997-4F9E-666A-FD33-9F0D4C21A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BA2FD9-D5B9-7E3A-9036-E8F97693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04E2-2B5F-4664-98DC-A11FA62094E6}" type="datetime1">
              <a:rPr lang="fr-FR" smtClean="0"/>
              <a:t>09/09/2024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DA59FB-A0BB-675D-DEC4-5193316B7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6A67C7-802C-A3F3-AD5C-6F5651B9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567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E22A1C-9ACC-9FBF-1A5B-D6B3C5AE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701ACC-917E-D795-FB27-0D35810EE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127A08-51C3-2FE6-108F-A56B8042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0298F-B8DB-4AC5-9D89-581DA0C461DE}" type="datetime1">
              <a:rPr lang="fr-FR" smtClean="0"/>
              <a:t>09/09/2024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FE60EF-8054-B45D-38AC-6CD357447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0F4615-3615-6A03-A0E2-393E9EC0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17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7DA0E4-D02C-E8B7-766E-CA197B9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C00E925-666D-4D0E-7FCB-A974A7D14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736900-81F5-045F-450E-A89449219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12B4C-5FBE-476E-B147-6D7DE7F662E9}" type="datetime1">
              <a:rPr lang="fr-FR" smtClean="0"/>
              <a:t>09/09/2024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6F15F8-FB33-FFF4-B122-12B44D9EC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42EE30-7E5E-37E0-CBA0-7D98E037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096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7FEEBC-21C7-1744-4BEE-60C37EE7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B02676-78D1-7C82-A684-59A09163DF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5D1EF72-BBE3-E0A3-CFE2-393EE0C63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F416C3-3418-296D-E4C9-1361DA6C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7E60-856C-46F9-BA2D-6C9DBA48B8D8}" type="datetime1">
              <a:rPr lang="fr-FR" smtClean="0"/>
              <a:t>09/09/2024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912E96-9744-8BF7-D56D-7E53475C0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E5C4FD-0FB2-D38B-90A9-6E2F48C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0082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0A3FE-1AA4-487C-4C5C-E376C945E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8A2DA0-AFF5-F9FD-9EE5-19FCE47E7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4877BD9-CB01-4904-2F3C-12847A587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C967DCD-A190-E2B7-1F9B-48363A0A7D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B3E8068-3406-9880-AF55-E923C2568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A50917F-AFB2-3646-F2E4-566DC4DA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94500-F14E-46AC-9987-AD5279ABFE48}" type="datetime1">
              <a:rPr lang="fr-FR" smtClean="0"/>
              <a:t>09/09/2024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121F434-FC68-99FA-90CF-FAB665E0F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13EDF3C-95E0-A147-146D-382251AD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453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2E00D4-B812-3DEC-947A-229C6E9F4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42A603E-7DEB-E31E-712F-0A276FB0F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4B3C-C329-4697-90E1-068ED7A3C604}" type="datetime1">
              <a:rPr lang="fr-FR" smtClean="0"/>
              <a:t>09/09/2024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5EB8792-AD6F-BAA9-4085-380859CF6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6383D1-434E-034B-7486-B7E5205A8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036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159D9A1-7CA9-CEF3-A717-910B5D451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3E11-6942-40D6-A0EE-46BDDD5D7C8C}" type="datetime1">
              <a:rPr lang="fr-FR" smtClean="0"/>
              <a:t>09/09/2024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27BC945-5B44-052D-C548-698C87A1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C390E6-2D29-4513-4AE2-CB82CF9E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61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EB3F6B-0E7D-BD24-A5C1-3E077D1EC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F6C79A-34B0-6F6F-A162-7FD3F4075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AE20B6-D0D3-65BE-9162-51629227E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AC35A9-1027-0606-A2BF-3154CC7D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3F0A-2FCD-44BD-A6F2-68A67A6C2D81}" type="datetime1">
              <a:rPr lang="fr-FR" smtClean="0"/>
              <a:t>09/09/2024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DB587A-B887-B34E-E93D-38A8C31E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ACFC7C-C0D3-313A-F158-E61B53DD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0184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3A042-5B07-314A-0BE2-28B2AEFEA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EF17C58-1D43-9874-6147-BEE0F1B3D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7D6897-FEDC-F3F8-6A83-763ADA468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734463-256C-FC5C-60D7-23783C6B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69CB-7EC8-4C15-ADDD-6316F700310F}" type="datetime1">
              <a:rPr lang="fr-FR" smtClean="0"/>
              <a:t>09/09/2024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D988975-A8AC-52BC-2347-5C4B1AB52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DFF96A-FF7D-E51E-BF72-2B4E975F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9113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F933DC-9399-EE50-C72A-A5F88260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D2E0F6-A5E7-EC8E-DD35-FC11A30A1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71D9AE-CA04-BD22-0A01-7A673483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5559-AB50-4DE1-9727-79BDD3CC792D}" type="datetime1">
              <a:rPr lang="fr-FR" smtClean="0"/>
              <a:t>09/09/2024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79C8F1-06E8-5BD0-8C7D-F58F8FD29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B80613-693C-F780-8B0D-6EFD9D75D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9318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CED146D-3544-A6F9-2800-B9FC48166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5455814-4447-A4C5-F622-83D727A08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790957-183A-1950-A102-209B3F332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8B6A0-6D3B-42FA-A779-FDEC6DE4FA92}" type="datetime1">
              <a:rPr lang="fr-FR" smtClean="0"/>
              <a:t>09/09/2024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81A881-281B-716B-41E1-10D736824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D0E273-99B8-45AB-15B5-97BEB54D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485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7DFA11C-1B10-9605-9A0E-4D944EE5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6A7356-5492-0F68-EE74-B986D408E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121432-520A-FA5E-1EAA-BEC971BD9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E8330-B374-4EA1-8AC3-2E9B2D822897}" type="datetime1">
              <a:rPr lang="fr-FR" smtClean="0"/>
              <a:t>09/09/2024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628539-4233-98CF-8250-EF42D40F5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E5F0AA-3AC5-CDDF-EAF4-186D8C381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6D13E-5F72-4A0F-A538-B4526939FD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2EBA8B43-28EB-D074-71A1-27974E4FF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fr-FR" sz="5200">
                <a:solidFill>
                  <a:schemeClr val="tx2"/>
                </a:solidFill>
              </a:rPr>
              <a:t>GRAZ BCI 2024 Workshop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E78ECC8-2A6D-6CFA-B5FC-8CBA77215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fr-FR" dirty="0" err="1">
                <a:solidFill>
                  <a:schemeClr val="tx2"/>
                </a:solidFill>
              </a:rPr>
              <a:t>Riemannian</a:t>
            </a:r>
            <a:r>
              <a:rPr lang="fr-FR" dirty="0">
                <a:solidFill>
                  <a:schemeClr val="tx2"/>
                </a:solidFill>
              </a:rPr>
              <a:t> </a:t>
            </a:r>
            <a:r>
              <a:rPr lang="fr-FR" dirty="0" err="1">
                <a:solidFill>
                  <a:schemeClr val="tx2"/>
                </a:solidFill>
              </a:rPr>
              <a:t>decoding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0EC078-488C-15FE-6AAD-F4F094DA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1</a:t>
            </a:fld>
            <a:endParaRPr lang="fr-FR"/>
          </a:p>
        </p:txBody>
      </p:sp>
      <p:pic>
        <p:nvPicPr>
          <p:cNvPr id="5" name="Picture 6" descr="ISAE-Supaero - AFIS">
            <a:extLst>
              <a:ext uri="{FF2B5EF4-FFF2-40B4-BE49-F238E27FC236}">
                <a16:creationId xmlns:a16="http://schemas.microsoft.com/office/drawing/2014/main" id="{564D9755-E78D-8297-19DD-C008A8C80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3" y="4222"/>
            <a:ext cx="2393845" cy="143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age d'accueil - LISN | Laboratoire Interdisciplinaire des Sciences du  Numérique">
            <a:extLst>
              <a:ext uri="{FF2B5EF4-FFF2-40B4-BE49-F238E27FC236}">
                <a16:creationId xmlns:a16="http://schemas.microsoft.com/office/drawing/2014/main" id="{ABC2E60E-6A80-D06B-9C63-1882D4211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0908" y="-46447"/>
            <a:ext cx="3561092" cy="143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985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re 1">
            <a:extLst>
              <a:ext uri="{FF2B5EF4-FFF2-40B4-BE49-F238E27FC236}">
                <a16:creationId xmlns:a16="http://schemas.microsoft.com/office/drawing/2014/main" id="{01F9F1CE-F26B-1C57-E397-F7B122CCE60C}"/>
              </a:ext>
            </a:extLst>
          </p:cNvPr>
          <p:cNvSpPr txBox="1">
            <a:spLocks/>
          </p:cNvSpPr>
          <p:nvPr/>
        </p:nvSpPr>
        <p:spPr>
          <a:xfrm>
            <a:off x="1179226" y="1280679"/>
            <a:ext cx="9833548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>
                <a:solidFill>
                  <a:schemeClr val="tx2"/>
                </a:solidFill>
              </a:rPr>
              <a:t>Summary</a:t>
            </a:r>
            <a:endParaRPr lang="fr-FR" sz="3600" dirty="0">
              <a:solidFill>
                <a:schemeClr val="tx2"/>
              </a:solidFill>
            </a:endParaRPr>
          </a:p>
        </p:txBody>
      </p:sp>
      <p:graphicFrame>
        <p:nvGraphicFramePr>
          <p:cNvPr id="8" name="Espace réservé du contenu 2">
            <a:extLst>
              <a:ext uri="{FF2B5EF4-FFF2-40B4-BE49-F238E27FC236}">
                <a16:creationId xmlns:a16="http://schemas.microsoft.com/office/drawing/2014/main" id="{CCFD1178-4676-42B4-5BA3-A8EE61C400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5669029"/>
              </p:ext>
            </p:extLst>
          </p:nvPr>
        </p:nvGraphicFramePr>
        <p:xfrm>
          <a:off x="1179226" y="2890979"/>
          <a:ext cx="9833548" cy="2693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1A7D0AE-C3C7-D4A7-06FD-A6C8B2222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06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C34DEB6-975E-6571-5FAF-807CB2E5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Riemannian manifold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3AE205C-64CE-5B6C-3FD5-01D9C5282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021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34DEB6-975E-6571-5FAF-807CB2E5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281" y="1311088"/>
            <a:ext cx="9833548" cy="1066802"/>
          </a:xfrm>
        </p:spPr>
        <p:txBody>
          <a:bodyPr anchor="b">
            <a:normAutofit/>
          </a:bodyPr>
          <a:lstStyle/>
          <a:p>
            <a:pPr algn="ctr"/>
            <a:r>
              <a:rPr lang="fr-FR" sz="3600" dirty="0" err="1">
                <a:solidFill>
                  <a:schemeClr val="tx2"/>
                </a:solidFill>
              </a:rPr>
              <a:t>Riemannian</a:t>
            </a:r>
            <a:r>
              <a:rPr lang="fr-FR" sz="3600" dirty="0">
                <a:solidFill>
                  <a:schemeClr val="tx2"/>
                </a:solidFill>
              </a:rPr>
              <a:t> manifold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DF438DE-8614-1BB5-38C1-36CA6E6C3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09900"/>
            <a:ext cx="10515600" cy="2245702"/>
          </a:xfrm>
        </p:spPr>
        <p:txBody>
          <a:bodyPr>
            <a:normAutofit/>
          </a:bodyPr>
          <a:lstStyle/>
          <a:p>
            <a:r>
              <a:rPr lang="fr-FR" dirty="0"/>
              <a:t>SPD : </a:t>
            </a:r>
            <a:r>
              <a:rPr lang="fr-FR" dirty="0" err="1"/>
              <a:t>symmetric</a:t>
            </a:r>
            <a:r>
              <a:rPr lang="fr-FR" dirty="0"/>
              <a:t> positive </a:t>
            </a:r>
            <a:r>
              <a:rPr lang="fr-FR" dirty="0" err="1"/>
              <a:t>definite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9CB8DCE-5E8F-C859-B0AD-0BA8C8AAA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31499"/>
            <a:ext cx="10209710" cy="764722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CBC8A54-8B64-D879-554A-BE7E2575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2607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34DEB6-975E-6571-5FAF-807CB2E5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817" y="645437"/>
            <a:ext cx="8739326" cy="8056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Riemannian manifold</a:t>
            </a:r>
          </a:p>
        </p:txBody>
      </p:sp>
      <p:grpSp>
        <p:nvGrpSpPr>
          <p:cNvPr id="8" name="Group 10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6" name="Freeform: Shape 11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4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Image 24">
            <a:extLst>
              <a:ext uri="{FF2B5EF4-FFF2-40B4-BE49-F238E27FC236}">
                <a16:creationId xmlns:a16="http://schemas.microsoft.com/office/drawing/2014/main" id="{9D6505D3-0398-D671-1911-BB101ECEC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613" y="2976003"/>
            <a:ext cx="3881842" cy="320152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72A99C08-8D14-4C23-575E-C6982C97E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910" y="4116013"/>
            <a:ext cx="3961878" cy="413529"/>
          </a:xfrm>
          <a:prstGeom prst="rect">
            <a:avLst/>
          </a:prstGeom>
        </p:spPr>
      </p:pic>
      <p:pic>
        <p:nvPicPr>
          <p:cNvPr id="28" name="Image 27" descr="Une image contenant texte, diagramme, ligne, Police&#10;&#10;Description générée automatiquement">
            <a:extLst>
              <a:ext uri="{FF2B5EF4-FFF2-40B4-BE49-F238E27FC236}">
                <a16:creationId xmlns:a16="http://schemas.microsoft.com/office/drawing/2014/main" id="{71B6F0A9-F354-2F21-E200-5FC46CBFDD2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47" y="2644718"/>
            <a:ext cx="5201376" cy="3515216"/>
          </a:xfrm>
          <a:prstGeom prst="rect">
            <a:avLst/>
          </a:prstGeom>
        </p:spPr>
      </p:pic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4A48E3DD-3307-A9BF-4229-2B6908956B1E}"/>
              </a:ext>
            </a:extLst>
          </p:cNvPr>
          <p:cNvSpPr/>
          <p:nvPr/>
        </p:nvSpPr>
        <p:spPr>
          <a:xfrm>
            <a:off x="1397669" y="1818883"/>
            <a:ext cx="3812027" cy="769519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fr-FR" dirty="0" err="1"/>
              <a:t>Geometric</a:t>
            </a:r>
            <a:r>
              <a:rPr lang="fr-FR" dirty="0"/>
              <a:t> plan of tangent plan, </a:t>
            </a:r>
            <a:r>
              <a:rPr lang="fr-FR" dirty="0" err="1"/>
              <a:t>riemannian</a:t>
            </a:r>
            <a:r>
              <a:rPr lang="fr-FR" dirty="0"/>
              <a:t> manifold and </a:t>
            </a:r>
            <a:r>
              <a:rPr lang="fr-FR" dirty="0" err="1"/>
              <a:t>geodesic</a:t>
            </a:r>
            <a:endParaRPr lang="fr-FR" dirty="0"/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74DBBAC1-29BB-6FAA-23B3-0CF8D06C44F0}"/>
              </a:ext>
            </a:extLst>
          </p:cNvPr>
          <p:cNvSpPr/>
          <p:nvPr/>
        </p:nvSpPr>
        <p:spPr>
          <a:xfrm>
            <a:off x="6343979" y="2503979"/>
            <a:ext cx="4912715" cy="413529"/>
          </a:xfrm>
          <a:prstGeom prst="roundRect">
            <a:avLst>
              <a:gd name="adj" fmla="val 10000"/>
            </a:avLst>
          </a:prstGeom>
          <a:solidFill>
            <a:srgbClr val="CCD5EA"/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fr-FR" sz="1400" dirty="0"/>
              <a:t>Equation to go </a:t>
            </a:r>
            <a:r>
              <a:rPr lang="fr-FR" sz="1400" dirty="0" err="1"/>
              <a:t>from</a:t>
            </a:r>
            <a:r>
              <a:rPr lang="fr-FR" sz="1400" dirty="0"/>
              <a:t> manifold to tangent </a:t>
            </a:r>
            <a:r>
              <a:rPr lang="fr-FR" sz="1400" dirty="0" err="1"/>
              <a:t>space</a:t>
            </a:r>
            <a:endParaRPr lang="fr-FR" sz="1400" dirty="0"/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D5534146-FD65-68A3-E0DB-961A1C3491DB}"/>
              </a:ext>
            </a:extLst>
          </p:cNvPr>
          <p:cNvSpPr/>
          <p:nvPr/>
        </p:nvSpPr>
        <p:spPr>
          <a:xfrm>
            <a:off x="6343979" y="3637991"/>
            <a:ext cx="4912715" cy="413529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fr-FR" sz="1400" dirty="0"/>
              <a:t>Equation to go </a:t>
            </a:r>
            <a:r>
              <a:rPr lang="fr-FR" sz="1400" dirty="0" err="1"/>
              <a:t>from</a:t>
            </a:r>
            <a:r>
              <a:rPr lang="fr-FR" sz="1400" dirty="0"/>
              <a:t> tangent </a:t>
            </a:r>
            <a:r>
              <a:rPr lang="fr-FR" sz="1400" dirty="0" err="1"/>
              <a:t>space</a:t>
            </a:r>
            <a:r>
              <a:rPr lang="fr-FR" sz="1400" dirty="0"/>
              <a:t> to manifold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7FB1579-75FA-27D7-F563-2AF9CE7DFB1F}"/>
              </a:ext>
            </a:extLst>
          </p:cNvPr>
          <p:cNvSpPr txBox="1"/>
          <p:nvPr/>
        </p:nvSpPr>
        <p:spPr>
          <a:xfrm>
            <a:off x="0" y="6544984"/>
            <a:ext cx="4105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0" i="0" dirty="0">
                <a:effectLst/>
              </a:rPr>
              <a:t>I.E </a:t>
            </a:r>
            <a:r>
              <a:rPr lang="fr-FR" sz="900" b="0" i="0" dirty="0" err="1">
                <a:effectLst/>
              </a:rPr>
              <a:t>Tibermacine</a:t>
            </a:r>
            <a:r>
              <a:rPr lang="fr-FR" sz="900" b="0" i="0" dirty="0">
                <a:effectLst/>
              </a:rPr>
              <a:t> &amp; al. </a:t>
            </a:r>
            <a:r>
              <a:rPr lang="en-US" sz="900" b="0" i="0" dirty="0">
                <a:effectLst/>
              </a:rPr>
              <a:t>Riemannian Geometry-Based EEG Approaches: A Literature Review</a:t>
            </a:r>
            <a:r>
              <a:rPr lang="fr-FR" sz="900" b="0" i="0" dirty="0">
                <a:effectLst/>
              </a:rPr>
              <a:t>. In </a:t>
            </a:r>
            <a:r>
              <a:rPr lang="fr-FR" sz="900" b="0" i="0" dirty="0" err="1">
                <a:effectLst/>
              </a:rPr>
              <a:t>arXiv</a:t>
            </a:r>
            <a:r>
              <a:rPr lang="fr-FR" sz="900" b="0" i="0" dirty="0">
                <a:effectLst/>
              </a:rPr>
              <a:t>, 2024, 10.48550/arXiv.2407.20250</a:t>
            </a:r>
            <a:endParaRPr lang="fr-FR" sz="9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7D8DB26-22F2-E8C2-543D-069982E3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5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BAD8688-6946-371F-D40A-DA786CB18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126" y="5875773"/>
            <a:ext cx="3076575" cy="64698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A8168F5-FD52-FBA9-4E43-701B1EE587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386" y="5950384"/>
            <a:ext cx="2840450" cy="371475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6B1E42D-01D9-5F4A-FB3D-CEB79A302C8D}"/>
              </a:ext>
            </a:extLst>
          </p:cNvPr>
          <p:cNvSpPr/>
          <p:nvPr/>
        </p:nvSpPr>
        <p:spPr>
          <a:xfrm>
            <a:off x="5751101" y="5428720"/>
            <a:ext cx="2840450" cy="413529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fr-FR" sz="1400" dirty="0"/>
              <a:t>Affine invariant </a:t>
            </a:r>
            <a:r>
              <a:rPr lang="fr-FR" sz="1400" dirty="0" err="1"/>
              <a:t>metric</a:t>
            </a:r>
            <a:endParaRPr lang="fr-FR" sz="1400" dirty="0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A6EB6E1-E90E-A0D2-AA1E-F6A19666C8A7}"/>
              </a:ext>
            </a:extLst>
          </p:cNvPr>
          <p:cNvSpPr/>
          <p:nvPr/>
        </p:nvSpPr>
        <p:spPr>
          <a:xfrm>
            <a:off x="9052360" y="5400330"/>
            <a:ext cx="2840450" cy="413529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fr-FR" sz="1400" dirty="0"/>
              <a:t>Log-</a:t>
            </a:r>
            <a:r>
              <a:rPr lang="fr-FR" sz="1400" dirty="0" err="1"/>
              <a:t>euclidian</a:t>
            </a:r>
            <a:r>
              <a:rPr lang="fr-FR" sz="1400" dirty="0"/>
              <a:t> </a:t>
            </a:r>
            <a:r>
              <a:rPr lang="fr-FR" sz="1400" dirty="0" err="1"/>
              <a:t>metric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0603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C34DEB6-975E-6571-5FAF-807CB2E5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advantages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19084C5-EF38-89E0-0163-3FFFAD42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123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40B5C3-6365-4AE3-6D1A-4746AF6A3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564" y="578304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fr-FR" sz="3600" dirty="0">
                <a:solidFill>
                  <a:schemeClr val="tx2"/>
                </a:solidFill>
              </a:rPr>
              <a:t>The </a:t>
            </a:r>
            <a:r>
              <a:rPr lang="fr-FR" sz="3600" dirty="0" err="1">
                <a:solidFill>
                  <a:schemeClr val="tx2"/>
                </a:solidFill>
              </a:rPr>
              <a:t>advantages</a:t>
            </a:r>
            <a:endParaRPr lang="fr-FR" sz="3600" dirty="0">
              <a:solidFill>
                <a:schemeClr val="tx2"/>
              </a:solidFill>
            </a:endParaRPr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AF4D2A9-FF09-7569-4E2E-4BB33C73477E}"/>
              </a:ext>
            </a:extLst>
          </p:cNvPr>
          <p:cNvSpPr/>
          <p:nvPr/>
        </p:nvSpPr>
        <p:spPr>
          <a:xfrm>
            <a:off x="652201" y="2770648"/>
            <a:ext cx="9156285" cy="467852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>
                <a:solidFill>
                  <a:schemeClr val="tx2"/>
                </a:solidFill>
              </a:rPr>
              <a:t>Reduces</a:t>
            </a:r>
            <a:r>
              <a:rPr lang="fr-FR" sz="1400" dirty="0">
                <a:solidFill>
                  <a:schemeClr val="tx2"/>
                </a:solidFill>
              </a:rPr>
              <a:t> noises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FAB5DEA-74A6-8155-1F0D-FE53FF2F2372}"/>
              </a:ext>
            </a:extLst>
          </p:cNvPr>
          <p:cNvSpPr/>
          <p:nvPr/>
        </p:nvSpPr>
        <p:spPr>
          <a:xfrm>
            <a:off x="652200" y="3408279"/>
            <a:ext cx="9156285" cy="467852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>
                <a:solidFill>
                  <a:schemeClr val="tx2"/>
                </a:solidFill>
              </a:rPr>
              <a:t>Retrieves</a:t>
            </a:r>
            <a:r>
              <a:rPr lang="fr-FR" sz="1400" dirty="0">
                <a:solidFill>
                  <a:schemeClr val="tx2"/>
                </a:solidFill>
              </a:rPr>
              <a:t> high </a:t>
            </a:r>
            <a:r>
              <a:rPr lang="fr-FR" sz="1400" dirty="0" err="1">
                <a:solidFill>
                  <a:schemeClr val="tx2"/>
                </a:solidFill>
              </a:rPr>
              <a:t>statistical</a:t>
            </a:r>
            <a:r>
              <a:rPr lang="fr-FR" sz="1400" dirty="0">
                <a:solidFill>
                  <a:schemeClr val="tx2"/>
                </a:solidFill>
              </a:rPr>
              <a:t> information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C5416ED-C28E-4B55-A5B0-D9E9ACB8853B}"/>
              </a:ext>
            </a:extLst>
          </p:cNvPr>
          <p:cNvSpPr/>
          <p:nvPr/>
        </p:nvSpPr>
        <p:spPr>
          <a:xfrm>
            <a:off x="652199" y="4048241"/>
            <a:ext cx="9156285" cy="467852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>
                <a:solidFill>
                  <a:schemeClr val="tx2"/>
                </a:solidFill>
              </a:rPr>
              <a:t>Helps</a:t>
            </a:r>
            <a:r>
              <a:rPr lang="fr-FR" sz="1400" dirty="0">
                <a:solidFill>
                  <a:schemeClr val="tx2"/>
                </a:solidFill>
              </a:rPr>
              <a:t> to </a:t>
            </a:r>
            <a:r>
              <a:rPr lang="fr-FR" sz="1400" dirty="0" err="1">
                <a:solidFill>
                  <a:schemeClr val="tx2"/>
                </a:solidFill>
              </a:rPr>
              <a:t>extract</a:t>
            </a:r>
            <a:r>
              <a:rPr lang="fr-FR" sz="1400" dirty="0">
                <a:solidFill>
                  <a:schemeClr val="tx2"/>
                </a:solidFill>
              </a:rPr>
              <a:t> new </a:t>
            </a:r>
            <a:r>
              <a:rPr lang="fr-FR" sz="1400" dirty="0" err="1">
                <a:solidFill>
                  <a:schemeClr val="tx2"/>
                </a:solidFill>
              </a:rPr>
              <a:t>features</a:t>
            </a:r>
            <a:r>
              <a:rPr lang="fr-FR" sz="1400" dirty="0">
                <a:solidFill>
                  <a:schemeClr val="tx2"/>
                </a:solidFill>
              </a:rPr>
              <a:t>, to </a:t>
            </a:r>
            <a:r>
              <a:rPr lang="fr-FR" sz="1400" dirty="0" err="1">
                <a:solidFill>
                  <a:schemeClr val="tx2"/>
                </a:solidFill>
              </a:rPr>
              <a:t>create</a:t>
            </a:r>
            <a:r>
              <a:rPr lang="fr-FR" sz="1400" dirty="0">
                <a:solidFill>
                  <a:schemeClr val="tx2"/>
                </a:solidFill>
              </a:rPr>
              <a:t> </a:t>
            </a:r>
            <a:r>
              <a:rPr lang="fr-FR" sz="1400" dirty="0" err="1">
                <a:solidFill>
                  <a:schemeClr val="tx2"/>
                </a:solidFill>
              </a:rPr>
              <a:t>Riemannian</a:t>
            </a:r>
            <a:r>
              <a:rPr lang="fr-FR" sz="1400" dirty="0">
                <a:solidFill>
                  <a:schemeClr val="tx2"/>
                </a:solidFill>
              </a:rPr>
              <a:t> </a:t>
            </a:r>
            <a:r>
              <a:rPr lang="fr-FR" sz="1400" dirty="0" err="1">
                <a:solidFill>
                  <a:schemeClr val="tx2"/>
                </a:solidFill>
              </a:rPr>
              <a:t>classifiers</a:t>
            </a:r>
            <a:r>
              <a:rPr lang="fr-FR" sz="1400" dirty="0">
                <a:solidFill>
                  <a:schemeClr val="tx2"/>
                </a:solidFill>
              </a:rPr>
              <a:t> or to </a:t>
            </a:r>
            <a:r>
              <a:rPr lang="fr-FR" sz="1400" dirty="0" err="1">
                <a:solidFill>
                  <a:schemeClr val="tx2"/>
                </a:solidFill>
              </a:rPr>
              <a:t>perform</a:t>
            </a:r>
            <a:r>
              <a:rPr lang="fr-FR" sz="1400" dirty="0">
                <a:solidFill>
                  <a:schemeClr val="tx2"/>
                </a:solidFill>
              </a:rPr>
              <a:t> </a:t>
            </a:r>
            <a:r>
              <a:rPr lang="fr-FR" sz="1400" dirty="0" err="1">
                <a:solidFill>
                  <a:schemeClr val="tx2"/>
                </a:solidFill>
              </a:rPr>
              <a:t>transfer</a:t>
            </a:r>
            <a:r>
              <a:rPr lang="fr-FR" sz="1400" dirty="0">
                <a:solidFill>
                  <a:schemeClr val="tx2"/>
                </a:solidFill>
              </a:rPr>
              <a:t> </a:t>
            </a:r>
            <a:r>
              <a:rPr lang="fr-FR" sz="1400" dirty="0" err="1">
                <a:solidFill>
                  <a:schemeClr val="tx2"/>
                </a:solidFill>
              </a:rPr>
              <a:t>learning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80A011A-9681-FA71-1AD9-3ED2441CCEE8}"/>
              </a:ext>
            </a:extLst>
          </p:cNvPr>
          <p:cNvSpPr/>
          <p:nvPr/>
        </p:nvSpPr>
        <p:spPr>
          <a:xfrm>
            <a:off x="661848" y="4685872"/>
            <a:ext cx="9156285" cy="467852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 err="1">
                <a:solidFill>
                  <a:schemeClr val="tx2"/>
                </a:solidFill>
              </a:rPr>
              <a:t>Improved</a:t>
            </a:r>
            <a:r>
              <a:rPr lang="fr-FR" sz="1400" dirty="0">
                <a:solidFill>
                  <a:schemeClr val="tx2"/>
                </a:solidFill>
              </a:rPr>
              <a:t> </a:t>
            </a:r>
            <a:r>
              <a:rPr lang="fr-FR" sz="1400" dirty="0" err="1">
                <a:solidFill>
                  <a:schemeClr val="tx2"/>
                </a:solidFill>
              </a:rPr>
              <a:t>accuracy</a:t>
            </a:r>
            <a:r>
              <a:rPr lang="fr-FR" sz="1400" dirty="0">
                <a:solidFill>
                  <a:schemeClr val="tx2"/>
                </a:solidFill>
              </a:rPr>
              <a:t> classification in a lot of </a:t>
            </a:r>
            <a:r>
              <a:rPr lang="fr-FR" sz="1400" dirty="0" err="1">
                <a:solidFill>
                  <a:schemeClr val="tx2"/>
                </a:solidFill>
              </a:rPr>
              <a:t>competitions</a:t>
            </a:r>
            <a:r>
              <a:rPr lang="fr-FR" sz="1400" dirty="0">
                <a:solidFill>
                  <a:schemeClr val="tx2"/>
                </a:solidFill>
              </a:rPr>
              <a:t> and </a:t>
            </a:r>
            <a:r>
              <a:rPr lang="fr-FR" sz="1400" dirty="0" err="1">
                <a:solidFill>
                  <a:schemeClr val="tx2"/>
                </a:solidFill>
              </a:rPr>
              <a:t>different</a:t>
            </a:r>
            <a:r>
              <a:rPr lang="fr-FR" sz="1400" dirty="0">
                <a:solidFill>
                  <a:schemeClr val="tx2"/>
                </a:solidFill>
              </a:rPr>
              <a:t> </a:t>
            </a:r>
            <a:r>
              <a:rPr lang="fr-FR" sz="1400" dirty="0" err="1">
                <a:solidFill>
                  <a:schemeClr val="tx2"/>
                </a:solidFill>
              </a:rPr>
              <a:t>paradigms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74E97AF-BD39-5FAF-19D6-5A3ACA4652E3}"/>
              </a:ext>
            </a:extLst>
          </p:cNvPr>
          <p:cNvSpPr/>
          <p:nvPr/>
        </p:nvSpPr>
        <p:spPr>
          <a:xfrm>
            <a:off x="652199" y="5323504"/>
            <a:ext cx="9156285" cy="467852"/>
          </a:xfrm>
          <a:prstGeom prst="round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2"/>
                </a:solidFill>
              </a:rPr>
              <a:t>Contains information of power spectrum and how components vary together over time (useful for connectivity)</a:t>
            </a:r>
            <a:endParaRPr lang="fr-FR" sz="1400" dirty="0">
              <a:solidFill>
                <a:schemeClr val="tx2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5178A13-C23E-66FE-8F99-968EBF7D34A3}"/>
              </a:ext>
            </a:extLst>
          </p:cNvPr>
          <p:cNvSpPr txBox="1"/>
          <p:nvPr/>
        </p:nvSpPr>
        <p:spPr>
          <a:xfrm>
            <a:off x="-4747" y="6084460"/>
            <a:ext cx="471009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-</a:t>
            </a:r>
            <a:r>
              <a:rPr lang="fr-FR" sz="900" b="0" i="0" dirty="0">
                <a:effectLst/>
              </a:rPr>
              <a:t>I.E </a:t>
            </a:r>
            <a:r>
              <a:rPr lang="fr-FR" sz="900" b="0" i="0" dirty="0" err="1">
                <a:effectLst/>
              </a:rPr>
              <a:t>Tibermacine</a:t>
            </a:r>
            <a:r>
              <a:rPr lang="fr-FR" sz="900" b="0" i="0" dirty="0">
                <a:effectLst/>
              </a:rPr>
              <a:t> &amp; al. </a:t>
            </a:r>
            <a:r>
              <a:rPr lang="en-US" sz="900" b="0" i="0" dirty="0">
                <a:effectLst/>
              </a:rPr>
              <a:t>Riemannian Geometry-Based EEG Approaches: A Literature Review</a:t>
            </a:r>
            <a:r>
              <a:rPr lang="fr-FR" sz="900" b="0" i="0" dirty="0">
                <a:effectLst/>
              </a:rPr>
              <a:t>. In </a:t>
            </a:r>
            <a:r>
              <a:rPr lang="fr-FR" sz="900" b="0" i="0" dirty="0" err="1">
                <a:effectLst/>
              </a:rPr>
              <a:t>arXiv</a:t>
            </a:r>
            <a:r>
              <a:rPr lang="fr-FR" sz="900" b="0" i="0" dirty="0">
                <a:effectLst/>
              </a:rPr>
              <a:t>, 2024, 10.48550/arXiv.2407.20250</a:t>
            </a:r>
          </a:p>
          <a:p>
            <a:r>
              <a:rPr lang="fr-FR" sz="900" b="0" i="0" dirty="0">
                <a:solidFill>
                  <a:srgbClr val="333333"/>
                </a:solidFill>
                <a:effectLst/>
              </a:rPr>
              <a:t>-G. Xu </a:t>
            </a:r>
            <a:r>
              <a:rPr lang="fr-FR" sz="900" b="0" i="1" dirty="0">
                <a:solidFill>
                  <a:srgbClr val="333333"/>
                </a:solidFill>
                <a:effectLst/>
              </a:rPr>
              <a:t>et al</a:t>
            </a:r>
            <a:r>
              <a:rPr lang="fr-FR" sz="900" b="0" i="0" dirty="0">
                <a:solidFill>
                  <a:srgbClr val="333333"/>
                </a:solidFill>
                <a:effectLst/>
              </a:rPr>
              <a:t>., "</a:t>
            </a:r>
            <a:r>
              <a:rPr lang="fr-FR" sz="900" b="0" i="0" dirty="0" err="1">
                <a:solidFill>
                  <a:srgbClr val="333333"/>
                </a:solidFill>
                <a:effectLst/>
              </a:rPr>
              <a:t>Attentional</a:t>
            </a:r>
            <a:r>
              <a:rPr lang="fr-FR" sz="900" b="0" i="0" dirty="0">
                <a:solidFill>
                  <a:srgbClr val="333333"/>
                </a:solidFill>
                <a:effectLst/>
              </a:rPr>
              <a:t> State Classification </a:t>
            </a:r>
            <a:r>
              <a:rPr lang="fr-FR" sz="900" b="0" i="0" dirty="0" err="1">
                <a:solidFill>
                  <a:srgbClr val="333333"/>
                </a:solidFill>
                <a:effectLst/>
              </a:rPr>
              <a:t>Using</a:t>
            </a:r>
            <a:r>
              <a:rPr lang="fr-FR" sz="900" b="0" i="0" dirty="0">
                <a:solidFill>
                  <a:srgbClr val="333333"/>
                </a:solidFill>
                <a:effectLst/>
              </a:rPr>
              <a:t> Amplitude and Phase </a:t>
            </a:r>
            <a:r>
              <a:rPr lang="fr-FR" sz="900" b="0" i="0" dirty="0" err="1">
                <a:solidFill>
                  <a:srgbClr val="333333"/>
                </a:solidFill>
                <a:effectLst/>
              </a:rPr>
              <a:t>Feature</a:t>
            </a:r>
            <a:r>
              <a:rPr lang="fr-FR" sz="900" b="0" i="0" dirty="0">
                <a:solidFill>
                  <a:srgbClr val="333333"/>
                </a:solidFill>
                <a:effectLst/>
              </a:rPr>
              <a:t> Extraction Method </a:t>
            </a:r>
            <a:r>
              <a:rPr lang="fr-FR" sz="900" b="0" i="0" dirty="0" err="1">
                <a:solidFill>
                  <a:srgbClr val="333333"/>
                </a:solidFill>
                <a:effectLst/>
              </a:rPr>
              <a:t>Based</a:t>
            </a:r>
            <a:r>
              <a:rPr lang="fr-FR" sz="900" b="0" i="0" dirty="0">
                <a:solidFill>
                  <a:srgbClr val="333333"/>
                </a:solidFill>
                <a:effectLst/>
              </a:rPr>
              <a:t> on </a:t>
            </a:r>
            <a:r>
              <a:rPr lang="fr-FR" sz="900" b="0" i="0" dirty="0" err="1">
                <a:solidFill>
                  <a:srgbClr val="333333"/>
                </a:solidFill>
                <a:effectLst/>
              </a:rPr>
              <a:t>Filter</a:t>
            </a:r>
            <a:r>
              <a:rPr lang="fr-FR" sz="900" b="0" i="0" dirty="0">
                <a:solidFill>
                  <a:srgbClr val="333333"/>
                </a:solidFill>
                <a:effectLst/>
              </a:rPr>
              <a:t> Bank and </a:t>
            </a:r>
            <a:r>
              <a:rPr lang="fr-FR" sz="900" b="0" i="0" dirty="0" err="1">
                <a:solidFill>
                  <a:srgbClr val="333333"/>
                </a:solidFill>
                <a:effectLst/>
              </a:rPr>
              <a:t>Riemannian</a:t>
            </a:r>
            <a:r>
              <a:rPr lang="fr-FR" sz="900" b="0" i="0" dirty="0">
                <a:solidFill>
                  <a:srgbClr val="333333"/>
                </a:solidFill>
                <a:effectLst/>
              </a:rPr>
              <a:t> Manifold," in </a:t>
            </a:r>
            <a:r>
              <a:rPr lang="fr-FR" sz="900" b="0" i="1" dirty="0">
                <a:solidFill>
                  <a:srgbClr val="333333"/>
                </a:solidFill>
                <a:effectLst/>
              </a:rPr>
              <a:t>IEEE TNSRE</a:t>
            </a:r>
            <a:r>
              <a:rPr lang="fr-FR" sz="900" b="0" i="0" dirty="0">
                <a:solidFill>
                  <a:srgbClr val="333333"/>
                </a:solidFill>
                <a:effectLst/>
              </a:rPr>
              <a:t>, vol. 31, pp. 4402-4412, 2023, </a:t>
            </a:r>
            <a:r>
              <a:rPr lang="fr-FR" sz="900" b="0" i="0" dirty="0" err="1">
                <a:solidFill>
                  <a:srgbClr val="333333"/>
                </a:solidFill>
                <a:effectLst/>
              </a:rPr>
              <a:t>doi</a:t>
            </a:r>
            <a:r>
              <a:rPr lang="fr-FR" sz="900" b="0" i="0" dirty="0">
                <a:solidFill>
                  <a:srgbClr val="333333"/>
                </a:solidFill>
                <a:effectLst/>
              </a:rPr>
              <a:t>: 10.1109/TNSRE.2023.3329482</a:t>
            </a:r>
            <a:endParaRPr lang="fr-FR" sz="90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DE9A25-5AE2-82A1-0A67-F9944337E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697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DBCA83D-BA7D-B22F-51DD-25C5472F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Common Riemannian usage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9553153-FC9A-BFF0-6474-A1EA34AC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8629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23CC8D-E01B-F53D-ED81-9F295B290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19" y="186045"/>
            <a:ext cx="9833548" cy="768877"/>
          </a:xfrm>
        </p:spPr>
        <p:txBody>
          <a:bodyPr anchor="b">
            <a:normAutofit/>
          </a:bodyPr>
          <a:lstStyle/>
          <a:p>
            <a:r>
              <a:rPr lang="fr-FR" sz="3600" dirty="0">
                <a:solidFill>
                  <a:schemeClr val="tx2"/>
                </a:solidFill>
              </a:rPr>
              <a:t>Minimum Distance to </a:t>
            </a:r>
            <a:r>
              <a:rPr lang="fr-FR" sz="3600" dirty="0" err="1">
                <a:solidFill>
                  <a:schemeClr val="tx2"/>
                </a:solidFill>
              </a:rPr>
              <a:t>Mean</a:t>
            </a:r>
            <a:endParaRPr lang="fr-FR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5B51F67-74C4-7014-70B7-F5F0C058024E}"/>
              </a:ext>
            </a:extLst>
          </p:cNvPr>
          <p:cNvSpPr/>
          <p:nvPr/>
        </p:nvSpPr>
        <p:spPr>
          <a:xfrm>
            <a:off x="7749" y="4432515"/>
            <a:ext cx="3169403" cy="24177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488972B3-82B1-7009-CAA7-99BDACB24575}"/>
              </a:ext>
            </a:extLst>
          </p:cNvPr>
          <p:cNvCxnSpPr>
            <a:cxnSpLocks/>
          </p:cNvCxnSpPr>
          <p:nvPr/>
        </p:nvCxnSpPr>
        <p:spPr>
          <a:xfrm>
            <a:off x="2974265" y="5641380"/>
            <a:ext cx="4488169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EAB8B28C-3326-97D9-F4F1-1CE425CFF3D0}"/>
              </a:ext>
            </a:extLst>
          </p:cNvPr>
          <p:cNvCxnSpPr>
            <a:cxnSpLocks/>
          </p:cNvCxnSpPr>
          <p:nvPr/>
        </p:nvCxnSpPr>
        <p:spPr>
          <a:xfrm flipV="1">
            <a:off x="2974265" y="2030310"/>
            <a:ext cx="0" cy="3611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lipse 26">
            <a:extLst>
              <a:ext uri="{FF2B5EF4-FFF2-40B4-BE49-F238E27FC236}">
                <a16:creationId xmlns:a16="http://schemas.microsoft.com/office/drawing/2014/main" id="{37A2F114-8AC1-178B-B8D2-D5E501EB5DE2}"/>
              </a:ext>
            </a:extLst>
          </p:cNvPr>
          <p:cNvSpPr/>
          <p:nvPr/>
        </p:nvSpPr>
        <p:spPr>
          <a:xfrm>
            <a:off x="3549112" y="2382977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9FDC27A0-F995-F573-CC64-614CDF66D5F8}"/>
              </a:ext>
            </a:extLst>
          </p:cNvPr>
          <p:cNvSpPr/>
          <p:nvPr/>
        </p:nvSpPr>
        <p:spPr>
          <a:xfrm>
            <a:off x="3701512" y="2535377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1565C351-77FF-857B-B60A-A8B22BAA24C9}"/>
              </a:ext>
            </a:extLst>
          </p:cNvPr>
          <p:cNvSpPr/>
          <p:nvPr/>
        </p:nvSpPr>
        <p:spPr>
          <a:xfrm>
            <a:off x="3853912" y="2687777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3D4B466E-9E50-432C-7B95-30B5B483C0D3}"/>
              </a:ext>
            </a:extLst>
          </p:cNvPr>
          <p:cNvSpPr/>
          <p:nvPr/>
        </p:nvSpPr>
        <p:spPr>
          <a:xfrm>
            <a:off x="3649847" y="2687299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6884C9C-1758-3228-0A00-CED43AA207C1}"/>
              </a:ext>
            </a:extLst>
          </p:cNvPr>
          <p:cNvSpPr/>
          <p:nvPr/>
        </p:nvSpPr>
        <p:spPr>
          <a:xfrm>
            <a:off x="3802247" y="2840176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D4DD6716-242F-0204-8170-D39F6C09F6DB}"/>
              </a:ext>
            </a:extLst>
          </p:cNvPr>
          <p:cNvSpPr/>
          <p:nvPr/>
        </p:nvSpPr>
        <p:spPr>
          <a:xfrm>
            <a:off x="3902982" y="2500506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18C15FA9-B3DF-AFC7-53E0-5F68D2231F2E}"/>
              </a:ext>
            </a:extLst>
          </p:cNvPr>
          <p:cNvSpPr/>
          <p:nvPr/>
        </p:nvSpPr>
        <p:spPr>
          <a:xfrm>
            <a:off x="3801942" y="2403053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A8D74814-977D-E065-865B-B7E4F6C074CA}"/>
              </a:ext>
            </a:extLst>
          </p:cNvPr>
          <p:cNvSpPr/>
          <p:nvPr/>
        </p:nvSpPr>
        <p:spPr>
          <a:xfrm>
            <a:off x="4007609" y="2632831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4E990E03-BAEC-9532-EE50-69FD98F1D9B8}"/>
              </a:ext>
            </a:extLst>
          </p:cNvPr>
          <p:cNvSpPr/>
          <p:nvPr/>
        </p:nvSpPr>
        <p:spPr>
          <a:xfrm>
            <a:off x="3517473" y="2575050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94DC97AB-2001-6A20-A7C4-F87B1EE521BF}"/>
              </a:ext>
            </a:extLst>
          </p:cNvPr>
          <p:cNvSpPr/>
          <p:nvPr/>
        </p:nvSpPr>
        <p:spPr>
          <a:xfrm>
            <a:off x="8629136" y="3474421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F5EC99A7-C4C9-7AE5-53E7-4EB9ED1DEC1C}"/>
              </a:ext>
            </a:extLst>
          </p:cNvPr>
          <p:cNvSpPr/>
          <p:nvPr/>
        </p:nvSpPr>
        <p:spPr>
          <a:xfrm>
            <a:off x="5436984" y="4056680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6D0A0B3C-CD8F-6D3E-FDFD-C65D8B76BDAA}"/>
              </a:ext>
            </a:extLst>
          </p:cNvPr>
          <p:cNvSpPr/>
          <p:nvPr/>
        </p:nvSpPr>
        <p:spPr>
          <a:xfrm>
            <a:off x="5589384" y="4209080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D980B77B-6048-A0F4-9AC3-9B6D10B2ED7E}"/>
              </a:ext>
            </a:extLst>
          </p:cNvPr>
          <p:cNvSpPr/>
          <p:nvPr/>
        </p:nvSpPr>
        <p:spPr>
          <a:xfrm>
            <a:off x="5741784" y="4361480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9183A612-ED19-6F19-D75A-0D7C3B303A2E}"/>
              </a:ext>
            </a:extLst>
          </p:cNvPr>
          <p:cNvSpPr/>
          <p:nvPr/>
        </p:nvSpPr>
        <p:spPr>
          <a:xfrm>
            <a:off x="5537719" y="4361002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024C71B6-4F65-6C19-600A-20A054672A6A}"/>
              </a:ext>
            </a:extLst>
          </p:cNvPr>
          <p:cNvSpPr/>
          <p:nvPr/>
        </p:nvSpPr>
        <p:spPr>
          <a:xfrm>
            <a:off x="5240552" y="4007231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2C123FE9-2331-F320-4B77-350E4BCBC3F3}"/>
              </a:ext>
            </a:extLst>
          </p:cNvPr>
          <p:cNvSpPr/>
          <p:nvPr/>
        </p:nvSpPr>
        <p:spPr>
          <a:xfrm>
            <a:off x="5790854" y="4174209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A9BF548E-8C6B-4C7E-0211-E5906604BB89}"/>
              </a:ext>
            </a:extLst>
          </p:cNvPr>
          <p:cNvSpPr/>
          <p:nvPr/>
        </p:nvSpPr>
        <p:spPr>
          <a:xfrm>
            <a:off x="5689814" y="4076756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CDC75E8-B893-A349-5A1B-5892BF2B7F94}"/>
              </a:ext>
            </a:extLst>
          </p:cNvPr>
          <p:cNvSpPr/>
          <p:nvPr/>
        </p:nvSpPr>
        <p:spPr>
          <a:xfrm>
            <a:off x="5531342" y="3894982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01688834-5508-DF80-E049-24E8206E3D77}"/>
              </a:ext>
            </a:extLst>
          </p:cNvPr>
          <p:cNvSpPr/>
          <p:nvPr/>
        </p:nvSpPr>
        <p:spPr>
          <a:xfrm>
            <a:off x="5405345" y="4248753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E48CE058-87B1-7B24-89B8-4309BEA86095}"/>
              </a:ext>
            </a:extLst>
          </p:cNvPr>
          <p:cNvSpPr/>
          <p:nvPr/>
        </p:nvSpPr>
        <p:spPr>
          <a:xfrm>
            <a:off x="5352159" y="3883026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3D9EC7B2-C8E1-083D-8605-C3B668FABA45}"/>
              </a:ext>
            </a:extLst>
          </p:cNvPr>
          <p:cNvSpPr/>
          <p:nvPr/>
        </p:nvSpPr>
        <p:spPr>
          <a:xfrm>
            <a:off x="3798808" y="4230334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6B7E5619-88E0-E218-1637-C51589C5219E}"/>
              </a:ext>
            </a:extLst>
          </p:cNvPr>
          <p:cNvSpPr/>
          <p:nvPr/>
        </p:nvSpPr>
        <p:spPr>
          <a:xfrm>
            <a:off x="3951208" y="4382734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7427699B-B8D0-11B4-7609-8BCCFFAFE914}"/>
              </a:ext>
            </a:extLst>
          </p:cNvPr>
          <p:cNvSpPr/>
          <p:nvPr/>
        </p:nvSpPr>
        <p:spPr>
          <a:xfrm>
            <a:off x="4103608" y="4535134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821C742A-D3A4-B3C2-A636-37E3A9E40AE8}"/>
              </a:ext>
            </a:extLst>
          </p:cNvPr>
          <p:cNvSpPr/>
          <p:nvPr/>
        </p:nvSpPr>
        <p:spPr>
          <a:xfrm>
            <a:off x="3899543" y="4534656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370EF3DB-ECC8-69F2-FA41-7C665B1D252D}"/>
              </a:ext>
            </a:extLst>
          </p:cNvPr>
          <p:cNvSpPr/>
          <p:nvPr/>
        </p:nvSpPr>
        <p:spPr>
          <a:xfrm>
            <a:off x="3602376" y="4180885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D078FB4B-8C46-85E5-B1CD-D5F66FB81F2D}"/>
              </a:ext>
            </a:extLst>
          </p:cNvPr>
          <p:cNvSpPr/>
          <p:nvPr/>
        </p:nvSpPr>
        <p:spPr>
          <a:xfrm>
            <a:off x="4152678" y="4347863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D653237E-937D-BF92-7537-82C9830C1599}"/>
              </a:ext>
            </a:extLst>
          </p:cNvPr>
          <p:cNvSpPr/>
          <p:nvPr/>
        </p:nvSpPr>
        <p:spPr>
          <a:xfrm>
            <a:off x="4051638" y="4250410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FBD3D814-3A97-E0F4-1749-878BE5593CF5}"/>
              </a:ext>
            </a:extLst>
          </p:cNvPr>
          <p:cNvSpPr/>
          <p:nvPr/>
        </p:nvSpPr>
        <p:spPr>
          <a:xfrm>
            <a:off x="3893166" y="4068636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D48428F8-D07D-E81C-CBCB-732D651A4AC0}"/>
              </a:ext>
            </a:extLst>
          </p:cNvPr>
          <p:cNvSpPr/>
          <p:nvPr/>
        </p:nvSpPr>
        <p:spPr>
          <a:xfrm>
            <a:off x="3767169" y="4422407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C8FDEBF7-5A79-83AD-570A-C72E4212B999}"/>
              </a:ext>
            </a:extLst>
          </p:cNvPr>
          <p:cNvSpPr/>
          <p:nvPr/>
        </p:nvSpPr>
        <p:spPr>
          <a:xfrm>
            <a:off x="3713983" y="4056680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B5CB943D-6F4B-CC5C-ABF6-20CDE497135D}"/>
              </a:ext>
            </a:extLst>
          </p:cNvPr>
          <p:cNvSpPr/>
          <p:nvPr/>
        </p:nvSpPr>
        <p:spPr>
          <a:xfrm>
            <a:off x="3586234" y="4385313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E2821E18-C1A8-4540-319C-1EBE090F96D2}"/>
              </a:ext>
            </a:extLst>
          </p:cNvPr>
          <p:cNvSpPr/>
          <p:nvPr/>
        </p:nvSpPr>
        <p:spPr>
          <a:xfrm>
            <a:off x="4028891" y="4105649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24CFF10D-A083-378C-1FD7-65A4A095DE8F}"/>
              </a:ext>
            </a:extLst>
          </p:cNvPr>
          <p:cNvSpPr/>
          <p:nvPr/>
        </p:nvSpPr>
        <p:spPr>
          <a:xfrm>
            <a:off x="4112845" y="4000555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41B0D6B9-4969-3164-FAA5-5D1C0F3E56DB}"/>
              </a:ext>
            </a:extLst>
          </p:cNvPr>
          <p:cNvSpPr/>
          <p:nvPr/>
        </p:nvSpPr>
        <p:spPr>
          <a:xfrm>
            <a:off x="4169489" y="4152955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Triangle isocèle 61">
            <a:extLst>
              <a:ext uri="{FF2B5EF4-FFF2-40B4-BE49-F238E27FC236}">
                <a16:creationId xmlns:a16="http://schemas.microsoft.com/office/drawing/2014/main" id="{34C54403-5036-5719-7801-6DB639DB5760}"/>
              </a:ext>
            </a:extLst>
          </p:cNvPr>
          <p:cNvSpPr/>
          <p:nvPr/>
        </p:nvSpPr>
        <p:spPr>
          <a:xfrm>
            <a:off x="3722683" y="2560785"/>
            <a:ext cx="251343" cy="17365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Triangle isocèle 62">
            <a:extLst>
              <a:ext uri="{FF2B5EF4-FFF2-40B4-BE49-F238E27FC236}">
                <a16:creationId xmlns:a16="http://schemas.microsoft.com/office/drawing/2014/main" id="{49FEB9D7-9067-AE30-2A33-B0E17E5D7348}"/>
              </a:ext>
            </a:extLst>
          </p:cNvPr>
          <p:cNvSpPr/>
          <p:nvPr/>
        </p:nvSpPr>
        <p:spPr>
          <a:xfrm>
            <a:off x="3819279" y="4262999"/>
            <a:ext cx="251343" cy="173653"/>
          </a:xfrm>
          <a:prstGeom prst="triangle">
            <a:avLst/>
          </a:prstGeom>
          <a:solidFill>
            <a:srgbClr val="9A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Triangle isocèle 63">
            <a:extLst>
              <a:ext uri="{FF2B5EF4-FFF2-40B4-BE49-F238E27FC236}">
                <a16:creationId xmlns:a16="http://schemas.microsoft.com/office/drawing/2014/main" id="{FE6B7198-DCC1-57D7-0B8F-77A67B6D3ABE}"/>
              </a:ext>
            </a:extLst>
          </p:cNvPr>
          <p:cNvSpPr/>
          <p:nvPr/>
        </p:nvSpPr>
        <p:spPr>
          <a:xfrm>
            <a:off x="5462414" y="4055263"/>
            <a:ext cx="251343" cy="173653"/>
          </a:xfrm>
          <a:prstGeom prst="triangle">
            <a:avLst/>
          </a:prstGeom>
          <a:solidFill>
            <a:srgbClr val="FF858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0884D56-9911-6F66-481C-6B1E883D0375}"/>
              </a:ext>
            </a:extLst>
          </p:cNvPr>
          <p:cNvSpPr/>
          <p:nvPr/>
        </p:nvSpPr>
        <p:spPr>
          <a:xfrm>
            <a:off x="4427025" y="3572434"/>
            <a:ext cx="88474" cy="850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BE768A3B-A561-DFF2-E85A-3F8B59E9BC7F}"/>
              </a:ext>
            </a:extLst>
          </p:cNvPr>
          <p:cNvCxnSpPr>
            <a:cxnSpLocks/>
            <a:endCxn id="65" idx="1"/>
          </p:cNvCxnSpPr>
          <p:nvPr/>
        </p:nvCxnSpPr>
        <p:spPr>
          <a:xfrm flipH="1">
            <a:off x="4427025" y="2209481"/>
            <a:ext cx="1262789" cy="1405499"/>
          </a:xfrm>
          <a:prstGeom prst="line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DC008382-BD0C-DAC4-C4F8-0B95982B6603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3095393" y="3474421"/>
            <a:ext cx="1331632" cy="140559"/>
          </a:xfrm>
          <a:prstGeom prst="line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F11969B7-B84D-6A4F-3B5A-C52A21621A33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4515499" y="3614980"/>
            <a:ext cx="721519" cy="1611224"/>
          </a:xfrm>
          <a:prstGeom prst="line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lipse 76">
            <a:extLst>
              <a:ext uri="{FF2B5EF4-FFF2-40B4-BE49-F238E27FC236}">
                <a16:creationId xmlns:a16="http://schemas.microsoft.com/office/drawing/2014/main" id="{A33D0570-D278-193C-BDCD-82E3BF85A95D}"/>
              </a:ext>
            </a:extLst>
          </p:cNvPr>
          <p:cNvSpPr/>
          <p:nvPr/>
        </p:nvSpPr>
        <p:spPr>
          <a:xfrm>
            <a:off x="5220446" y="3516309"/>
            <a:ext cx="100735" cy="11224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Triangle isocèle 77">
            <a:extLst>
              <a:ext uri="{FF2B5EF4-FFF2-40B4-BE49-F238E27FC236}">
                <a16:creationId xmlns:a16="http://schemas.microsoft.com/office/drawing/2014/main" id="{1F8E3617-B845-3E2E-145F-9A4F911DC0AC}"/>
              </a:ext>
            </a:extLst>
          </p:cNvPr>
          <p:cNvSpPr/>
          <p:nvPr/>
        </p:nvSpPr>
        <p:spPr>
          <a:xfrm>
            <a:off x="8553833" y="3073009"/>
            <a:ext cx="251343" cy="17365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8A66953F-2A68-B22A-6CD7-072F1C02B2F2}"/>
              </a:ext>
            </a:extLst>
          </p:cNvPr>
          <p:cNvSpPr/>
          <p:nvPr/>
        </p:nvSpPr>
        <p:spPr>
          <a:xfrm>
            <a:off x="8629135" y="3789449"/>
            <a:ext cx="100735" cy="11224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345E2532-A4A1-1AF5-8878-B9BE93C14BAD}"/>
              </a:ext>
            </a:extLst>
          </p:cNvPr>
          <p:cNvCxnSpPr>
            <a:cxnSpLocks/>
            <a:stCxn id="64" idx="0"/>
            <a:endCxn id="77" idx="5"/>
          </p:cNvCxnSpPr>
          <p:nvPr/>
        </p:nvCxnSpPr>
        <p:spPr>
          <a:xfrm flipH="1" flipV="1">
            <a:off x="5306429" y="3612120"/>
            <a:ext cx="281657" cy="44314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6803289C-30CD-98E9-CC8D-E32C5855F8A9}"/>
              </a:ext>
            </a:extLst>
          </p:cNvPr>
          <p:cNvSpPr txBox="1"/>
          <p:nvPr/>
        </p:nvSpPr>
        <p:spPr>
          <a:xfrm>
            <a:off x="4548152" y="3339204"/>
            <a:ext cx="755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Distance to </a:t>
            </a:r>
            <a:r>
              <a:rPr lang="fr-FR" sz="1000" dirty="0" err="1"/>
              <a:t>mean</a:t>
            </a:r>
            <a:endParaRPr lang="fr-FR" sz="1000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6B5B339B-62C7-5297-4028-917EE00703FE}"/>
              </a:ext>
            </a:extLst>
          </p:cNvPr>
          <p:cNvSpPr txBox="1"/>
          <p:nvPr/>
        </p:nvSpPr>
        <p:spPr>
          <a:xfrm>
            <a:off x="8805176" y="3022032"/>
            <a:ext cx="2572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Geometric</a:t>
            </a:r>
            <a:r>
              <a:rPr lang="fr-FR" sz="1200" dirty="0"/>
              <a:t> </a:t>
            </a:r>
            <a:r>
              <a:rPr lang="fr-FR" sz="1200" dirty="0" err="1"/>
              <a:t>mean</a:t>
            </a:r>
            <a:r>
              <a:rPr lang="fr-FR" sz="1200" dirty="0"/>
              <a:t> of class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486F90D0-A3A6-5286-F0EF-924E9D86FE37}"/>
              </a:ext>
            </a:extLst>
          </p:cNvPr>
          <p:cNvSpPr txBox="1"/>
          <p:nvPr/>
        </p:nvSpPr>
        <p:spPr>
          <a:xfrm>
            <a:off x="8755277" y="3392045"/>
            <a:ext cx="2572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Classified</a:t>
            </a:r>
            <a:r>
              <a:rPr lang="fr-FR" sz="1200" dirty="0"/>
              <a:t> point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BBE0B8E1-E8A2-FA09-2AB2-0F63D3791A86}"/>
              </a:ext>
            </a:extLst>
          </p:cNvPr>
          <p:cNvSpPr txBox="1"/>
          <p:nvPr/>
        </p:nvSpPr>
        <p:spPr>
          <a:xfrm>
            <a:off x="7443511" y="5509535"/>
            <a:ext cx="7705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 err="1"/>
              <a:t>Feature</a:t>
            </a:r>
            <a:r>
              <a:rPr lang="fr-FR" sz="1050" dirty="0"/>
              <a:t> i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406E52A-3E6C-5398-697D-4CD5C40A25AC}"/>
              </a:ext>
            </a:extLst>
          </p:cNvPr>
          <p:cNvSpPr/>
          <p:nvPr/>
        </p:nvSpPr>
        <p:spPr>
          <a:xfrm>
            <a:off x="8649818" y="4027713"/>
            <a:ext cx="88474" cy="850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ADFC5126-C2C9-DAA3-373B-BC8CD93C7BC7}"/>
              </a:ext>
            </a:extLst>
          </p:cNvPr>
          <p:cNvSpPr txBox="1"/>
          <p:nvPr/>
        </p:nvSpPr>
        <p:spPr>
          <a:xfrm>
            <a:off x="8761425" y="3951106"/>
            <a:ext cx="2572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Riemannian</a:t>
            </a:r>
            <a:r>
              <a:rPr lang="fr-FR" sz="1200" dirty="0"/>
              <a:t> </a:t>
            </a:r>
            <a:r>
              <a:rPr lang="fr-FR" sz="1200" dirty="0" err="1"/>
              <a:t>mean</a:t>
            </a:r>
            <a:r>
              <a:rPr lang="fr-FR" sz="1200" dirty="0"/>
              <a:t> of training </a:t>
            </a:r>
            <a:r>
              <a:rPr lang="fr-FR" sz="1200" dirty="0" err="1"/>
              <a:t>dataset</a:t>
            </a:r>
            <a:endParaRPr lang="fr-FR" sz="1200" dirty="0"/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B1253004-C55D-ABBC-BD8C-94D1A2169860}"/>
              </a:ext>
            </a:extLst>
          </p:cNvPr>
          <p:cNvSpPr txBox="1"/>
          <p:nvPr/>
        </p:nvSpPr>
        <p:spPr>
          <a:xfrm>
            <a:off x="8753003" y="3688054"/>
            <a:ext cx="2572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Point to </a:t>
            </a:r>
            <a:r>
              <a:rPr lang="fr-FR" sz="1200" dirty="0" err="1"/>
              <a:t>classify</a:t>
            </a:r>
            <a:endParaRPr lang="fr-FR" sz="1200" dirty="0"/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28F649DC-25A7-44A2-A3C6-05B1F412D8C1}"/>
              </a:ext>
            </a:extLst>
          </p:cNvPr>
          <p:cNvSpPr txBox="1"/>
          <p:nvPr/>
        </p:nvSpPr>
        <p:spPr>
          <a:xfrm>
            <a:off x="2588969" y="1775139"/>
            <a:ext cx="7705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 err="1"/>
              <a:t>Feature</a:t>
            </a:r>
            <a:r>
              <a:rPr lang="fr-FR" sz="1050" dirty="0"/>
              <a:t> j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46C1CE1C-7638-7CB6-E806-58D2EF65B359}"/>
              </a:ext>
            </a:extLst>
          </p:cNvPr>
          <p:cNvSpPr txBox="1"/>
          <p:nvPr/>
        </p:nvSpPr>
        <p:spPr>
          <a:xfrm>
            <a:off x="3649847" y="2064649"/>
            <a:ext cx="653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Class 1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696AA0DE-F38E-CB13-7843-CD70DF6D0C9B}"/>
              </a:ext>
            </a:extLst>
          </p:cNvPr>
          <p:cNvSpPr txBox="1"/>
          <p:nvPr/>
        </p:nvSpPr>
        <p:spPr>
          <a:xfrm>
            <a:off x="3538430" y="4781646"/>
            <a:ext cx="653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Class 2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2F0FD0FB-42EC-858D-B57C-3EAA531D27E4}"/>
              </a:ext>
            </a:extLst>
          </p:cNvPr>
          <p:cNvSpPr txBox="1"/>
          <p:nvPr/>
        </p:nvSpPr>
        <p:spPr>
          <a:xfrm>
            <a:off x="5841221" y="3767363"/>
            <a:ext cx="653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Class 3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809997B-D47A-2A64-5493-A0616A0ABB75}"/>
              </a:ext>
            </a:extLst>
          </p:cNvPr>
          <p:cNvSpPr txBox="1"/>
          <p:nvPr/>
        </p:nvSpPr>
        <p:spPr>
          <a:xfrm>
            <a:off x="-70913" y="6496789"/>
            <a:ext cx="6332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E. </a:t>
            </a:r>
            <a:r>
              <a:rPr lang="fr-FR" sz="900" dirty="0" err="1"/>
              <a:t>Kalunga</a:t>
            </a:r>
            <a:r>
              <a:rPr lang="fr-FR" sz="900" dirty="0"/>
              <a:t> &amp; al. Transfer Learning for SSVEP-</a:t>
            </a:r>
            <a:r>
              <a:rPr lang="fr-FR" sz="900" dirty="0" err="1"/>
              <a:t>based</a:t>
            </a:r>
            <a:r>
              <a:rPr lang="fr-FR" sz="900" dirty="0"/>
              <a:t> BCI </a:t>
            </a:r>
            <a:r>
              <a:rPr lang="fr-FR" sz="900" dirty="0" err="1"/>
              <a:t>using</a:t>
            </a:r>
            <a:r>
              <a:rPr lang="fr-FR" sz="900" dirty="0"/>
              <a:t> </a:t>
            </a:r>
            <a:r>
              <a:rPr lang="fr-FR" sz="900" dirty="0" err="1"/>
              <a:t>Riemannian</a:t>
            </a:r>
            <a:r>
              <a:rPr lang="fr-FR" sz="900" dirty="0"/>
              <a:t> </a:t>
            </a:r>
            <a:r>
              <a:rPr lang="fr-FR" sz="900" dirty="0" err="1"/>
              <a:t>similarities</a:t>
            </a:r>
            <a:r>
              <a:rPr lang="fr-FR" sz="900" dirty="0"/>
              <a:t> </a:t>
            </a:r>
            <a:r>
              <a:rPr lang="fr-FR" sz="900" dirty="0" err="1"/>
              <a:t>between</a:t>
            </a:r>
            <a:r>
              <a:rPr lang="fr-FR" sz="900" dirty="0"/>
              <a:t> </a:t>
            </a:r>
            <a:r>
              <a:rPr lang="fr-FR" sz="900" dirty="0" err="1"/>
              <a:t>users</a:t>
            </a:r>
            <a:r>
              <a:rPr lang="fr-FR" sz="900" dirty="0"/>
              <a:t>. 26th </a:t>
            </a:r>
            <a:r>
              <a:rPr lang="fr-FR" sz="900" dirty="0" err="1"/>
              <a:t>European</a:t>
            </a:r>
            <a:r>
              <a:rPr lang="fr-FR" sz="900" dirty="0"/>
              <a:t> Signal </a:t>
            </a:r>
            <a:r>
              <a:rPr lang="fr-FR" sz="900" dirty="0" err="1"/>
              <a:t>Processing</a:t>
            </a:r>
            <a:r>
              <a:rPr lang="fr-FR" sz="900" dirty="0"/>
              <a:t> </a:t>
            </a:r>
            <a:r>
              <a:rPr lang="fr-FR" sz="900" dirty="0" err="1"/>
              <a:t>Conference</a:t>
            </a:r>
            <a:r>
              <a:rPr lang="fr-FR" sz="900" dirty="0"/>
              <a:t> (EUSIPCO 2018), Sep 2018, Rome, </a:t>
            </a:r>
            <a:r>
              <a:rPr lang="fr-FR" sz="900" dirty="0" err="1"/>
              <a:t>Italy</a:t>
            </a:r>
            <a:r>
              <a:rPr lang="fr-FR" sz="900" dirty="0"/>
              <a:t>. pp.1685-1689, ⟨10.23919/EUSIPCO.2018.8553441⟩. ⟨hal-01911092⟩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FDFE2A8-4D5A-C274-B183-C6048848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9</a:t>
            </a:fld>
            <a:endParaRPr lang="fr-FR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04BC53ED-B615-AB97-BC40-47D4BF3FB190}"/>
              </a:ext>
            </a:extLst>
          </p:cNvPr>
          <p:cNvCxnSpPr>
            <a:cxnSpLocks/>
            <a:stCxn id="63" idx="0"/>
            <a:endCxn id="77" idx="3"/>
          </p:cNvCxnSpPr>
          <p:nvPr/>
        </p:nvCxnSpPr>
        <p:spPr>
          <a:xfrm flipV="1">
            <a:off x="3944951" y="3612120"/>
            <a:ext cx="1290247" cy="650879"/>
          </a:xfrm>
          <a:prstGeom prst="line">
            <a:avLst/>
          </a:prstGeom>
          <a:ln w="28575">
            <a:solidFill>
              <a:srgbClr val="C59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9C001AC5-A8FC-A81E-203D-152074D8AB52}"/>
              </a:ext>
            </a:extLst>
          </p:cNvPr>
          <p:cNvCxnSpPr>
            <a:cxnSpLocks/>
            <a:stCxn id="62" idx="4"/>
            <a:endCxn id="77" idx="1"/>
          </p:cNvCxnSpPr>
          <p:nvPr/>
        </p:nvCxnSpPr>
        <p:spPr>
          <a:xfrm>
            <a:off x="3974026" y="2734438"/>
            <a:ext cx="1261172" cy="798309"/>
          </a:xfrm>
          <a:prstGeom prst="line">
            <a:avLst/>
          </a:prstGeom>
          <a:ln w="28575">
            <a:solidFill>
              <a:srgbClr val="C59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690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004BE-3E19-6FF5-31D0-9554F57A0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67" y="254298"/>
            <a:ext cx="9833548" cy="696147"/>
          </a:xfrm>
        </p:spPr>
        <p:txBody>
          <a:bodyPr anchor="b">
            <a:normAutofit/>
          </a:bodyPr>
          <a:lstStyle/>
          <a:p>
            <a:r>
              <a:rPr lang="fr-FR" sz="3600" kern="1200" dirty="0" err="1"/>
              <a:t>Riemannian</a:t>
            </a:r>
            <a:r>
              <a:rPr lang="fr-FR" sz="3600" kern="1200" dirty="0"/>
              <a:t> </a:t>
            </a:r>
            <a:r>
              <a:rPr lang="fr-FR" sz="3600" kern="1200" dirty="0" err="1"/>
              <a:t>space</a:t>
            </a:r>
            <a:r>
              <a:rPr lang="fr-FR" sz="3600" kern="1200" dirty="0"/>
              <a:t> + Tangent </a:t>
            </a:r>
            <a:r>
              <a:rPr lang="fr-FR" sz="3600" kern="1200" dirty="0" err="1"/>
              <a:t>space</a:t>
            </a:r>
            <a:r>
              <a:rPr lang="fr-FR" sz="3600" kern="1200" dirty="0"/>
              <a:t> + classifier</a:t>
            </a:r>
            <a:endParaRPr lang="fr-FR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Espace réservé du contenu 3">
            <a:extLst>
              <a:ext uri="{FF2B5EF4-FFF2-40B4-BE49-F238E27FC236}">
                <a16:creationId xmlns:a16="http://schemas.microsoft.com/office/drawing/2014/main" id="{2FD0F923-536B-2AF9-D739-16745A4979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315" t="20453" r="81972" b="33508"/>
          <a:stretch/>
        </p:blipFill>
        <p:spPr>
          <a:xfrm>
            <a:off x="2202402" y="3148221"/>
            <a:ext cx="1123627" cy="1131376"/>
          </a:xfrm>
          <a:prstGeom prst="rect">
            <a:avLst/>
          </a:prstGeom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E306DB0-023B-E0E0-C1E8-6C9461818E0D}"/>
              </a:ext>
            </a:extLst>
          </p:cNvPr>
          <p:cNvCxnSpPr>
            <a:cxnSpLocks/>
            <a:stCxn id="9" idx="3"/>
            <a:endCxn id="28" idx="1"/>
          </p:cNvCxnSpPr>
          <p:nvPr/>
        </p:nvCxnSpPr>
        <p:spPr>
          <a:xfrm>
            <a:off x="3326029" y="3713909"/>
            <a:ext cx="495947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E72B2ACC-10B5-8712-FA0A-A9160E9E3F0B}"/>
              </a:ext>
            </a:extLst>
          </p:cNvPr>
          <p:cNvSpPr/>
          <p:nvPr/>
        </p:nvSpPr>
        <p:spPr>
          <a:xfrm>
            <a:off x="3821976" y="3082284"/>
            <a:ext cx="1821051" cy="12632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Projection to tangent </a:t>
            </a:r>
            <a:r>
              <a:rPr lang="fr-FR" dirty="0" err="1"/>
              <a:t>space</a:t>
            </a:r>
            <a:endParaRPr lang="fr-FR" dirty="0"/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4BEC986F-6742-2E04-6FB1-9AF2E58C9647}"/>
              </a:ext>
            </a:extLst>
          </p:cNvPr>
          <p:cNvSpPr/>
          <p:nvPr/>
        </p:nvSpPr>
        <p:spPr>
          <a:xfrm>
            <a:off x="6333629" y="3082284"/>
            <a:ext cx="1821051" cy="12632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Classifier (SVM, LDA…)</a:t>
            </a:r>
          </a:p>
        </p:txBody>
      </p:sp>
      <p:pic>
        <p:nvPicPr>
          <p:cNvPr id="33" name="Espace réservé du contenu 3">
            <a:extLst>
              <a:ext uri="{FF2B5EF4-FFF2-40B4-BE49-F238E27FC236}">
                <a16:creationId xmlns:a16="http://schemas.microsoft.com/office/drawing/2014/main" id="{8C7CA54A-F44F-A6CD-227C-73ADE5C8FD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6897" t="45192" r="5326" b="44929"/>
          <a:stretch/>
        </p:blipFill>
        <p:spPr>
          <a:xfrm>
            <a:off x="8942477" y="3592528"/>
            <a:ext cx="687335" cy="242760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4B59C4D3-4B3C-9806-3E8F-4656E331D19C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5643027" y="3713908"/>
            <a:ext cx="690602" cy="1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1BF40779-CAC3-E28E-A827-EBB8D9A93239}"/>
              </a:ext>
            </a:extLst>
          </p:cNvPr>
          <p:cNvCxnSpPr>
            <a:cxnSpLocks/>
            <a:stCxn id="30" idx="3"/>
            <a:endCxn id="33" idx="1"/>
          </p:cNvCxnSpPr>
          <p:nvPr/>
        </p:nvCxnSpPr>
        <p:spPr>
          <a:xfrm flipV="1">
            <a:off x="8154680" y="3713908"/>
            <a:ext cx="787797" cy="1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3270D5E9-CF1A-2278-48BB-86D7BD0CDBB9}"/>
              </a:ext>
            </a:extLst>
          </p:cNvPr>
          <p:cNvSpPr txBox="1"/>
          <p:nvPr/>
        </p:nvSpPr>
        <p:spPr>
          <a:xfrm>
            <a:off x="2092394" y="2559064"/>
            <a:ext cx="1323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Input:</a:t>
            </a:r>
          </a:p>
          <a:p>
            <a:pPr algn="ctr"/>
            <a:r>
              <a:rPr lang="fr-FR" sz="1400" dirty="0"/>
              <a:t>SPD Matrices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D4667FDE-04BB-B06E-781F-FAC36E85AF4F}"/>
              </a:ext>
            </a:extLst>
          </p:cNvPr>
          <p:cNvSpPr txBox="1"/>
          <p:nvPr/>
        </p:nvSpPr>
        <p:spPr>
          <a:xfrm>
            <a:off x="8513154" y="2666785"/>
            <a:ext cx="1545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Classifier output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F87CD45-4BFD-86BC-B19B-3FA6FF7F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509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re 1">
            <a:extLst>
              <a:ext uri="{FF2B5EF4-FFF2-40B4-BE49-F238E27FC236}">
                <a16:creationId xmlns:a16="http://schemas.microsoft.com/office/drawing/2014/main" id="{945621C2-1136-5ED6-7A3A-3337739EB284}"/>
              </a:ext>
            </a:extLst>
          </p:cNvPr>
          <p:cNvSpPr txBox="1">
            <a:spLocks/>
          </p:cNvSpPr>
          <p:nvPr/>
        </p:nvSpPr>
        <p:spPr>
          <a:xfrm>
            <a:off x="370667" y="254298"/>
            <a:ext cx="9833548" cy="6961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>
                <a:solidFill>
                  <a:schemeClr val="tx2"/>
                </a:solidFill>
              </a:rPr>
              <a:t>SPDNet</a:t>
            </a:r>
            <a:endParaRPr lang="fr-FR" sz="3600" dirty="0">
              <a:solidFill>
                <a:schemeClr val="tx2"/>
              </a:solidFill>
            </a:endParaRPr>
          </a:p>
        </p:txBody>
      </p:sp>
      <p:pic>
        <p:nvPicPr>
          <p:cNvPr id="5" name="Espace réservé du contenu 3">
            <a:extLst>
              <a:ext uri="{FF2B5EF4-FFF2-40B4-BE49-F238E27FC236}">
                <a16:creationId xmlns:a16="http://schemas.microsoft.com/office/drawing/2014/main" id="{15F6252B-4BC6-7416-7574-8DA5D8D186F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6533" y="2597035"/>
            <a:ext cx="8838628" cy="245745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C91F15B-AA88-0DDF-8A60-9C00FE3B8026}"/>
              </a:ext>
            </a:extLst>
          </p:cNvPr>
          <p:cNvSpPr txBox="1"/>
          <p:nvPr/>
        </p:nvSpPr>
        <p:spPr>
          <a:xfrm>
            <a:off x="-305" y="6501020"/>
            <a:ext cx="3230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0" i="0" dirty="0">
                <a:effectLst/>
              </a:rPr>
              <a:t>[10] Z. Huang and L. Van Gool. A </a:t>
            </a:r>
            <a:r>
              <a:rPr lang="fr-FR" sz="900" b="0" i="0" dirty="0" err="1">
                <a:effectLst/>
              </a:rPr>
              <a:t>riemannian</a:t>
            </a:r>
            <a:r>
              <a:rPr lang="fr-FR" sz="900" b="0" i="0" dirty="0">
                <a:effectLst/>
              </a:rPr>
              <a:t> network for SPD matrix </a:t>
            </a:r>
            <a:r>
              <a:rPr lang="fr-FR" sz="900" b="0" i="0" dirty="0" err="1">
                <a:effectLst/>
              </a:rPr>
              <a:t>learning</a:t>
            </a:r>
            <a:r>
              <a:rPr lang="fr-FR" sz="900" b="0" i="0" dirty="0">
                <a:effectLst/>
              </a:rPr>
              <a:t>. In AAAI, page 9, 2017</a:t>
            </a:r>
            <a:endParaRPr lang="fr-FR" sz="9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D365970-8C7C-6815-EB24-81DE3ECB9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6433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004BE-3E19-6FF5-31D0-9554F57A0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66" y="268246"/>
            <a:ext cx="9829800" cy="679401"/>
          </a:xfrm>
        </p:spPr>
        <p:txBody>
          <a:bodyPr anchor="b">
            <a:normAutofit/>
          </a:bodyPr>
          <a:lstStyle/>
          <a:p>
            <a:r>
              <a:rPr lang="fr-FR" sz="3600" dirty="0">
                <a:solidFill>
                  <a:schemeClr val="tx2"/>
                </a:solidFill>
              </a:rPr>
              <a:t>Spatial </a:t>
            </a:r>
            <a:r>
              <a:rPr lang="fr-FR" sz="3600" dirty="0" err="1">
                <a:solidFill>
                  <a:schemeClr val="tx2"/>
                </a:solidFill>
              </a:rPr>
              <a:t>recentering</a:t>
            </a:r>
            <a:endParaRPr lang="fr-FR" sz="3600" dirty="0">
              <a:solidFill>
                <a:schemeClr val="tx2"/>
              </a:solidFill>
            </a:endParaRPr>
          </a:p>
        </p:txBody>
      </p:sp>
      <p:grpSp>
        <p:nvGrpSpPr>
          <p:cNvPr id="34" name="Group 14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17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20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F96D0616-42D6-DDFF-8C3F-363B6D7B7F28}"/>
              </a:ext>
            </a:extLst>
          </p:cNvPr>
          <p:cNvCxnSpPr>
            <a:cxnSpLocks/>
          </p:cNvCxnSpPr>
          <p:nvPr/>
        </p:nvCxnSpPr>
        <p:spPr>
          <a:xfrm>
            <a:off x="1183697" y="5252224"/>
            <a:ext cx="3581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C5209F32-997B-183D-E94F-A8A7E441CF7E}"/>
              </a:ext>
            </a:extLst>
          </p:cNvPr>
          <p:cNvCxnSpPr>
            <a:cxnSpLocks/>
          </p:cNvCxnSpPr>
          <p:nvPr/>
        </p:nvCxnSpPr>
        <p:spPr>
          <a:xfrm flipV="1">
            <a:off x="1183697" y="2230058"/>
            <a:ext cx="0" cy="3022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lipse 8">
            <a:extLst>
              <a:ext uri="{FF2B5EF4-FFF2-40B4-BE49-F238E27FC236}">
                <a16:creationId xmlns:a16="http://schemas.microsoft.com/office/drawing/2014/main" id="{5DB29C4E-04BF-7379-CC66-9D9808ACCF51}"/>
              </a:ext>
            </a:extLst>
          </p:cNvPr>
          <p:cNvSpPr/>
          <p:nvPr/>
        </p:nvSpPr>
        <p:spPr>
          <a:xfrm>
            <a:off x="1604591" y="2864871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5F621BB0-31E3-10DF-9975-C7FCD2F9E884}"/>
              </a:ext>
            </a:extLst>
          </p:cNvPr>
          <p:cNvSpPr/>
          <p:nvPr/>
        </p:nvSpPr>
        <p:spPr>
          <a:xfrm>
            <a:off x="1756991" y="3017271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C9145ADA-98B1-BFA3-169A-445B2FFC9767}"/>
              </a:ext>
            </a:extLst>
          </p:cNvPr>
          <p:cNvSpPr/>
          <p:nvPr/>
        </p:nvSpPr>
        <p:spPr>
          <a:xfrm>
            <a:off x="1909391" y="3169671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8D0C33D2-D301-EC0C-9B11-A9DC8BA08D32}"/>
              </a:ext>
            </a:extLst>
          </p:cNvPr>
          <p:cNvSpPr/>
          <p:nvPr/>
        </p:nvSpPr>
        <p:spPr>
          <a:xfrm>
            <a:off x="1705326" y="3169193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3E3285AD-0C67-E9C6-0006-47BFA7B21BE3}"/>
              </a:ext>
            </a:extLst>
          </p:cNvPr>
          <p:cNvSpPr/>
          <p:nvPr/>
        </p:nvSpPr>
        <p:spPr>
          <a:xfrm>
            <a:off x="1857726" y="3322070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B40EDD62-7AE7-ED88-964D-0093F7A4D954}"/>
              </a:ext>
            </a:extLst>
          </p:cNvPr>
          <p:cNvSpPr/>
          <p:nvPr/>
        </p:nvSpPr>
        <p:spPr>
          <a:xfrm>
            <a:off x="1958461" y="2982400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2B5DBD27-E657-5EB1-081D-A44F59C34D6E}"/>
              </a:ext>
            </a:extLst>
          </p:cNvPr>
          <p:cNvSpPr/>
          <p:nvPr/>
        </p:nvSpPr>
        <p:spPr>
          <a:xfrm>
            <a:off x="1857421" y="2884947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C58CA1E-D696-B13B-F94E-348D7FA19FC1}"/>
              </a:ext>
            </a:extLst>
          </p:cNvPr>
          <p:cNvSpPr/>
          <p:nvPr/>
        </p:nvSpPr>
        <p:spPr>
          <a:xfrm>
            <a:off x="2063088" y="3114725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43BC678C-3AEB-9E91-9455-B2268BD7A3B2}"/>
              </a:ext>
            </a:extLst>
          </p:cNvPr>
          <p:cNvSpPr/>
          <p:nvPr/>
        </p:nvSpPr>
        <p:spPr>
          <a:xfrm>
            <a:off x="1572952" y="3056944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0294FF11-6E4D-4D3B-374F-6A8D039C0E03}"/>
              </a:ext>
            </a:extLst>
          </p:cNvPr>
          <p:cNvSpPr/>
          <p:nvPr/>
        </p:nvSpPr>
        <p:spPr>
          <a:xfrm>
            <a:off x="3646416" y="3667524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4B4599B3-5AF9-1EC4-18F1-0E129BA7B7AB}"/>
              </a:ext>
            </a:extLst>
          </p:cNvPr>
          <p:cNvSpPr/>
          <p:nvPr/>
        </p:nvSpPr>
        <p:spPr>
          <a:xfrm>
            <a:off x="3798816" y="3819924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EAD47337-8F2E-5BD7-2FCB-DB4520A6540C}"/>
              </a:ext>
            </a:extLst>
          </p:cNvPr>
          <p:cNvSpPr/>
          <p:nvPr/>
        </p:nvSpPr>
        <p:spPr>
          <a:xfrm>
            <a:off x="3951216" y="3972324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EB1BA70B-5050-5C02-5AA5-ED99803747B2}"/>
              </a:ext>
            </a:extLst>
          </p:cNvPr>
          <p:cNvSpPr/>
          <p:nvPr/>
        </p:nvSpPr>
        <p:spPr>
          <a:xfrm>
            <a:off x="3747151" y="3971846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BD9A478B-5E0D-CDA2-F077-B6BB92320294}"/>
              </a:ext>
            </a:extLst>
          </p:cNvPr>
          <p:cNvSpPr/>
          <p:nvPr/>
        </p:nvSpPr>
        <p:spPr>
          <a:xfrm>
            <a:off x="3449984" y="3618075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80B2F4A-F902-7A6D-B557-B33171848B95}"/>
              </a:ext>
            </a:extLst>
          </p:cNvPr>
          <p:cNvSpPr/>
          <p:nvPr/>
        </p:nvSpPr>
        <p:spPr>
          <a:xfrm>
            <a:off x="4000286" y="3785053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76D5386C-43FC-D0D3-18A2-8328FF0359F0}"/>
              </a:ext>
            </a:extLst>
          </p:cNvPr>
          <p:cNvSpPr/>
          <p:nvPr/>
        </p:nvSpPr>
        <p:spPr>
          <a:xfrm>
            <a:off x="3899246" y="3687600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1F0220E4-6072-6727-1CC3-45BD59080559}"/>
              </a:ext>
            </a:extLst>
          </p:cNvPr>
          <p:cNvSpPr/>
          <p:nvPr/>
        </p:nvSpPr>
        <p:spPr>
          <a:xfrm>
            <a:off x="3740774" y="3505826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84CC115B-9956-FB56-1BA0-3E59A51C639A}"/>
              </a:ext>
            </a:extLst>
          </p:cNvPr>
          <p:cNvSpPr/>
          <p:nvPr/>
        </p:nvSpPr>
        <p:spPr>
          <a:xfrm>
            <a:off x="3614777" y="3859597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F2422A4E-D825-80E4-8FF1-03DDAC00FBA6}"/>
              </a:ext>
            </a:extLst>
          </p:cNvPr>
          <p:cNvSpPr/>
          <p:nvPr/>
        </p:nvSpPr>
        <p:spPr>
          <a:xfrm>
            <a:off x="3561591" y="3493870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A678C916-C8D6-D687-0CAC-B33744D0BEC7}"/>
              </a:ext>
            </a:extLst>
          </p:cNvPr>
          <p:cNvSpPr/>
          <p:nvPr/>
        </p:nvSpPr>
        <p:spPr>
          <a:xfrm>
            <a:off x="2312882" y="4181863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95EA96EC-ADC5-6AD0-A0E5-287F59A96369}"/>
              </a:ext>
            </a:extLst>
          </p:cNvPr>
          <p:cNvSpPr/>
          <p:nvPr/>
        </p:nvSpPr>
        <p:spPr>
          <a:xfrm>
            <a:off x="2465282" y="4334263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B9A71CED-8B7D-B93A-6DDF-89AD41422A20}"/>
              </a:ext>
            </a:extLst>
          </p:cNvPr>
          <p:cNvSpPr/>
          <p:nvPr/>
        </p:nvSpPr>
        <p:spPr>
          <a:xfrm>
            <a:off x="2617682" y="4486663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800A4DDC-ABFA-F328-403F-1F6778F4B73D}"/>
              </a:ext>
            </a:extLst>
          </p:cNvPr>
          <p:cNvSpPr/>
          <p:nvPr/>
        </p:nvSpPr>
        <p:spPr>
          <a:xfrm>
            <a:off x="2413617" y="4486185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C704F8C8-3254-B363-70D6-08834B1A041C}"/>
              </a:ext>
            </a:extLst>
          </p:cNvPr>
          <p:cNvSpPr/>
          <p:nvPr/>
        </p:nvSpPr>
        <p:spPr>
          <a:xfrm>
            <a:off x="2116450" y="4132414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4BE781B-AAA7-CC47-D16A-33E0F92609E0}"/>
              </a:ext>
            </a:extLst>
          </p:cNvPr>
          <p:cNvSpPr/>
          <p:nvPr/>
        </p:nvSpPr>
        <p:spPr>
          <a:xfrm>
            <a:off x="2666752" y="4299392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45862B82-D139-7AC0-3B3F-5B56BABBD58D}"/>
              </a:ext>
            </a:extLst>
          </p:cNvPr>
          <p:cNvSpPr/>
          <p:nvPr/>
        </p:nvSpPr>
        <p:spPr>
          <a:xfrm>
            <a:off x="2565712" y="4201939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E49A2CF1-8B7B-7889-7E0F-C25C19E0815C}"/>
              </a:ext>
            </a:extLst>
          </p:cNvPr>
          <p:cNvSpPr/>
          <p:nvPr/>
        </p:nvSpPr>
        <p:spPr>
          <a:xfrm>
            <a:off x="2407240" y="4020165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C8ED4D46-2FD4-5B7C-FEDD-F553488128C9}"/>
              </a:ext>
            </a:extLst>
          </p:cNvPr>
          <p:cNvSpPr/>
          <p:nvPr/>
        </p:nvSpPr>
        <p:spPr>
          <a:xfrm>
            <a:off x="2281243" y="4373936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7FD535D4-CB59-54BB-9394-F82CB800ECE7}"/>
              </a:ext>
            </a:extLst>
          </p:cNvPr>
          <p:cNvSpPr/>
          <p:nvPr/>
        </p:nvSpPr>
        <p:spPr>
          <a:xfrm>
            <a:off x="2228057" y="4008209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14B54F1E-E3D3-1D90-2AC7-37FFB04359F0}"/>
              </a:ext>
            </a:extLst>
          </p:cNvPr>
          <p:cNvSpPr/>
          <p:nvPr/>
        </p:nvSpPr>
        <p:spPr>
          <a:xfrm>
            <a:off x="2100308" y="4336842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D530A899-BB94-C3F4-E05E-2ADBD3298DFE}"/>
              </a:ext>
            </a:extLst>
          </p:cNvPr>
          <p:cNvSpPr/>
          <p:nvPr/>
        </p:nvSpPr>
        <p:spPr>
          <a:xfrm>
            <a:off x="2542965" y="4057178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B3D62B95-12C3-20A8-6906-837F90C06750}"/>
              </a:ext>
            </a:extLst>
          </p:cNvPr>
          <p:cNvSpPr/>
          <p:nvPr/>
        </p:nvSpPr>
        <p:spPr>
          <a:xfrm>
            <a:off x="2626919" y="3952084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6EB88436-B2CD-6BE2-C932-CF1AFB76ADB5}"/>
              </a:ext>
            </a:extLst>
          </p:cNvPr>
          <p:cNvSpPr/>
          <p:nvPr/>
        </p:nvSpPr>
        <p:spPr>
          <a:xfrm>
            <a:off x="2683563" y="4104484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11C6FE88-0FEC-3076-5ED3-A20319ED6AFF}"/>
              </a:ext>
            </a:extLst>
          </p:cNvPr>
          <p:cNvSpPr/>
          <p:nvPr/>
        </p:nvSpPr>
        <p:spPr>
          <a:xfrm>
            <a:off x="3914177" y="3299444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1187AA7F-BA3A-51EE-00CB-AAC05552A54D}"/>
              </a:ext>
            </a:extLst>
          </p:cNvPr>
          <p:cNvSpPr/>
          <p:nvPr/>
        </p:nvSpPr>
        <p:spPr>
          <a:xfrm>
            <a:off x="4066577" y="3451844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C1DA9069-07B9-1DD0-A1FE-B5D281074846}"/>
              </a:ext>
            </a:extLst>
          </p:cNvPr>
          <p:cNvSpPr/>
          <p:nvPr/>
        </p:nvSpPr>
        <p:spPr>
          <a:xfrm>
            <a:off x="4218977" y="3604244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BC58BC41-30EE-C9FC-EDA3-3939CBEBADDF}"/>
              </a:ext>
            </a:extLst>
          </p:cNvPr>
          <p:cNvSpPr/>
          <p:nvPr/>
        </p:nvSpPr>
        <p:spPr>
          <a:xfrm>
            <a:off x="4014912" y="3603766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C91504F3-5B3B-B86F-52B9-8BAD7539859F}"/>
              </a:ext>
            </a:extLst>
          </p:cNvPr>
          <p:cNvSpPr/>
          <p:nvPr/>
        </p:nvSpPr>
        <p:spPr>
          <a:xfrm>
            <a:off x="3717745" y="3249995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234B0F31-EFF1-0C02-EF38-3ECBB900505B}"/>
              </a:ext>
            </a:extLst>
          </p:cNvPr>
          <p:cNvSpPr/>
          <p:nvPr/>
        </p:nvSpPr>
        <p:spPr>
          <a:xfrm>
            <a:off x="4268047" y="3416973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557FAE0D-9A31-424A-28E1-15D6EB69DEA3}"/>
              </a:ext>
            </a:extLst>
          </p:cNvPr>
          <p:cNvSpPr/>
          <p:nvPr/>
        </p:nvSpPr>
        <p:spPr>
          <a:xfrm>
            <a:off x="4167007" y="3319520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AF535A65-B98D-69EF-558F-39AB3FCFBE00}"/>
              </a:ext>
            </a:extLst>
          </p:cNvPr>
          <p:cNvSpPr/>
          <p:nvPr/>
        </p:nvSpPr>
        <p:spPr>
          <a:xfrm>
            <a:off x="4008535" y="3137746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C7818E8D-B564-F12B-A12C-D39B6E210FCB}"/>
              </a:ext>
            </a:extLst>
          </p:cNvPr>
          <p:cNvSpPr/>
          <p:nvPr/>
        </p:nvSpPr>
        <p:spPr>
          <a:xfrm>
            <a:off x="3882538" y="3491517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71D23DBA-CC48-EF47-2D74-F223747DC5BE}"/>
              </a:ext>
            </a:extLst>
          </p:cNvPr>
          <p:cNvSpPr/>
          <p:nvPr/>
        </p:nvSpPr>
        <p:spPr>
          <a:xfrm>
            <a:off x="3829352" y="3125790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8" name="Ellipse 87">
            <a:extLst>
              <a:ext uri="{FF2B5EF4-FFF2-40B4-BE49-F238E27FC236}">
                <a16:creationId xmlns:a16="http://schemas.microsoft.com/office/drawing/2014/main" id="{B24AF7EF-0017-D317-9B11-796989978AE3}"/>
              </a:ext>
            </a:extLst>
          </p:cNvPr>
          <p:cNvSpPr/>
          <p:nvPr/>
        </p:nvSpPr>
        <p:spPr>
          <a:xfrm>
            <a:off x="1492468" y="2327699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Ellipse 88">
            <a:extLst>
              <a:ext uri="{FF2B5EF4-FFF2-40B4-BE49-F238E27FC236}">
                <a16:creationId xmlns:a16="http://schemas.microsoft.com/office/drawing/2014/main" id="{4DF73863-6F1C-5B19-1C11-FE46134B6562}"/>
              </a:ext>
            </a:extLst>
          </p:cNvPr>
          <p:cNvSpPr/>
          <p:nvPr/>
        </p:nvSpPr>
        <p:spPr>
          <a:xfrm>
            <a:off x="1644868" y="2480099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Ellipse 89">
            <a:extLst>
              <a:ext uri="{FF2B5EF4-FFF2-40B4-BE49-F238E27FC236}">
                <a16:creationId xmlns:a16="http://schemas.microsoft.com/office/drawing/2014/main" id="{A6F214A1-DA10-0B3B-0BF3-641CEBA77C46}"/>
              </a:ext>
            </a:extLst>
          </p:cNvPr>
          <p:cNvSpPr/>
          <p:nvPr/>
        </p:nvSpPr>
        <p:spPr>
          <a:xfrm>
            <a:off x="1797268" y="2632499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Ellipse 90">
            <a:extLst>
              <a:ext uri="{FF2B5EF4-FFF2-40B4-BE49-F238E27FC236}">
                <a16:creationId xmlns:a16="http://schemas.microsoft.com/office/drawing/2014/main" id="{9E8DCB9E-F141-116B-2125-7BD14B61F3FF}"/>
              </a:ext>
            </a:extLst>
          </p:cNvPr>
          <p:cNvSpPr/>
          <p:nvPr/>
        </p:nvSpPr>
        <p:spPr>
          <a:xfrm>
            <a:off x="1593203" y="2632021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Ellipse 91">
            <a:extLst>
              <a:ext uri="{FF2B5EF4-FFF2-40B4-BE49-F238E27FC236}">
                <a16:creationId xmlns:a16="http://schemas.microsoft.com/office/drawing/2014/main" id="{B43142B6-0BFD-B7D7-199D-35ABE70BBDAC}"/>
              </a:ext>
            </a:extLst>
          </p:cNvPr>
          <p:cNvSpPr/>
          <p:nvPr/>
        </p:nvSpPr>
        <p:spPr>
          <a:xfrm>
            <a:off x="1745603" y="2784898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Ellipse 92">
            <a:extLst>
              <a:ext uri="{FF2B5EF4-FFF2-40B4-BE49-F238E27FC236}">
                <a16:creationId xmlns:a16="http://schemas.microsoft.com/office/drawing/2014/main" id="{F11729CB-8136-460A-29DF-08CCB86A1328}"/>
              </a:ext>
            </a:extLst>
          </p:cNvPr>
          <p:cNvSpPr/>
          <p:nvPr/>
        </p:nvSpPr>
        <p:spPr>
          <a:xfrm>
            <a:off x="1846338" y="2445228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Ellipse 93">
            <a:extLst>
              <a:ext uri="{FF2B5EF4-FFF2-40B4-BE49-F238E27FC236}">
                <a16:creationId xmlns:a16="http://schemas.microsoft.com/office/drawing/2014/main" id="{2A9860EF-3370-1650-CC1C-B55C38989DD3}"/>
              </a:ext>
            </a:extLst>
          </p:cNvPr>
          <p:cNvSpPr/>
          <p:nvPr/>
        </p:nvSpPr>
        <p:spPr>
          <a:xfrm>
            <a:off x="1745298" y="2347775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Ellipse 94">
            <a:extLst>
              <a:ext uri="{FF2B5EF4-FFF2-40B4-BE49-F238E27FC236}">
                <a16:creationId xmlns:a16="http://schemas.microsoft.com/office/drawing/2014/main" id="{C2DB00C3-3FA6-3706-1506-EF1528B06298}"/>
              </a:ext>
            </a:extLst>
          </p:cNvPr>
          <p:cNvSpPr/>
          <p:nvPr/>
        </p:nvSpPr>
        <p:spPr>
          <a:xfrm>
            <a:off x="1950965" y="2577553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0744200F-C68D-A959-3D1E-5D3C6F8714AE}"/>
              </a:ext>
            </a:extLst>
          </p:cNvPr>
          <p:cNvSpPr/>
          <p:nvPr/>
        </p:nvSpPr>
        <p:spPr>
          <a:xfrm>
            <a:off x="1460829" y="2519772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D79710E6-72F5-2BEA-C3BE-0A045B9545F4}"/>
              </a:ext>
            </a:extLst>
          </p:cNvPr>
          <p:cNvSpPr/>
          <p:nvPr/>
        </p:nvSpPr>
        <p:spPr>
          <a:xfrm>
            <a:off x="2696683" y="4625289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2C0B7FCC-5848-E23F-15A1-A720EFC19497}"/>
              </a:ext>
            </a:extLst>
          </p:cNvPr>
          <p:cNvSpPr/>
          <p:nvPr/>
        </p:nvSpPr>
        <p:spPr>
          <a:xfrm>
            <a:off x="2849083" y="4777689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8DE4B88C-93E1-F000-DC65-48BDCA318FBD}"/>
              </a:ext>
            </a:extLst>
          </p:cNvPr>
          <p:cNvSpPr/>
          <p:nvPr/>
        </p:nvSpPr>
        <p:spPr>
          <a:xfrm>
            <a:off x="3001483" y="4930089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C7A7DC55-FD73-5FBE-0F91-29B0DAAC6FCC}"/>
              </a:ext>
            </a:extLst>
          </p:cNvPr>
          <p:cNvSpPr/>
          <p:nvPr/>
        </p:nvSpPr>
        <p:spPr>
          <a:xfrm>
            <a:off x="2797418" y="4929611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Ellipse 100">
            <a:extLst>
              <a:ext uri="{FF2B5EF4-FFF2-40B4-BE49-F238E27FC236}">
                <a16:creationId xmlns:a16="http://schemas.microsoft.com/office/drawing/2014/main" id="{97A647B1-CA1C-7111-14C3-D9248CC2CBB9}"/>
              </a:ext>
            </a:extLst>
          </p:cNvPr>
          <p:cNvSpPr/>
          <p:nvPr/>
        </p:nvSpPr>
        <p:spPr>
          <a:xfrm>
            <a:off x="2500251" y="4575840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2" name="Ellipse 101">
            <a:extLst>
              <a:ext uri="{FF2B5EF4-FFF2-40B4-BE49-F238E27FC236}">
                <a16:creationId xmlns:a16="http://schemas.microsoft.com/office/drawing/2014/main" id="{3F8F449D-F2D2-153D-A3D5-182A625DCD2C}"/>
              </a:ext>
            </a:extLst>
          </p:cNvPr>
          <p:cNvSpPr/>
          <p:nvPr/>
        </p:nvSpPr>
        <p:spPr>
          <a:xfrm>
            <a:off x="3050553" y="4742818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D2440A46-C0FC-A29E-1927-DBD3B8F1BEA6}"/>
              </a:ext>
            </a:extLst>
          </p:cNvPr>
          <p:cNvSpPr/>
          <p:nvPr/>
        </p:nvSpPr>
        <p:spPr>
          <a:xfrm>
            <a:off x="2949513" y="4645365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Ellipse 103">
            <a:extLst>
              <a:ext uri="{FF2B5EF4-FFF2-40B4-BE49-F238E27FC236}">
                <a16:creationId xmlns:a16="http://schemas.microsoft.com/office/drawing/2014/main" id="{3500E20E-473F-53CA-0245-0FED78EA0D0F}"/>
              </a:ext>
            </a:extLst>
          </p:cNvPr>
          <p:cNvSpPr/>
          <p:nvPr/>
        </p:nvSpPr>
        <p:spPr>
          <a:xfrm>
            <a:off x="2791041" y="4463591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Ellipse 104">
            <a:extLst>
              <a:ext uri="{FF2B5EF4-FFF2-40B4-BE49-F238E27FC236}">
                <a16:creationId xmlns:a16="http://schemas.microsoft.com/office/drawing/2014/main" id="{76955CC6-8EAF-3D3D-9F0A-F36B7184DF85}"/>
              </a:ext>
            </a:extLst>
          </p:cNvPr>
          <p:cNvSpPr/>
          <p:nvPr/>
        </p:nvSpPr>
        <p:spPr>
          <a:xfrm>
            <a:off x="2665044" y="4817362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52B62202-C83F-9C93-69A2-F780F8DA7187}"/>
              </a:ext>
            </a:extLst>
          </p:cNvPr>
          <p:cNvSpPr/>
          <p:nvPr/>
        </p:nvSpPr>
        <p:spPr>
          <a:xfrm>
            <a:off x="2817180" y="4296521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7" name="Ellipse 106">
            <a:extLst>
              <a:ext uri="{FF2B5EF4-FFF2-40B4-BE49-F238E27FC236}">
                <a16:creationId xmlns:a16="http://schemas.microsoft.com/office/drawing/2014/main" id="{827D7047-2CDB-D35B-F85C-5B866B3388E0}"/>
              </a:ext>
            </a:extLst>
          </p:cNvPr>
          <p:cNvSpPr/>
          <p:nvPr/>
        </p:nvSpPr>
        <p:spPr>
          <a:xfrm>
            <a:off x="2484109" y="4780268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Ellipse 107">
            <a:extLst>
              <a:ext uri="{FF2B5EF4-FFF2-40B4-BE49-F238E27FC236}">
                <a16:creationId xmlns:a16="http://schemas.microsoft.com/office/drawing/2014/main" id="{FC65566D-45EC-A8E9-5A33-B3934CB138EB}"/>
              </a:ext>
            </a:extLst>
          </p:cNvPr>
          <p:cNvSpPr/>
          <p:nvPr/>
        </p:nvSpPr>
        <p:spPr>
          <a:xfrm>
            <a:off x="2926766" y="4500604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593C00F5-F168-CB5A-BF0F-3AECA1147293}"/>
              </a:ext>
            </a:extLst>
          </p:cNvPr>
          <p:cNvSpPr/>
          <p:nvPr/>
        </p:nvSpPr>
        <p:spPr>
          <a:xfrm>
            <a:off x="3010720" y="4395510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1EAD02CA-586C-98C6-CF8B-A8A943D28B5F}"/>
              </a:ext>
            </a:extLst>
          </p:cNvPr>
          <p:cNvSpPr/>
          <p:nvPr/>
        </p:nvSpPr>
        <p:spPr>
          <a:xfrm>
            <a:off x="3067364" y="4547910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E7047E3A-6FA5-17C7-2E48-B0E01D59C6B3}"/>
              </a:ext>
            </a:extLst>
          </p:cNvPr>
          <p:cNvCxnSpPr>
            <a:cxnSpLocks/>
          </p:cNvCxnSpPr>
          <p:nvPr/>
        </p:nvCxnSpPr>
        <p:spPr>
          <a:xfrm>
            <a:off x="6305754" y="5251746"/>
            <a:ext cx="3581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eur droit avec flèche 115">
            <a:extLst>
              <a:ext uri="{FF2B5EF4-FFF2-40B4-BE49-F238E27FC236}">
                <a16:creationId xmlns:a16="http://schemas.microsoft.com/office/drawing/2014/main" id="{A087D957-1A20-76F0-4DAF-897E8EA4B68A}"/>
              </a:ext>
            </a:extLst>
          </p:cNvPr>
          <p:cNvCxnSpPr>
            <a:cxnSpLocks/>
          </p:cNvCxnSpPr>
          <p:nvPr/>
        </p:nvCxnSpPr>
        <p:spPr>
          <a:xfrm flipV="1">
            <a:off x="6305754" y="2229580"/>
            <a:ext cx="0" cy="3022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Ellipse 116">
            <a:extLst>
              <a:ext uri="{FF2B5EF4-FFF2-40B4-BE49-F238E27FC236}">
                <a16:creationId xmlns:a16="http://schemas.microsoft.com/office/drawing/2014/main" id="{856E9330-B969-D444-0558-671F75F9BFD6}"/>
              </a:ext>
            </a:extLst>
          </p:cNvPr>
          <p:cNvSpPr/>
          <p:nvPr/>
        </p:nvSpPr>
        <p:spPr>
          <a:xfrm>
            <a:off x="7610301" y="3696492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8" name="Ellipse 117">
            <a:extLst>
              <a:ext uri="{FF2B5EF4-FFF2-40B4-BE49-F238E27FC236}">
                <a16:creationId xmlns:a16="http://schemas.microsoft.com/office/drawing/2014/main" id="{F023622D-A398-7449-6628-5198DC994DE6}"/>
              </a:ext>
            </a:extLst>
          </p:cNvPr>
          <p:cNvSpPr/>
          <p:nvPr/>
        </p:nvSpPr>
        <p:spPr>
          <a:xfrm>
            <a:off x="7762701" y="3848892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9" name="Ellipse 118">
            <a:extLst>
              <a:ext uri="{FF2B5EF4-FFF2-40B4-BE49-F238E27FC236}">
                <a16:creationId xmlns:a16="http://schemas.microsoft.com/office/drawing/2014/main" id="{717C2E91-1AC7-EFEE-0952-C9B88C7C305D}"/>
              </a:ext>
            </a:extLst>
          </p:cNvPr>
          <p:cNvSpPr/>
          <p:nvPr/>
        </p:nvSpPr>
        <p:spPr>
          <a:xfrm>
            <a:off x="7915101" y="4001292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0" name="Ellipse 119">
            <a:extLst>
              <a:ext uri="{FF2B5EF4-FFF2-40B4-BE49-F238E27FC236}">
                <a16:creationId xmlns:a16="http://schemas.microsoft.com/office/drawing/2014/main" id="{CAC3F7FA-EE41-DB5E-1867-A4DBB491E681}"/>
              </a:ext>
            </a:extLst>
          </p:cNvPr>
          <p:cNvSpPr/>
          <p:nvPr/>
        </p:nvSpPr>
        <p:spPr>
          <a:xfrm>
            <a:off x="7711036" y="4000814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50DA183C-C153-BE4A-C41D-9372911190EE}"/>
              </a:ext>
            </a:extLst>
          </p:cNvPr>
          <p:cNvSpPr/>
          <p:nvPr/>
        </p:nvSpPr>
        <p:spPr>
          <a:xfrm>
            <a:off x="7863436" y="4153691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3C06E7E8-0ADD-A61B-D589-894BBC19ACFE}"/>
              </a:ext>
            </a:extLst>
          </p:cNvPr>
          <p:cNvSpPr/>
          <p:nvPr/>
        </p:nvSpPr>
        <p:spPr>
          <a:xfrm>
            <a:off x="7964171" y="3814021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2FD890E1-5A91-946C-7BBA-20FA4286C92B}"/>
              </a:ext>
            </a:extLst>
          </p:cNvPr>
          <p:cNvSpPr/>
          <p:nvPr/>
        </p:nvSpPr>
        <p:spPr>
          <a:xfrm>
            <a:off x="7863131" y="3716568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D6D82D98-5AEB-998A-8AD1-9D784AB517D3}"/>
              </a:ext>
            </a:extLst>
          </p:cNvPr>
          <p:cNvSpPr/>
          <p:nvPr/>
        </p:nvSpPr>
        <p:spPr>
          <a:xfrm>
            <a:off x="8068798" y="3946346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49F4357A-DC93-8C2D-0DA8-5B90A91460E7}"/>
              </a:ext>
            </a:extLst>
          </p:cNvPr>
          <p:cNvSpPr/>
          <p:nvPr/>
        </p:nvSpPr>
        <p:spPr>
          <a:xfrm>
            <a:off x="7578662" y="3888565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6AACE138-5C19-A6A2-12E9-56902BB6EE58}"/>
              </a:ext>
            </a:extLst>
          </p:cNvPr>
          <p:cNvSpPr/>
          <p:nvPr/>
        </p:nvSpPr>
        <p:spPr>
          <a:xfrm>
            <a:off x="7713631" y="3805142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C3275270-12DB-E443-074D-C9B5E4C83F46}"/>
              </a:ext>
            </a:extLst>
          </p:cNvPr>
          <p:cNvSpPr/>
          <p:nvPr/>
        </p:nvSpPr>
        <p:spPr>
          <a:xfrm>
            <a:off x="7866031" y="3957542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DD2A9EFE-FCE4-62DD-7655-91B97E229A9E}"/>
              </a:ext>
            </a:extLst>
          </p:cNvPr>
          <p:cNvSpPr/>
          <p:nvPr/>
        </p:nvSpPr>
        <p:spPr>
          <a:xfrm>
            <a:off x="8018431" y="4109942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Ellipse 128">
            <a:extLst>
              <a:ext uri="{FF2B5EF4-FFF2-40B4-BE49-F238E27FC236}">
                <a16:creationId xmlns:a16="http://schemas.microsoft.com/office/drawing/2014/main" id="{1478EB06-DDF2-6DFB-0214-8E0AF68851C4}"/>
              </a:ext>
            </a:extLst>
          </p:cNvPr>
          <p:cNvSpPr/>
          <p:nvPr/>
        </p:nvSpPr>
        <p:spPr>
          <a:xfrm>
            <a:off x="7814366" y="4109464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0" name="Ellipse 129">
            <a:extLst>
              <a:ext uri="{FF2B5EF4-FFF2-40B4-BE49-F238E27FC236}">
                <a16:creationId xmlns:a16="http://schemas.microsoft.com/office/drawing/2014/main" id="{C96FD7DE-3DF1-D487-4636-3C917EA4F836}"/>
              </a:ext>
            </a:extLst>
          </p:cNvPr>
          <p:cNvSpPr/>
          <p:nvPr/>
        </p:nvSpPr>
        <p:spPr>
          <a:xfrm>
            <a:off x="7517199" y="3755693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Ellipse 130">
            <a:extLst>
              <a:ext uri="{FF2B5EF4-FFF2-40B4-BE49-F238E27FC236}">
                <a16:creationId xmlns:a16="http://schemas.microsoft.com/office/drawing/2014/main" id="{26FB5B9A-88A1-7FAF-F719-13850B1FD3B2}"/>
              </a:ext>
            </a:extLst>
          </p:cNvPr>
          <p:cNvSpPr/>
          <p:nvPr/>
        </p:nvSpPr>
        <p:spPr>
          <a:xfrm>
            <a:off x="8067501" y="3922671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Ellipse 131">
            <a:extLst>
              <a:ext uri="{FF2B5EF4-FFF2-40B4-BE49-F238E27FC236}">
                <a16:creationId xmlns:a16="http://schemas.microsoft.com/office/drawing/2014/main" id="{427A3BD4-8D7F-8681-55CA-5A9881830616}"/>
              </a:ext>
            </a:extLst>
          </p:cNvPr>
          <p:cNvSpPr/>
          <p:nvPr/>
        </p:nvSpPr>
        <p:spPr>
          <a:xfrm>
            <a:off x="7966461" y="3825218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3" name="Ellipse 132">
            <a:extLst>
              <a:ext uri="{FF2B5EF4-FFF2-40B4-BE49-F238E27FC236}">
                <a16:creationId xmlns:a16="http://schemas.microsoft.com/office/drawing/2014/main" id="{F09EC6F7-EF19-93FD-7A27-98FAFF44C30F}"/>
              </a:ext>
            </a:extLst>
          </p:cNvPr>
          <p:cNvSpPr/>
          <p:nvPr/>
        </p:nvSpPr>
        <p:spPr>
          <a:xfrm>
            <a:off x="7807989" y="3643444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4" name="Ellipse 133">
            <a:extLst>
              <a:ext uri="{FF2B5EF4-FFF2-40B4-BE49-F238E27FC236}">
                <a16:creationId xmlns:a16="http://schemas.microsoft.com/office/drawing/2014/main" id="{0F6E10EC-A322-4B87-F7E8-DF04DB797D17}"/>
              </a:ext>
            </a:extLst>
          </p:cNvPr>
          <p:cNvSpPr/>
          <p:nvPr/>
        </p:nvSpPr>
        <p:spPr>
          <a:xfrm>
            <a:off x="7681992" y="3997215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5" name="Ellipse 134">
            <a:extLst>
              <a:ext uri="{FF2B5EF4-FFF2-40B4-BE49-F238E27FC236}">
                <a16:creationId xmlns:a16="http://schemas.microsoft.com/office/drawing/2014/main" id="{5363AA6D-40A0-252A-083B-D2DE4A527E10}"/>
              </a:ext>
            </a:extLst>
          </p:cNvPr>
          <p:cNvSpPr/>
          <p:nvPr/>
        </p:nvSpPr>
        <p:spPr>
          <a:xfrm>
            <a:off x="7628806" y="3631488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6" name="Ellipse 135">
            <a:extLst>
              <a:ext uri="{FF2B5EF4-FFF2-40B4-BE49-F238E27FC236}">
                <a16:creationId xmlns:a16="http://schemas.microsoft.com/office/drawing/2014/main" id="{281883F9-5802-EDDE-EDA8-A7EF75D6FEB3}"/>
              </a:ext>
            </a:extLst>
          </p:cNvPr>
          <p:cNvSpPr/>
          <p:nvPr/>
        </p:nvSpPr>
        <p:spPr>
          <a:xfrm>
            <a:off x="7497729" y="3530092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7" name="Ellipse 136">
            <a:extLst>
              <a:ext uri="{FF2B5EF4-FFF2-40B4-BE49-F238E27FC236}">
                <a16:creationId xmlns:a16="http://schemas.microsoft.com/office/drawing/2014/main" id="{6776B43F-73EE-77A3-146E-7B7224162CB9}"/>
              </a:ext>
            </a:extLst>
          </p:cNvPr>
          <p:cNvSpPr/>
          <p:nvPr/>
        </p:nvSpPr>
        <p:spPr>
          <a:xfrm>
            <a:off x="7650129" y="3682492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8" name="Ellipse 137">
            <a:extLst>
              <a:ext uri="{FF2B5EF4-FFF2-40B4-BE49-F238E27FC236}">
                <a16:creationId xmlns:a16="http://schemas.microsoft.com/office/drawing/2014/main" id="{10B29DBF-C8F8-4F3E-95FE-951B7C3AC319}"/>
              </a:ext>
            </a:extLst>
          </p:cNvPr>
          <p:cNvSpPr/>
          <p:nvPr/>
        </p:nvSpPr>
        <p:spPr>
          <a:xfrm>
            <a:off x="7802529" y="3834892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9" name="Ellipse 138">
            <a:extLst>
              <a:ext uri="{FF2B5EF4-FFF2-40B4-BE49-F238E27FC236}">
                <a16:creationId xmlns:a16="http://schemas.microsoft.com/office/drawing/2014/main" id="{54186D73-9584-2324-AF21-C4D776B42FCD}"/>
              </a:ext>
            </a:extLst>
          </p:cNvPr>
          <p:cNvSpPr/>
          <p:nvPr/>
        </p:nvSpPr>
        <p:spPr>
          <a:xfrm>
            <a:off x="7598464" y="3834414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Ellipse 139">
            <a:extLst>
              <a:ext uri="{FF2B5EF4-FFF2-40B4-BE49-F238E27FC236}">
                <a16:creationId xmlns:a16="http://schemas.microsoft.com/office/drawing/2014/main" id="{61D446AD-CCD5-CE00-83D8-2C8394E798F1}"/>
              </a:ext>
            </a:extLst>
          </p:cNvPr>
          <p:cNvSpPr/>
          <p:nvPr/>
        </p:nvSpPr>
        <p:spPr>
          <a:xfrm>
            <a:off x="7301297" y="3480643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Ellipse 140">
            <a:extLst>
              <a:ext uri="{FF2B5EF4-FFF2-40B4-BE49-F238E27FC236}">
                <a16:creationId xmlns:a16="http://schemas.microsoft.com/office/drawing/2014/main" id="{176F6804-A323-C18E-2A7E-0C48C100CD6A}"/>
              </a:ext>
            </a:extLst>
          </p:cNvPr>
          <p:cNvSpPr/>
          <p:nvPr/>
        </p:nvSpPr>
        <p:spPr>
          <a:xfrm>
            <a:off x="7851599" y="3647621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DCF83A9F-8B68-79DF-C34D-87C13E7EE233}"/>
              </a:ext>
            </a:extLst>
          </p:cNvPr>
          <p:cNvSpPr/>
          <p:nvPr/>
        </p:nvSpPr>
        <p:spPr>
          <a:xfrm>
            <a:off x="7750559" y="3550168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9A5FBC13-CBCB-10D5-9186-D0D6FA36E105}"/>
              </a:ext>
            </a:extLst>
          </p:cNvPr>
          <p:cNvSpPr/>
          <p:nvPr/>
        </p:nvSpPr>
        <p:spPr>
          <a:xfrm>
            <a:off x="7592087" y="3368394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4" name="Ellipse 143">
            <a:extLst>
              <a:ext uri="{FF2B5EF4-FFF2-40B4-BE49-F238E27FC236}">
                <a16:creationId xmlns:a16="http://schemas.microsoft.com/office/drawing/2014/main" id="{072CB700-7E8B-41CB-26E3-EAEBD20775F4}"/>
              </a:ext>
            </a:extLst>
          </p:cNvPr>
          <p:cNvSpPr/>
          <p:nvPr/>
        </p:nvSpPr>
        <p:spPr>
          <a:xfrm>
            <a:off x="7466090" y="3722165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Ellipse 144">
            <a:extLst>
              <a:ext uri="{FF2B5EF4-FFF2-40B4-BE49-F238E27FC236}">
                <a16:creationId xmlns:a16="http://schemas.microsoft.com/office/drawing/2014/main" id="{9A0E4080-2FC4-BC43-5992-033583A54401}"/>
              </a:ext>
            </a:extLst>
          </p:cNvPr>
          <p:cNvSpPr/>
          <p:nvPr/>
        </p:nvSpPr>
        <p:spPr>
          <a:xfrm>
            <a:off x="7412904" y="3356438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515B5D6F-84B1-205B-2EA5-A05B6B480CFF}"/>
              </a:ext>
            </a:extLst>
          </p:cNvPr>
          <p:cNvSpPr/>
          <p:nvPr/>
        </p:nvSpPr>
        <p:spPr>
          <a:xfrm>
            <a:off x="7285155" y="3685071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7" name="Ellipse 146">
            <a:extLst>
              <a:ext uri="{FF2B5EF4-FFF2-40B4-BE49-F238E27FC236}">
                <a16:creationId xmlns:a16="http://schemas.microsoft.com/office/drawing/2014/main" id="{471B46F7-BE33-6957-9B2A-1979EA8A9E49}"/>
              </a:ext>
            </a:extLst>
          </p:cNvPr>
          <p:cNvSpPr/>
          <p:nvPr/>
        </p:nvSpPr>
        <p:spPr>
          <a:xfrm>
            <a:off x="7727812" y="3405407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8" name="Ellipse 147">
            <a:extLst>
              <a:ext uri="{FF2B5EF4-FFF2-40B4-BE49-F238E27FC236}">
                <a16:creationId xmlns:a16="http://schemas.microsoft.com/office/drawing/2014/main" id="{C6B5724E-F6DE-C53A-8C00-1555E892FBD5}"/>
              </a:ext>
            </a:extLst>
          </p:cNvPr>
          <p:cNvSpPr/>
          <p:nvPr/>
        </p:nvSpPr>
        <p:spPr>
          <a:xfrm>
            <a:off x="7811766" y="3300313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9" name="Ellipse 148">
            <a:extLst>
              <a:ext uri="{FF2B5EF4-FFF2-40B4-BE49-F238E27FC236}">
                <a16:creationId xmlns:a16="http://schemas.microsoft.com/office/drawing/2014/main" id="{4264BA60-87BD-C22E-188B-941C43AA9B16}"/>
              </a:ext>
            </a:extLst>
          </p:cNvPr>
          <p:cNvSpPr/>
          <p:nvPr/>
        </p:nvSpPr>
        <p:spPr>
          <a:xfrm>
            <a:off x="7868410" y="3452713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7A00D226-D841-F481-542A-EB4652AABF31}"/>
              </a:ext>
            </a:extLst>
          </p:cNvPr>
          <p:cNvSpPr/>
          <p:nvPr/>
        </p:nvSpPr>
        <p:spPr>
          <a:xfrm>
            <a:off x="7981392" y="3437062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1" name="Ellipse 150">
            <a:extLst>
              <a:ext uri="{FF2B5EF4-FFF2-40B4-BE49-F238E27FC236}">
                <a16:creationId xmlns:a16="http://schemas.microsoft.com/office/drawing/2014/main" id="{4CFF79C1-982E-08C4-84CD-EF90E049FA48}"/>
              </a:ext>
            </a:extLst>
          </p:cNvPr>
          <p:cNvSpPr/>
          <p:nvPr/>
        </p:nvSpPr>
        <p:spPr>
          <a:xfrm>
            <a:off x="8133792" y="3589462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2" name="Ellipse 151">
            <a:extLst>
              <a:ext uri="{FF2B5EF4-FFF2-40B4-BE49-F238E27FC236}">
                <a16:creationId xmlns:a16="http://schemas.microsoft.com/office/drawing/2014/main" id="{2F660958-73C6-F71A-F17D-6CA0204D1ED0}"/>
              </a:ext>
            </a:extLst>
          </p:cNvPr>
          <p:cNvSpPr/>
          <p:nvPr/>
        </p:nvSpPr>
        <p:spPr>
          <a:xfrm>
            <a:off x="8286192" y="3741862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Ellipse 152">
            <a:extLst>
              <a:ext uri="{FF2B5EF4-FFF2-40B4-BE49-F238E27FC236}">
                <a16:creationId xmlns:a16="http://schemas.microsoft.com/office/drawing/2014/main" id="{6CCE1705-A3CF-FF29-1BBE-CCDF8786DBFB}"/>
              </a:ext>
            </a:extLst>
          </p:cNvPr>
          <p:cNvSpPr/>
          <p:nvPr/>
        </p:nvSpPr>
        <p:spPr>
          <a:xfrm>
            <a:off x="8082127" y="3741384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4" name="Ellipse 153">
            <a:extLst>
              <a:ext uri="{FF2B5EF4-FFF2-40B4-BE49-F238E27FC236}">
                <a16:creationId xmlns:a16="http://schemas.microsoft.com/office/drawing/2014/main" id="{BC584652-6C41-C8F5-1FD6-27484B1F8D59}"/>
              </a:ext>
            </a:extLst>
          </p:cNvPr>
          <p:cNvSpPr/>
          <p:nvPr/>
        </p:nvSpPr>
        <p:spPr>
          <a:xfrm>
            <a:off x="7784960" y="3387613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Ellipse 154">
            <a:extLst>
              <a:ext uri="{FF2B5EF4-FFF2-40B4-BE49-F238E27FC236}">
                <a16:creationId xmlns:a16="http://schemas.microsoft.com/office/drawing/2014/main" id="{CC3E75A8-0A66-EF8D-24CB-A18CAD902E70}"/>
              </a:ext>
            </a:extLst>
          </p:cNvPr>
          <p:cNvSpPr/>
          <p:nvPr/>
        </p:nvSpPr>
        <p:spPr>
          <a:xfrm>
            <a:off x="8335262" y="3554591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Ellipse 155">
            <a:extLst>
              <a:ext uri="{FF2B5EF4-FFF2-40B4-BE49-F238E27FC236}">
                <a16:creationId xmlns:a16="http://schemas.microsoft.com/office/drawing/2014/main" id="{E153175B-E99C-CF6C-B5A7-C84DAE5A7719}"/>
              </a:ext>
            </a:extLst>
          </p:cNvPr>
          <p:cNvSpPr/>
          <p:nvPr/>
        </p:nvSpPr>
        <p:spPr>
          <a:xfrm>
            <a:off x="8234222" y="3457138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Ellipse 156">
            <a:extLst>
              <a:ext uri="{FF2B5EF4-FFF2-40B4-BE49-F238E27FC236}">
                <a16:creationId xmlns:a16="http://schemas.microsoft.com/office/drawing/2014/main" id="{B3BC0545-6715-31AF-D8F6-813F1186BEAC}"/>
              </a:ext>
            </a:extLst>
          </p:cNvPr>
          <p:cNvSpPr/>
          <p:nvPr/>
        </p:nvSpPr>
        <p:spPr>
          <a:xfrm>
            <a:off x="8075750" y="3275364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8" name="Ellipse 157">
            <a:extLst>
              <a:ext uri="{FF2B5EF4-FFF2-40B4-BE49-F238E27FC236}">
                <a16:creationId xmlns:a16="http://schemas.microsoft.com/office/drawing/2014/main" id="{0FB2FF31-B86B-A75E-3841-901B97D8BDF6}"/>
              </a:ext>
            </a:extLst>
          </p:cNvPr>
          <p:cNvSpPr/>
          <p:nvPr/>
        </p:nvSpPr>
        <p:spPr>
          <a:xfrm>
            <a:off x="7949753" y="3629135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9" name="Ellipse 158">
            <a:extLst>
              <a:ext uri="{FF2B5EF4-FFF2-40B4-BE49-F238E27FC236}">
                <a16:creationId xmlns:a16="http://schemas.microsoft.com/office/drawing/2014/main" id="{A54FB157-6301-401E-72EC-A90734CF21DD}"/>
              </a:ext>
            </a:extLst>
          </p:cNvPr>
          <p:cNvSpPr/>
          <p:nvPr/>
        </p:nvSpPr>
        <p:spPr>
          <a:xfrm>
            <a:off x="7896567" y="3263408"/>
            <a:ext cx="100735" cy="112249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0" name="Ellipse 159">
            <a:extLst>
              <a:ext uri="{FF2B5EF4-FFF2-40B4-BE49-F238E27FC236}">
                <a16:creationId xmlns:a16="http://schemas.microsoft.com/office/drawing/2014/main" id="{56F9D143-5823-B34B-93A9-17756A7C50C7}"/>
              </a:ext>
            </a:extLst>
          </p:cNvPr>
          <p:cNvSpPr/>
          <p:nvPr/>
        </p:nvSpPr>
        <p:spPr>
          <a:xfrm>
            <a:off x="7498178" y="3159320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Ellipse 160">
            <a:extLst>
              <a:ext uri="{FF2B5EF4-FFF2-40B4-BE49-F238E27FC236}">
                <a16:creationId xmlns:a16="http://schemas.microsoft.com/office/drawing/2014/main" id="{1F25CA2F-0866-C20F-88F5-A050AF71ADE6}"/>
              </a:ext>
            </a:extLst>
          </p:cNvPr>
          <p:cNvSpPr/>
          <p:nvPr/>
        </p:nvSpPr>
        <p:spPr>
          <a:xfrm>
            <a:off x="7650578" y="3311720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2B548150-9840-C01F-6BF5-5143A9D6B8A0}"/>
              </a:ext>
            </a:extLst>
          </p:cNvPr>
          <p:cNvSpPr/>
          <p:nvPr/>
        </p:nvSpPr>
        <p:spPr>
          <a:xfrm>
            <a:off x="7802978" y="3464120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60F85035-DDC6-A60D-F756-CD320A622236}"/>
              </a:ext>
            </a:extLst>
          </p:cNvPr>
          <p:cNvSpPr/>
          <p:nvPr/>
        </p:nvSpPr>
        <p:spPr>
          <a:xfrm>
            <a:off x="7598913" y="3463642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B548B5C0-5751-A73A-6ADB-C3F160E5646B}"/>
              </a:ext>
            </a:extLst>
          </p:cNvPr>
          <p:cNvSpPr/>
          <p:nvPr/>
        </p:nvSpPr>
        <p:spPr>
          <a:xfrm>
            <a:off x="7751313" y="3616519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5" name="Ellipse 164">
            <a:extLst>
              <a:ext uri="{FF2B5EF4-FFF2-40B4-BE49-F238E27FC236}">
                <a16:creationId xmlns:a16="http://schemas.microsoft.com/office/drawing/2014/main" id="{EF8ED89C-159B-B809-9541-199ABE9C4D7F}"/>
              </a:ext>
            </a:extLst>
          </p:cNvPr>
          <p:cNvSpPr/>
          <p:nvPr/>
        </p:nvSpPr>
        <p:spPr>
          <a:xfrm>
            <a:off x="7852048" y="3276849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0B912F9E-B796-76A0-88C8-DB1576F9F593}"/>
              </a:ext>
            </a:extLst>
          </p:cNvPr>
          <p:cNvSpPr/>
          <p:nvPr/>
        </p:nvSpPr>
        <p:spPr>
          <a:xfrm>
            <a:off x="7751008" y="3179396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37C7C8E4-9E2A-978B-2895-41FC2FDC6D2C}"/>
              </a:ext>
            </a:extLst>
          </p:cNvPr>
          <p:cNvSpPr/>
          <p:nvPr/>
        </p:nvSpPr>
        <p:spPr>
          <a:xfrm>
            <a:off x="7956675" y="3409174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66C6CDCF-7C24-D942-EAFD-5077982F5C46}"/>
              </a:ext>
            </a:extLst>
          </p:cNvPr>
          <p:cNvSpPr/>
          <p:nvPr/>
        </p:nvSpPr>
        <p:spPr>
          <a:xfrm>
            <a:off x="7466539" y="3351393"/>
            <a:ext cx="100735" cy="112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C02483D3-B008-FE1E-6916-5DC02CB8419B}"/>
              </a:ext>
            </a:extLst>
          </p:cNvPr>
          <p:cNvSpPr/>
          <p:nvPr/>
        </p:nvSpPr>
        <p:spPr>
          <a:xfrm>
            <a:off x="7881530" y="3973518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DCF34514-5C15-8F7E-E35D-E180AF423AB0}"/>
              </a:ext>
            </a:extLst>
          </p:cNvPr>
          <p:cNvSpPr/>
          <p:nvPr/>
        </p:nvSpPr>
        <p:spPr>
          <a:xfrm>
            <a:off x="8033930" y="4125918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1880FEA4-5D77-B5F3-4F6C-7E70A7C95FBD}"/>
              </a:ext>
            </a:extLst>
          </p:cNvPr>
          <p:cNvSpPr/>
          <p:nvPr/>
        </p:nvSpPr>
        <p:spPr>
          <a:xfrm>
            <a:off x="8186330" y="4278318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FC70A3CC-6F50-A3EE-1957-88BB0F92CB99}"/>
              </a:ext>
            </a:extLst>
          </p:cNvPr>
          <p:cNvSpPr/>
          <p:nvPr/>
        </p:nvSpPr>
        <p:spPr>
          <a:xfrm>
            <a:off x="7982265" y="4277840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22768540-ADC0-F97B-82E8-E2642FD0E7EF}"/>
              </a:ext>
            </a:extLst>
          </p:cNvPr>
          <p:cNvSpPr/>
          <p:nvPr/>
        </p:nvSpPr>
        <p:spPr>
          <a:xfrm>
            <a:off x="7685098" y="3924069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607837C-7F54-BE01-F424-FB66ED93D7DB}"/>
              </a:ext>
            </a:extLst>
          </p:cNvPr>
          <p:cNvSpPr/>
          <p:nvPr/>
        </p:nvSpPr>
        <p:spPr>
          <a:xfrm>
            <a:off x="8235400" y="4091047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131C9A93-6121-6AB0-D2E2-8963B6E4FB34}"/>
              </a:ext>
            </a:extLst>
          </p:cNvPr>
          <p:cNvSpPr/>
          <p:nvPr/>
        </p:nvSpPr>
        <p:spPr>
          <a:xfrm>
            <a:off x="8134360" y="3993594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2298E206-C846-6897-FD05-F5464DCD4465}"/>
              </a:ext>
            </a:extLst>
          </p:cNvPr>
          <p:cNvSpPr/>
          <p:nvPr/>
        </p:nvSpPr>
        <p:spPr>
          <a:xfrm>
            <a:off x="7975888" y="3811820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7" name="Ellipse 176">
            <a:extLst>
              <a:ext uri="{FF2B5EF4-FFF2-40B4-BE49-F238E27FC236}">
                <a16:creationId xmlns:a16="http://schemas.microsoft.com/office/drawing/2014/main" id="{CF3E424B-4D36-5538-5662-7316BFCCB575}"/>
              </a:ext>
            </a:extLst>
          </p:cNvPr>
          <p:cNvSpPr/>
          <p:nvPr/>
        </p:nvSpPr>
        <p:spPr>
          <a:xfrm>
            <a:off x="7849891" y="4165591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577BF940-A352-1C05-2443-510742DAD82D}"/>
              </a:ext>
            </a:extLst>
          </p:cNvPr>
          <p:cNvSpPr/>
          <p:nvPr/>
        </p:nvSpPr>
        <p:spPr>
          <a:xfrm>
            <a:off x="8002027" y="3644750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54D9FF9E-D91E-739C-FAF4-2DDBE9735713}"/>
              </a:ext>
            </a:extLst>
          </p:cNvPr>
          <p:cNvSpPr/>
          <p:nvPr/>
        </p:nvSpPr>
        <p:spPr>
          <a:xfrm>
            <a:off x="7668956" y="4128497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B6CBB8B0-3CFB-AC8F-694E-FF4EAE9A6478}"/>
              </a:ext>
            </a:extLst>
          </p:cNvPr>
          <p:cNvSpPr/>
          <p:nvPr/>
        </p:nvSpPr>
        <p:spPr>
          <a:xfrm>
            <a:off x="8111613" y="3848833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EA739783-D2B6-6D95-EC2E-03427666E863}"/>
              </a:ext>
            </a:extLst>
          </p:cNvPr>
          <p:cNvSpPr/>
          <p:nvPr/>
        </p:nvSpPr>
        <p:spPr>
          <a:xfrm>
            <a:off x="8195567" y="3743739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2" name="Ellipse 181">
            <a:extLst>
              <a:ext uri="{FF2B5EF4-FFF2-40B4-BE49-F238E27FC236}">
                <a16:creationId xmlns:a16="http://schemas.microsoft.com/office/drawing/2014/main" id="{BD6A8982-DE5B-FB4F-8D95-BB0ECFD6BB43}"/>
              </a:ext>
            </a:extLst>
          </p:cNvPr>
          <p:cNvSpPr/>
          <p:nvPr/>
        </p:nvSpPr>
        <p:spPr>
          <a:xfrm>
            <a:off x="8252211" y="3896139"/>
            <a:ext cx="100735" cy="112249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3" name="Flèche : droite 182">
            <a:extLst>
              <a:ext uri="{FF2B5EF4-FFF2-40B4-BE49-F238E27FC236}">
                <a16:creationId xmlns:a16="http://schemas.microsoft.com/office/drawing/2014/main" id="{38FD2B72-F764-4907-483E-B3888BC8EEFA}"/>
              </a:ext>
            </a:extLst>
          </p:cNvPr>
          <p:cNvSpPr/>
          <p:nvPr/>
        </p:nvSpPr>
        <p:spPr>
          <a:xfrm>
            <a:off x="5052447" y="3319520"/>
            <a:ext cx="1079904" cy="47724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ZoneTexte 183">
            <a:extLst>
              <a:ext uri="{FF2B5EF4-FFF2-40B4-BE49-F238E27FC236}">
                <a16:creationId xmlns:a16="http://schemas.microsoft.com/office/drawing/2014/main" id="{7A323E5A-5737-2236-9C3F-866B4AE88F16}"/>
              </a:ext>
            </a:extLst>
          </p:cNvPr>
          <p:cNvSpPr txBox="1"/>
          <p:nvPr/>
        </p:nvSpPr>
        <p:spPr>
          <a:xfrm>
            <a:off x="4732625" y="5120941"/>
            <a:ext cx="7705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 err="1"/>
              <a:t>Feature</a:t>
            </a:r>
            <a:r>
              <a:rPr lang="fr-FR" sz="1050" dirty="0"/>
              <a:t> i</a:t>
            </a:r>
          </a:p>
        </p:txBody>
      </p:sp>
      <p:sp>
        <p:nvSpPr>
          <p:cNvPr id="185" name="ZoneTexte 184">
            <a:extLst>
              <a:ext uri="{FF2B5EF4-FFF2-40B4-BE49-F238E27FC236}">
                <a16:creationId xmlns:a16="http://schemas.microsoft.com/office/drawing/2014/main" id="{4FC1AD66-2CD1-EFAF-3BA8-3628F43AE159}"/>
              </a:ext>
            </a:extLst>
          </p:cNvPr>
          <p:cNvSpPr txBox="1"/>
          <p:nvPr/>
        </p:nvSpPr>
        <p:spPr>
          <a:xfrm>
            <a:off x="892513" y="2015165"/>
            <a:ext cx="7705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 err="1"/>
              <a:t>Feature</a:t>
            </a:r>
            <a:r>
              <a:rPr lang="fr-FR" sz="1050" dirty="0"/>
              <a:t> j</a:t>
            </a:r>
          </a:p>
        </p:txBody>
      </p:sp>
      <p:sp>
        <p:nvSpPr>
          <p:cNvPr id="186" name="ZoneTexte 185">
            <a:extLst>
              <a:ext uri="{FF2B5EF4-FFF2-40B4-BE49-F238E27FC236}">
                <a16:creationId xmlns:a16="http://schemas.microsoft.com/office/drawing/2014/main" id="{C5A9FC38-31D1-C521-656D-14D2E89B799E}"/>
              </a:ext>
            </a:extLst>
          </p:cNvPr>
          <p:cNvSpPr txBox="1"/>
          <p:nvPr/>
        </p:nvSpPr>
        <p:spPr>
          <a:xfrm>
            <a:off x="9837363" y="5120941"/>
            <a:ext cx="7705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 err="1"/>
              <a:t>Feature</a:t>
            </a:r>
            <a:r>
              <a:rPr lang="fr-FR" sz="1050" dirty="0"/>
              <a:t> i</a:t>
            </a:r>
          </a:p>
        </p:txBody>
      </p:sp>
      <p:sp>
        <p:nvSpPr>
          <p:cNvPr id="187" name="ZoneTexte 186">
            <a:extLst>
              <a:ext uri="{FF2B5EF4-FFF2-40B4-BE49-F238E27FC236}">
                <a16:creationId xmlns:a16="http://schemas.microsoft.com/office/drawing/2014/main" id="{0F043F05-C629-2F98-4608-9AB2EEAFBA22}"/>
              </a:ext>
            </a:extLst>
          </p:cNvPr>
          <p:cNvSpPr txBox="1"/>
          <p:nvPr/>
        </p:nvSpPr>
        <p:spPr>
          <a:xfrm>
            <a:off x="5997251" y="2015165"/>
            <a:ext cx="7705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 err="1"/>
              <a:t>Feature</a:t>
            </a:r>
            <a:r>
              <a:rPr lang="fr-FR" sz="1050" dirty="0"/>
              <a:t> j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D439BF3F-CF75-5FCE-F189-21EDAE6600AD}"/>
              </a:ext>
            </a:extLst>
          </p:cNvPr>
          <p:cNvSpPr/>
          <p:nvPr/>
        </p:nvSpPr>
        <p:spPr>
          <a:xfrm>
            <a:off x="2668293" y="3632839"/>
            <a:ext cx="88474" cy="850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A15AE50-D53C-3288-1DB9-068F568BFC60}"/>
              </a:ext>
            </a:extLst>
          </p:cNvPr>
          <p:cNvSpPr/>
          <p:nvPr/>
        </p:nvSpPr>
        <p:spPr>
          <a:xfrm>
            <a:off x="7859832" y="3676389"/>
            <a:ext cx="88474" cy="850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0182775-7123-2D20-83F1-018BA43511A8}"/>
              </a:ext>
            </a:extLst>
          </p:cNvPr>
          <p:cNvSpPr/>
          <p:nvPr/>
        </p:nvSpPr>
        <p:spPr>
          <a:xfrm>
            <a:off x="4829314" y="5859075"/>
            <a:ext cx="88474" cy="850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2" name="ZoneTexte 191">
            <a:extLst>
              <a:ext uri="{FF2B5EF4-FFF2-40B4-BE49-F238E27FC236}">
                <a16:creationId xmlns:a16="http://schemas.microsoft.com/office/drawing/2014/main" id="{DF762F3C-64ED-6C21-B188-A9D3F4B4ED7B}"/>
              </a:ext>
            </a:extLst>
          </p:cNvPr>
          <p:cNvSpPr txBox="1"/>
          <p:nvPr/>
        </p:nvSpPr>
        <p:spPr>
          <a:xfrm>
            <a:off x="4940921" y="5782468"/>
            <a:ext cx="2572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Riemannian</a:t>
            </a:r>
            <a:r>
              <a:rPr lang="fr-FR" sz="1200" dirty="0"/>
              <a:t> </a:t>
            </a:r>
            <a:r>
              <a:rPr lang="fr-FR" sz="1200" dirty="0" err="1"/>
              <a:t>mean</a:t>
            </a:r>
            <a:r>
              <a:rPr lang="fr-FR" sz="1200" dirty="0"/>
              <a:t> of training </a:t>
            </a:r>
            <a:r>
              <a:rPr lang="fr-FR" sz="1200" dirty="0" err="1"/>
              <a:t>dataset</a:t>
            </a:r>
            <a:endParaRPr lang="fr-FR" sz="1200" dirty="0"/>
          </a:p>
        </p:txBody>
      </p:sp>
      <p:sp>
        <p:nvSpPr>
          <p:cNvPr id="193" name="ZoneTexte 192">
            <a:extLst>
              <a:ext uri="{FF2B5EF4-FFF2-40B4-BE49-F238E27FC236}">
                <a16:creationId xmlns:a16="http://schemas.microsoft.com/office/drawing/2014/main" id="{76B54450-9A9F-2AD1-DB5A-0F60BB1D8610}"/>
              </a:ext>
            </a:extLst>
          </p:cNvPr>
          <p:cNvSpPr txBox="1"/>
          <p:nvPr/>
        </p:nvSpPr>
        <p:spPr>
          <a:xfrm>
            <a:off x="2109208" y="2677005"/>
            <a:ext cx="817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Subject</a:t>
            </a:r>
            <a:r>
              <a:rPr lang="fr-FR" sz="1200" dirty="0"/>
              <a:t> 1</a:t>
            </a:r>
          </a:p>
        </p:txBody>
      </p:sp>
      <p:sp>
        <p:nvSpPr>
          <p:cNvPr id="194" name="ZoneTexte 193">
            <a:extLst>
              <a:ext uri="{FF2B5EF4-FFF2-40B4-BE49-F238E27FC236}">
                <a16:creationId xmlns:a16="http://schemas.microsoft.com/office/drawing/2014/main" id="{C8523429-2754-F7F6-2026-FDC2F3261A7C}"/>
              </a:ext>
            </a:extLst>
          </p:cNvPr>
          <p:cNvSpPr txBox="1"/>
          <p:nvPr/>
        </p:nvSpPr>
        <p:spPr>
          <a:xfrm>
            <a:off x="1672809" y="4571079"/>
            <a:ext cx="817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Subject</a:t>
            </a:r>
            <a:r>
              <a:rPr lang="fr-FR" sz="1200" dirty="0"/>
              <a:t> 2</a:t>
            </a:r>
          </a:p>
        </p:txBody>
      </p:sp>
      <p:sp>
        <p:nvSpPr>
          <p:cNvPr id="195" name="ZoneTexte 194">
            <a:extLst>
              <a:ext uri="{FF2B5EF4-FFF2-40B4-BE49-F238E27FC236}">
                <a16:creationId xmlns:a16="http://schemas.microsoft.com/office/drawing/2014/main" id="{3478AC15-7389-58EF-5A60-F3E2F496E869}"/>
              </a:ext>
            </a:extLst>
          </p:cNvPr>
          <p:cNvSpPr txBox="1"/>
          <p:nvPr/>
        </p:nvSpPr>
        <p:spPr>
          <a:xfrm>
            <a:off x="4153858" y="2929566"/>
            <a:ext cx="817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err="1"/>
              <a:t>Subject</a:t>
            </a:r>
            <a:r>
              <a:rPr lang="fr-FR" sz="1200" dirty="0"/>
              <a:t> 3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FCB871C-8DD9-5008-B29B-BB768D6EF7F9}"/>
              </a:ext>
            </a:extLst>
          </p:cNvPr>
          <p:cNvSpPr txBox="1"/>
          <p:nvPr/>
        </p:nvSpPr>
        <p:spPr>
          <a:xfrm>
            <a:off x="3554" y="6490220"/>
            <a:ext cx="5735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P.L.C Rodrigues &amp; al. </a:t>
            </a:r>
            <a:r>
              <a:rPr lang="fr-FR" sz="900" dirty="0" err="1"/>
              <a:t>Riemannian</a:t>
            </a:r>
            <a:r>
              <a:rPr lang="fr-FR" sz="900" dirty="0"/>
              <a:t> </a:t>
            </a:r>
            <a:r>
              <a:rPr lang="fr-FR" sz="900" dirty="0" err="1"/>
              <a:t>Procrustes</a:t>
            </a:r>
            <a:r>
              <a:rPr lang="fr-FR" sz="900" dirty="0"/>
              <a:t> </a:t>
            </a:r>
            <a:r>
              <a:rPr lang="fr-FR" sz="900" dirty="0" err="1"/>
              <a:t>Analysis</a:t>
            </a:r>
            <a:r>
              <a:rPr lang="fr-FR" sz="900" dirty="0"/>
              <a:t> : Transfer Learning for Brain-Computer Interfaces. IEEE Transactions on </a:t>
            </a:r>
            <a:r>
              <a:rPr lang="fr-FR" sz="900" dirty="0" err="1"/>
              <a:t>Biomedical</a:t>
            </a:r>
            <a:r>
              <a:rPr lang="fr-FR" sz="900" dirty="0"/>
              <a:t> Engineering, 2018, 66 (8), pp.2390 - 2401. ⟨10.1109/TBME.2018.2889705⟩. ⟨hal-01971856⟩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F428F3-F61A-E326-074F-835922CD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7955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32C670C-BB1A-DBC4-8259-042D2FE12AD0}"/>
              </a:ext>
            </a:extLst>
          </p:cNvPr>
          <p:cNvSpPr/>
          <p:nvPr/>
        </p:nvSpPr>
        <p:spPr>
          <a:xfrm>
            <a:off x="550082" y="2033312"/>
            <a:ext cx="4797439" cy="3629890"/>
          </a:xfrm>
          <a:prstGeom prst="round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2 SPDNet and a CNN on a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BurstCVEP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(12 participants)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</a:rPr>
              <a:t>3 different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Recentered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~ 93%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Riemannian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DeepLearning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seems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more consistent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CNN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8" name="Image 7" descr="Une image contenant texte, diagramme, capture d’écran, nombre&#10;&#10;Description générée automatiquement">
            <a:extLst>
              <a:ext uri="{FF2B5EF4-FFF2-40B4-BE49-F238E27FC236}">
                <a16:creationId xmlns:a16="http://schemas.microsoft.com/office/drawing/2014/main" id="{3B3D4DD9-8DCA-7400-AF70-EDD846692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498" y="1629891"/>
            <a:ext cx="4507881" cy="4436731"/>
          </a:xfrm>
          <a:prstGeom prst="rect">
            <a:avLst/>
          </a:prstGeom>
        </p:spPr>
      </p:pic>
      <p:sp>
        <p:nvSpPr>
          <p:cNvPr id="22" name="Titre 1">
            <a:extLst>
              <a:ext uri="{FF2B5EF4-FFF2-40B4-BE49-F238E27FC236}">
                <a16:creationId xmlns:a16="http://schemas.microsoft.com/office/drawing/2014/main" id="{A996BDC1-22C0-695C-6A5B-09C014695BF3}"/>
              </a:ext>
            </a:extLst>
          </p:cNvPr>
          <p:cNvSpPr txBox="1">
            <a:spLocks/>
          </p:cNvSpPr>
          <p:nvPr/>
        </p:nvSpPr>
        <p:spPr>
          <a:xfrm>
            <a:off x="373666" y="268246"/>
            <a:ext cx="9829800" cy="679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 err="1">
                <a:solidFill>
                  <a:schemeClr val="tx2"/>
                </a:solidFill>
              </a:rPr>
              <a:t>Results</a:t>
            </a:r>
            <a:endParaRPr lang="fr-FR" sz="3600" dirty="0">
              <a:solidFill>
                <a:schemeClr val="tx2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1EF3378-E90F-0607-7E6D-956AC3952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997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BCA83D-BA7D-B22F-51DD-25C5472F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787" y="1741337"/>
            <a:ext cx="5686488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Thanks for listening !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51A126F-C36D-7CE7-B768-EE68D3330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6D13E-5F72-4A0F-A538-B4526939FDA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68811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F398370095084A9A3C68592BA53716" ma:contentTypeVersion="10" ma:contentTypeDescription="Crée un document." ma:contentTypeScope="" ma:versionID="11cf7b9fa67cf3adf8bb2213a60bc923">
  <xsd:schema xmlns:xsd="http://www.w3.org/2001/XMLSchema" xmlns:xs="http://www.w3.org/2001/XMLSchema" xmlns:p="http://schemas.microsoft.com/office/2006/metadata/properties" xmlns:ns3="52d87d3a-3af0-4918-82a8-2096736d2920" targetNamespace="http://schemas.microsoft.com/office/2006/metadata/properties" ma:root="true" ma:fieldsID="a2d98597552489eeafd5bace8cf0bb37" ns3:_="">
    <xsd:import namespace="52d87d3a-3af0-4918-82a8-2096736d292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d87d3a-3af0-4918-82a8-2096736d292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2d87d3a-3af0-4918-82a8-2096736d292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982474-6B9D-404B-A7A4-C813334291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d87d3a-3af0-4918-82a8-2096736d29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73E55B-51D1-4605-9640-045603D8737A}">
  <ds:schemaRefs>
    <ds:schemaRef ds:uri="http://purl.org/dc/terms/"/>
    <ds:schemaRef ds:uri="http://www.w3.org/XML/1998/namespace"/>
    <ds:schemaRef ds:uri="http://schemas.microsoft.com/office/2006/documentManagement/types"/>
    <ds:schemaRef ds:uri="52d87d3a-3af0-4918-82a8-2096736d2920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CE867B6-3956-44D5-9B43-C2236A391B4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2380</TotalTime>
  <Words>525</Words>
  <Application>Microsoft Office PowerPoint</Application>
  <PresentationFormat>Grand écran</PresentationFormat>
  <Paragraphs>81</Paragraphs>
  <Slides>14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Thème Office</vt:lpstr>
      <vt:lpstr>GRAZ BCI 2024 Workshop</vt:lpstr>
      <vt:lpstr>Présentation PowerPoint</vt:lpstr>
      <vt:lpstr>Riemannian manifold</vt:lpstr>
      <vt:lpstr>Riemannian manifold</vt:lpstr>
      <vt:lpstr>Riemannian manifold</vt:lpstr>
      <vt:lpstr>The advantages</vt:lpstr>
      <vt:lpstr>The advantages</vt:lpstr>
      <vt:lpstr>Common Riemannian usage</vt:lpstr>
      <vt:lpstr>Minimum Distance to Mean</vt:lpstr>
      <vt:lpstr>Riemannian space + Tangent space + classifier</vt:lpstr>
      <vt:lpstr>Présentation PowerPoint</vt:lpstr>
      <vt:lpstr>Spatial recentering</vt:lpstr>
      <vt:lpstr>Présentation PowerPoint</vt:lpstr>
      <vt:lpstr>Thanks for listening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GRAZ BCI 2024 Workshop</dc:title>
  <dc:creator>Sebastien VELUT</dc:creator>
  <cp:lastModifiedBy>Sebastien VELUT</cp:lastModifiedBy>
  <cp:revision>3</cp:revision>
  <dcterms:created xsi:type="dcterms:W3CDTF">2024-08-27T06:24:26Z</dcterms:created>
  <dcterms:modified xsi:type="dcterms:W3CDTF">2024-09-09T09:24:29Z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0x01010002F398370095084A9A3C68592BA53716</vt:lpwstr>
  </property>
</Properties>
</file>